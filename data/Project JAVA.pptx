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90" d="100"/>
          <a:sy n="90" d="100"/>
        </p:scale>
        <p:origin x="370" y="-12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4572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24688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00584"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55448"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210312"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6400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rot="20100000">
            <a:off x="1129284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rot="1500000">
            <a:off x="1149400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rot="19500000">
            <a:off x="11146536"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rot="1500000">
            <a:off x="11402567"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rot="19500000">
            <a:off x="11036808"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flipH="1">
            <a:off x="1131112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02827" y="530352"/>
            <a:ext cx="11000232" cy="5715000"/>
          </a:xfrm>
          <a:prstGeom prst="roundRect">
            <a:avLst>
              <a:gd name="adj" fmla="val 12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590288" y="932688"/>
            <a:ext cx="30175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608575" y="950976"/>
            <a:ext cx="2980944" cy="274320"/>
          </a:xfrm>
          <a:prstGeom prst="rect">
            <a:avLst/>
          </a:prstGeom>
          <a:noFill/>
        </p:spPr>
        <p:txBody>
          <a:bodyPr wrap="square" lIns="41148" tIns="22860" rIns="41148" bIns="22860" anchor="ctr">
            <a:spAutoFit/>
          </a:bodyPr>
          <a:lstStyle/>
          <a:p>
            <a:pPr algn="ctr"/>
            <a:r>
              <a:rPr sz="950" b="1" i="0">
                <a:solidFill>
                  <a:srgbClr val="10395C"/>
                </a:solidFill>
                <a:latin typeface="Aptos"/>
              </a:rPr>
              <a:t>PROJECT PRESENTATION</a:t>
            </a:r>
          </a:p>
        </p:txBody>
      </p:sp>
      <p:sp>
        <p:nvSpPr>
          <p:cNvPr id="20" name="TextBox 19"/>
          <p:cNvSpPr txBox="1"/>
          <p:nvPr/>
        </p:nvSpPr>
        <p:spPr>
          <a:xfrm>
            <a:off x="1143000" y="1600200"/>
            <a:ext cx="9921240" cy="566928"/>
          </a:xfrm>
          <a:prstGeom prst="rect">
            <a:avLst/>
          </a:prstGeom>
          <a:noFill/>
        </p:spPr>
        <p:txBody>
          <a:bodyPr wrap="square" lIns="41148" tIns="22860" rIns="41148" bIns="22860" anchor="t">
            <a:spAutoFit/>
          </a:bodyPr>
          <a:lstStyle/>
          <a:p>
            <a:pPr algn="ctr"/>
            <a:r>
              <a:rPr sz="3100" b="1" i="0">
                <a:solidFill>
                  <a:srgbClr val="10395C"/>
                </a:solidFill>
                <a:latin typeface="Aptos"/>
              </a:rPr>
              <a:t>COURSE REGISTRATION &amp;</a:t>
            </a:r>
          </a:p>
        </p:txBody>
      </p:sp>
      <p:sp>
        <p:nvSpPr>
          <p:cNvPr id="21" name="TextBox 20"/>
          <p:cNvSpPr txBox="1"/>
          <p:nvPr/>
        </p:nvSpPr>
        <p:spPr>
          <a:xfrm>
            <a:off x="1143000" y="2176272"/>
            <a:ext cx="9921240" cy="566928"/>
          </a:xfrm>
          <a:prstGeom prst="rect">
            <a:avLst/>
          </a:prstGeom>
          <a:noFill/>
        </p:spPr>
        <p:txBody>
          <a:bodyPr wrap="square" lIns="41148" tIns="22860" rIns="41148" bIns="22860" anchor="t">
            <a:spAutoFit/>
          </a:bodyPr>
          <a:lstStyle/>
          <a:p>
            <a:pPr algn="ctr"/>
            <a:r>
              <a:rPr sz="3100" b="1" i="0">
                <a:solidFill>
                  <a:srgbClr val="2A79A3"/>
                </a:solidFill>
                <a:latin typeface="Aptos"/>
              </a:rPr>
              <a:t>TIMETABLE BUILDER</a:t>
            </a:r>
          </a:p>
        </p:txBody>
      </p:sp>
      <p:sp>
        <p:nvSpPr>
          <p:cNvPr id="22" name="TextBox 21"/>
          <p:cNvSpPr txBox="1"/>
          <p:nvPr/>
        </p:nvSpPr>
        <p:spPr>
          <a:xfrm>
            <a:off x="1828800" y="2907792"/>
            <a:ext cx="8503920" cy="320040"/>
          </a:xfrm>
          <a:prstGeom prst="rect">
            <a:avLst/>
          </a:prstGeom>
          <a:noFill/>
        </p:spPr>
        <p:txBody>
          <a:bodyPr wrap="square" lIns="41148" tIns="22860" rIns="41148" bIns="22860" anchor="t">
            <a:spAutoFit/>
          </a:bodyPr>
          <a:lstStyle/>
          <a:p>
            <a:pPr algn="ctr"/>
            <a:r>
              <a:rPr sz="1400" b="0" i="0">
                <a:solidFill>
                  <a:srgbClr val="5D7684"/>
                </a:solidFill>
                <a:latin typeface="Aptos"/>
              </a:rPr>
              <a:t>A smart web-based academic management system</a:t>
            </a:r>
          </a:p>
        </p:txBody>
      </p:sp>
      <p:sp>
        <p:nvSpPr>
          <p:cNvPr id="23" name="Rounded Rectangle 22"/>
          <p:cNvSpPr/>
          <p:nvPr/>
        </p:nvSpPr>
        <p:spPr>
          <a:xfrm>
            <a:off x="1993392" y="3675887"/>
            <a:ext cx="2057400"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011680" y="3694175"/>
            <a:ext cx="2020824" cy="274320"/>
          </a:xfrm>
          <a:prstGeom prst="rect">
            <a:avLst/>
          </a:prstGeom>
          <a:noFill/>
        </p:spPr>
        <p:txBody>
          <a:bodyPr wrap="square" lIns="41148" tIns="22860" rIns="41148" bIns="22860" anchor="ctr">
            <a:spAutoFit/>
          </a:bodyPr>
          <a:lstStyle/>
          <a:p>
            <a:pPr algn="ctr"/>
            <a:r>
              <a:rPr sz="950" b="1" i="0">
                <a:solidFill>
                  <a:srgbClr val="10395C"/>
                </a:solidFill>
                <a:latin typeface="Aptos"/>
              </a:rPr>
              <a:t>Register smarter</a:t>
            </a:r>
          </a:p>
        </p:txBody>
      </p:sp>
      <p:sp>
        <p:nvSpPr>
          <p:cNvPr id="25" name="Rounded Rectangle 24"/>
          <p:cNvSpPr/>
          <p:nvPr/>
        </p:nvSpPr>
        <p:spPr>
          <a:xfrm>
            <a:off x="4773168" y="3675887"/>
            <a:ext cx="205740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791455" y="3694175"/>
            <a:ext cx="2020824" cy="274320"/>
          </a:xfrm>
          <a:prstGeom prst="rect">
            <a:avLst/>
          </a:prstGeom>
          <a:noFill/>
        </p:spPr>
        <p:txBody>
          <a:bodyPr wrap="square" lIns="41148" tIns="22860" rIns="41148" bIns="22860" anchor="ctr">
            <a:spAutoFit/>
          </a:bodyPr>
          <a:lstStyle/>
          <a:p>
            <a:pPr algn="ctr"/>
            <a:r>
              <a:rPr sz="950" b="1" i="0">
                <a:solidFill>
                  <a:srgbClr val="10395C"/>
                </a:solidFill>
                <a:latin typeface="Aptos"/>
              </a:rPr>
              <a:t>Detect clashes</a:t>
            </a:r>
          </a:p>
        </p:txBody>
      </p:sp>
      <p:sp>
        <p:nvSpPr>
          <p:cNvPr id="27" name="Rounded Rectangle 26"/>
          <p:cNvSpPr/>
          <p:nvPr/>
        </p:nvSpPr>
        <p:spPr>
          <a:xfrm>
            <a:off x="7360920" y="3675887"/>
            <a:ext cx="2423160"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379208" y="3694175"/>
            <a:ext cx="2386584" cy="274320"/>
          </a:xfrm>
          <a:prstGeom prst="rect">
            <a:avLst/>
          </a:prstGeom>
          <a:noFill/>
        </p:spPr>
        <p:txBody>
          <a:bodyPr wrap="square" lIns="41148" tIns="22860" rIns="41148" bIns="22860" anchor="ctr">
            <a:spAutoFit/>
          </a:bodyPr>
          <a:lstStyle/>
          <a:p>
            <a:pPr algn="ctr"/>
            <a:r>
              <a:rPr sz="950" b="1" i="0">
                <a:solidFill>
                  <a:srgbClr val="10395C"/>
                </a:solidFill>
                <a:latin typeface="Aptos"/>
              </a:rPr>
              <a:t>Build better schedules</a:t>
            </a:r>
          </a:p>
        </p:txBody>
      </p:sp>
      <p:sp>
        <p:nvSpPr>
          <p:cNvPr id="29" name="Rounded Rectangle 28"/>
          <p:cNvSpPr/>
          <p:nvPr/>
        </p:nvSpPr>
        <p:spPr>
          <a:xfrm>
            <a:off x="4160520" y="4407408"/>
            <a:ext cx="3886200" cy="932688"/>
          </a:xfrm>
          <a:prstGeom prst="roundRect">
            <a:avLst>
              <a:gd name="adj" fmla="val 12000"/>
            </a:avLst>
          </a:prstGeom>
          <a:solidFill>
            <a:srgbClr val="F1FAFD"/>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4370832" y="4590288"/>
            <a:ext cx="530352" cy="329184"/>
          </a:xfrm>
          <a:prstGeom prst="roundRect">
            <a:avLst>
              <a:gd name="adj" fmla="val 12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4389120" y="4608575"/>
            <a:ext cx="493775" cy="274320"/>
          </a:xfrm>
          <a:prstGeom prst="rect">
            <a:avLst/>
          </a:prstGeom>
          <a:noFill/>
        </p:spPr>
        <p:txBody>
          <a:bodyPr wrap="square" lIns="41148" tIns="22860" rIns="41148" bIns="22860" anchor="ctr">
            <a:spAutoFit/>
          </a:bodyPr>
          <a:lstStyle/>
          <a:p>
            <a:pPr algn="ctr"/>
            <a:r>
              <a:rPr sz="720" b="1" i="0">
                <a:solidFill>
                  <a:srgbClr val="10395C"/>
                </a:solidFill>
                <a:latin typeface="Aptos"/>
              </a:rPr>
              <a:t>MON</a:t>
            </a:r>
          </a:p>
        </p:txBody>
      </p:sp>
      <p:sp>
        <p:nvSpPr>
          <p:cNvPr id="32" name="Rounded Rectangle 31"/>
          <p:cNvSpPr/>
          <p:nvPr/>
        </p:nvSpPr>
        <p:spPr>
          <a:xfrm>
            <a:off x="5010912" y="4590288"/>
            <a:ext cx="530352" cy="329184"/>
          </a:xfrm>
          <a:prstGeom prst="roundRect">
            <a:avLst>
              <a:gd name="adj" fmla="val 12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029200" y="4608575"/>
            <a:ext cx="493775" cy="274320"/>
          </a:xfrm>
          <a:prstGeom prst="rect">
            <a:avLst/>
          </a:prstGeom>
          <a:noFill/>
        </p:spPr>
        <p:txBody>
          <a:bodyPr wrap="square" lIns="41148" tIns="22860" rIns="41148" bIns="22860" anchor="ctr">
            <a:spAutoFit/>
          </a:bodyPr>
          <a:lstStyle/>
          <a:p>
            <a:pPr algn="ctr"/>
            <a:r>
              <a:rPr sz="720" b="1" i="0">
                <a:solidFill>
                  <a:srgbClr val="10395C"/>
                </a:solidFill>
                <a:latin typeface="Aptos"/>
              </a:rPr>
              <a:t>TUE</a:t>
            </a:r>
          </a:p>
        </p:txBody>
      </p:sp>
      <p:sp>
        <p:nvSpPr>
          <p:cNvPr id="34" name="Rounded Rectangle 33"/>
          <p:cNvSpPr/>
          <p:nvPr/>
        </p:nvSpPr>
        <p:spPr>
          <a:xfrm>
            <a:off x="5650992" y="4590288"/>
            <a:ext cx="530352" cy="329184"/>
          </a:xfrm>
          <a:prstGeom prst="roundRect">
            <a:avLst>
              <a:gd name="adj" fmla="val 12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669279" y="4608575"/>
            <a:ext cx="493775" cy="274320"/>
          </a:xfrm>
          <a:prstGeom prst="rect">
            <a:avLst/>
          </a:prstGeom>
          <a:noFill/>
        </p:spPr>
        <p:txBody>
          <a:bodyPr wrap="square" lIns="41148" tIns="22860" rIns="41148" bIns="22860" anchor="ctr">
            <a:spAutoFit/>
          </a:bodyPr>
          <a:lstStyle/>
          <a:p>
            <a:pPr algn="ctr"/>
            <a:r>
              <a:rPr sz="720" b="1" i="0">
                <a:solidFill>
                  <a:srgbClr val="10395C"/>
                </a:solidFill>
                <a:latin typeface="Aptos"/>
              </a:rPr>
              <a:t>WED</a:t>
            </a:r>
          </a:p>
        </p:txBody>
      </p:sp>
      <p:sp>
        <p:nvSpPr>
          <p:cNvPr id="36" name="Rounded Rectangle 35"/>
          <p:cNvSpPr/>
          <p:nvPr/>
        </p:nvSpPr>
        <p:spPr>
          <a:xfrm>
            <a:off x="6291072" y="4590288"/>
            <a:ext cx="530352" cy="329184"/>
          </a:xfrm>
          <a:prstGeom prst="roundRect">
            <a:avLst>
              <a:gd name="adj" fmla="val 12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309359" y="4608575"/>
            <a:ext cx="493775" cy="274320"/>
          </a:xfrm>
          <a:prstGeom prst="rect">
            <a:avLst/>
          </a:prstGeom>
          <a:noFill/>
        </p:spPr>
        <p:txBody>
          <a:bodyPr wrap="square" lIns="41148" tIns="22860" rIns="41148" bIns="22860" anchor="ctr">
            <a:spAutoFit/>
          </a:bodyPr>
          <a:lstStyle/>
          <a:p>
            <a:pPr algn="ctr"/>
            <a:r>
              <a:rPr sz="720" b="1" i="0">
                <a:solidFill>
                  <a:srgbClr val="10395C"/>
                </a:solidFill>
                <a:latin typeface="Aptos"/>
              </a:rPr>
              <a:t>THU</a:t>
            </a:r>
          </a:p>
        </p:txBody>
      </p:sp>
      <p:sp>
        <p:nvSpPr>
          <p:cNvPr id="38" name="Rounded Rectangle 37"/>
          <p:cNvSpPr/>
          <p:nvPr/>
        </p:nvSpPr>
        <p:spPr>
          <a:xfrm>
            <a:off x="6931152" y="4590288"/>
            <a:ext cx="530352" cy="329184"/>
          </a:xfrm>
          <a:prstGeom prst="roundRect">
            <a:avLst>
              <a:gd name="adj" fmla="val 12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6949440" y="4608575"/>
            <a:ext cx="493775" cy="274320"/>
          </a:xfrm>
          <a:prstGeom prst="rect">
            <a:avLst/>
          </a:prstGeom>
          <a:noFill/>
        </p:spPr>
        <p:txBody>
          <a:bodyPr wrap="square" lIns="41148" tIns="22860" rIns="41148" bIns="22860" anchor="ctr">
            <a:spAutoFit/>
          </a:bodyPr>
          <a:lstStyle/>
          <a:p>
            <a:pPr algn="ctr"/>
            <a:r>
              <a:rPr sz="720" b="1" i="0">
                <a:solidFill>
                  <a:srgbClr val="10395C"/>
                </a:solidFill>
                <a:latin typeface="Aptos"/>
              </a:rPr>
              <a:t>FRI</a:t>
            </a:r>
          </a:p>
        </p:txBody>
      </p:sp>
      <p:sp>
        <p:nvSpPr>
          <p:cNvPr id="40" name="Rounded Rectangle 39"/>
          <p:cNvSpPr/>
          <p:nvPr/>
        </p:nvSpPr>
        <p:spPr>
          <a:xfrm>
            <a:off x="4370832" y="4965192"/>
            <a:ext cx="530352" cy="182880"/>
          </a:xfrm>
          <a:prstGeom prst="roundRect">
            <a:avLst>
              <a:gd name="adj" fmla="val 0"/>
            </a:avLst>
          </a:prstGeom>
          <a:solidFill>
            <a:srgbClr val="5BBFCC"/>
          </a:solidFill>
          <a:ln>
            <a:solidFill>
              <a:srgbClr val="5BBFC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5010912" y="4965192"/>
            <a:ext cx="530352" cy="182880"/>
          </a:xfrm>
          <a:prstGeom prst="roundRect">
            <a:avLst>
              <a:gd name="adj" fmla="val 0"/>
            </a:avLst>
          </a:prstGeom>
          <a:solidFill>
            <a:srgbClr val="8FD8C6"/>
          </a:solidFill>
          <a:ln>
            <a:solidFill>
              <a:srgbClr val="8FD8C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5650992" y="4965192"/>
            <a:ext cx="530352" cy="182880"/>
          </a:xfrm>
          <a:prstGeom prst="roundRect">
            <a:avLst>
              <a:gd name="adj" fmla="val 0"/>
            </a:avLst>
          </a:prstGeom>
          <a:solidFill>
            <a:srgbClr val="F1B19F"/>
          </a:solidFill>
          <a:ln>
            <a:solidFill>
              <a:srgbClr val="F1B19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6291072" y="4965192"/>
            <a:ext cx="530352" cy="182880"/>
          </a:xfrm>
          <a:prstGeom prst="roundRect">
            <a:avLst>
              <a:gd name="adj" fmla="val 0"/>
            </a:avLst>
          </a:prstGeom>
          <a:solidFill>
            <a:srgbClr val="B3B5E8"/>
          </a:solidFill>
          <a:ln>
            <a:solidFill>
              <a:srgbClr val="B3B5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Rounded Rectangle 43"/>
          <p:cNvSpPr/>
          <p:nvPr/>
        </p:nvSpPr>
        <p:spPr>
          <a:xfrm>
            <a:off x="6931152" y="4965192"/>
            <a:ext cx="530352" cy="182880"/>
          </a:xfrm>
          <a:prstGeom prst="roundRect">
            <a:avLst>
              <a:gd name="adj" fmla="val 0"/>
            </a:avLst>
          </a:prstGeom>
          <a:solidFill>
            <a:srgbClr val="F6DE9A"/>
          </a:solidFill>
          <a:ln>
            <a:solidFill>
              <a:srgbClr val="F6DE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2331720" y="5559552"/>
            <a:ext cx="7589520" cy="256032"/>
          </a:xfrm>
          <a:prstGeom prst="rect">
            <a:avLst/>
          </a:prstGeom>
          <a:noFill/>
        </p:spPr>
        <p:txBody>
          <a:bodyPr wrap="square" lIns="41148" tIns="22860" rIns="41148" bIns="22860" anchor="t">
            <a:spAutoFit/>
          </a:bodyPr>
          <a:lstStyle/>
          <a:p>
            <a:pPr algn="ctr"/>
            <a:r>
              <a:rPr sz="1080" b="1" i="0">
                <a:solidFill>
                  <a:srgbClr val="10395C"/>
                </a:solidFill>
                <a:latin typeface="Aptos"/>
              </a:rPr>
              <a:t>SELECT  →  VALIDATE  →  VISUALIZE  →  REGISTER</a:t>
            </a:r>
          </a:p>
        </p:txBody>
      </p:sp>
      <p:sp>
        <p:nvSpPr>
          <p:cNvPr id="46" name="TextBox 45"/>
          <p:cNvSpPr txBox="1"/>
          <p:nvPr/>
        </p:nvSpPr>
        <p:spPr>
          <a:xfrm>
            <a:off x="3383280" y="5916168"/>
            <a:ext cx="5394960" cy="323165"/>
          </a:xfrm>
          <a:prstGeom prst="rect">
            <a:avLst/>
          </a:prstGeom>
          <a:noFill/>
        </p:spPr>
        <p:txBody>
          <a:bodyPr wrap="square" lIns="41148" tIns="22860" rIns="41148" bIns="22860" anchor="t">
            <a:spAutoFit/>
          </a:bodyPr>
          <a:lstStyle/>
          <a:p>
            <a:pPr algn="ctr"/>
            <a:r>
              <a:rPr b="0" i="0" dirty="0">
                <a:solidFill>
                  <a:srgbClr val="5D7684"/>
                </a:solidFill>
                <a:latin typeface="Aptos"/>
              </a:rPr>
              <a:t>Student / Team Name: </a:t>
            </a:r>
            <a:r>
              <a:rPr lang="en-CA" b="0" i="0" dirty="0">
                <a:solidFill>
                  <a:srgbClr val="5D7684"/>
                </a:solidFill>
                <a:latin typeface="Aptos"/>
              </a:rPr>
              <a:t>Nitya, Mihika, Samyuktha</a:t>
            </a:r>
            <a:endParaRPr b="0" i="0" dirty="0">
              <a:solidFill>
                <a:srgbClr val="5D7684"/>
              </a:solidFill>
              <a:latin typeface="Apto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1129284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1149400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1146536"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1402567"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11036808"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1131112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1</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Abstract</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A concise summary of the proposed system</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417320"/>
            <a:ext cx="6812280" cy="452628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58952" y="1581912"/>
            <a:ext cx="237744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1600200"/>
            <a:ext cx="2340864" cy="274320"/>
          </a:xfrm>
          <a:prstGeom prst="rect">
            <a:avLst/>
          </a:prstGeom>
          <a:noFill/>
        </p:spPr>
        <p:txBody>
          <a:bodyPr wrap="square" lIns="41148" tIns="22860" rIns="41148" bIns="22860" anchor="ctr">
            <a:spAutoFit/>
          </a:bodyPr>
          <a:lstStyle/>
          <a:p>
            <a:pPr algn="ctr"/>
            <a:r>
              <a:rPr sz="919" b="1" i="0">
                <a:solidFill>
                  <a:srgbClr val="10395C"/>
                </a:solidFill>
                <a:latin typeface="Aptos"/>
              </a:rPr>
              <a:t>PROJECT SUMMARY</a:t>
            </a:r>
          </a:p>
        </p:txBody>
      </p:sp>
      <p:sp>
        <p:nvSpPr>
          <p:cNvPr id="19" name="Oval 18"/>
          <p:cNvSpPr/>
          <p:nvPr/>
        </p:nvSpPr>
        <p:spPr>
          <a:xfrm>
            <a:off x="7095744" y="1645920"/>
            <a:ext cx="91440" cy="9144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095744" y="1645920"/>
            <a:ext cx="91440" cy="91440"/>
          </a:xfrm>
          <a:prstGeom prst="rect">
            <a:avLst/>
          </a:prstGeom>
          <a:noFill/>
        </p:spPr>
        <p:txBody>
          <a:bodyPr wrap="square" lIns="41148" tIns="22860" rIns="41148" bIns="22860" anchor="ctr">
            <a:spAutoFit/>
          </a:bodyPr>
          <a:lstStyle/>
          <a:p>
            <a:pPr algn="ctr"/>
            <a:endParaRPr/>
          </a:p>
        </p:txBody>
      </p:sp>
      <p:sp>
        <p:nvSpPr>
          <p:cNvPr id="21" name="TextBox 20"/>
          <p:cNvSpPr txBox="1"/>
          <p:nvPr/>
        </p:nvSpPr>
        <p:spPr>
          <a:xfrm>
            <a:off x="896112" y="1938528"/>
            <a:ext cx="6172200" cy="1078992"/>
          </a:xfrm>
          <a:prstGeom prst="rect">
            <a:avLst/>
          </a:prstGeom>
          <a:noFill/>
        </p:spPr>
        <p:txBody>
          <a:bodyPr wrap="square" lIns="41148" tIns="22860" rIns="41148" bIns="22860" anchor="t">
            <a:spAutoFit/>
          </a:bodyPr>
          <a:lstStyle/>
          <a:p>
            <a:pPr algn="l"/>
            <a:r>
              <a:rPr sz="1330" b="0" i="0">
                <a:solidFill>
                  <a:srgbClr val="273D4E"/>
                </a:solidFill>
                <a:latin typeface="Aptos"/>
              </a:rPr>
              <a:t>The Course Registration &amp; Timetable Builder is a web-based academic management system designed to simplify course selection and timetable planning. Instead of making students manually compare course availability, timings, credits, seats and clashes, the system brings these tasks together in one platform.</a:t>
            </a:r>
          </a:p>
        </p:txBody>
      </p:sp>
      <p:sp>
        <p:nvSpPr>
          <p:cNvPr id="22" name="TextBox 21"/>
          <p:cNvSpPr txBox="1"/>
          <p:nvPr/>
        </p:nvSpPr>
        <p:spPr>
          <a:xfrm>
            <a:off x="896112" y="3182112"/>
            <a:ext cx="6172200" cy="1353312"/>
          </a:xfrm>
          <a:prstGeom prst="rect">
            <a:avLst/>
          </a:prstGeom>
          <a:noFill/>
        </p:spPr>
        <p:txBody>
          <a:bodyPr wrap="square" lIns="41148" tIns="22860" rIns="41148" bIns="22860" anchor="t">
            <a:spAutoFit/>
          </a:bodyPr>
          <a:lstStyle/>
          <a:p>
            <a:pPr algn="l"/>
            <a:r>
              <a:rPr sz="1300" b="0" i="0">
                <a:solidFill>
                  <a:srgbClr val="273D4E"/>
                </a:solidFill>
                <a:latin typeface="Aptos"/>
              </a:rPr>
              <a:t>Students can browse courses, view detailed information, select subjects and generate a weekly timetable. Before registration, the system checks seat availability, credit limits, prerequisites and timetable conflicts. Faculty can view assigned courses and schedules, while administrators can manage students, courses, faculty, rooms, schedules and registration records.</a:t>
            </a:r>
          </a:p>
        </p:txBody>
      </p:sp>
      <p:sp>
        <p:nvSpPr>
          <p:cNvPr id="23" name="Rounded Rectangle 22"/>
          <p:cNvSpPr/>
          <p:nvPr/>
        </p:nvSpPr>
        <p:spPr>
          <a:xfrm>
            <a:off x="1024128" y="4919472"/>
            <a:ext cx="1207008"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42416" y="4937759"/>
            <a:ext cx="1170432" cy="274320"/>
          </a:xfrm>
          <a:prstGeom prst="rect">
            <a:avLst/>
          </a:prstGeom>
          <a:noFill/>
        </p:spPr>
        <p:txBody>
          <a:bodyPr wrap="square" lIns="41148" tIns="22860" rIns="41148" bIns="22860" anchor="ctr">
            <a:spAutoFit/>
          </a:bodyPr>
          <a:lstStyle/>
          <a:p>
            <a:pPr algn="ctr"/>
            <a:r>
              <a:rPr sz="900" b="1" i="0">
                <a:solidFill>
                  <a:srgbClr val="10395C"/>
                </a:solidFill>
                <a:latin typeface="Aptos"/>
              </a:rPr>
              <a:t>SELECT</a:t>
            </a:r>
          </a:p>
        </p:txBody>
      </p:sp>
      <p:cxnSp>
        <p:nvCxnSpPr>
          <p:cNvPr id="25" name="Connector 24"/>
          <p:cNvCxnSpPr/>
          <p:nvPr/>
        </p:nvCxnSpPr>
        <p:spPr>
          <a:xfrm>
            <a:off x="2267712" y="5084064"/>
            <a:ext cx="310896"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2606040" y="4919472"/>
            <a:ext cx="1353312"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28" name="Connector 27"/>
          <p:cNvCxnSpPr/>
          <p:nvPr/>
        </p:nvCxnSpPr>
        <p:spPr>
          <a:xfrm>
            <a:off x="3995928" y="5084064"/>
            <a:ext cx="301752"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4334256" y="4910328"/>
            <a:ext cx="1143000"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b="1" dirty="0">
                <a:solidFill>
                  <a:srgbClr val="10395C"/>
                </a:solidFill>
                <a:latin typeface="Aptos"/>
              </a:rPr>
              <a:t>VALIDATE</a:t>
            </a:r>
          </a:p>
        </p:txBody>
      </p:sp>
      <p:sp>
        <p:nvSpPr>
          <p:cNvPr id="30" name="TextBox 29"/>
          <p:cNvSpPr txBox="1"/>
          <p:nvPr/>
        </p:nvSpPr>
        <p:spPr>
          <a:xfrm>
            <a:off x="2700528" y="4948258"/>
            <a:ext cx="1106424" cy="274320"/>
          </a:xfrm>
          <a:prstGeom prst="rect">
            <a:avLst/>
          </a:prstGeom>
          <a:noFill/>
        </p:spPr>
        <p:txBody>
          <a:bodyPr wrap="square" lIns="41148" tIns="22860" rIns="41148" bIns="22860" anchor="ctr">
            <a:spAutoFit/>
          </a:bodyPr>
          <a:lstStyle/>
          <a:p>
            <a:pPr algn="ctr"/>
            <a:r>
              <a:rPr sz="900" b="1" i="0" dirty="0">
                <a:solidFill>
                  <a:srgbClr val="10395C"/>
                </a:solidFill>
                <a:latin typeface="Aptos"/>
              </a:rPr>
              <a:t>PLAN</a:t>
            </a:r>
          </a:p>
        </p:txBody>
      </p:sp>
      <p:cxnSp>
        <p:nvCxnSpPr>
          <p:cNvPr id="31" name="Connector 30"/>
          <p:cNvCxnSpPr/>
          <p:nvPr/>
        </p:nvCxnSpPr>
        <p:spPr>
          <a:xfrm>
            <a:off x="5513832" y="5084064"/>
            <a:ext cx="301752"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5852160" y="4919472"/>
            <a:ext cx="1298448" cy="329184"/>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870448" y="4937759"/>
            <a:ext cx="1261872" cy="274320"/>
          </a:xfrm>
          <a:prstGeom prst="rect">
            <a:avLst/>
          </a:prstGeom>
          <a:noFill/>
        </p:spPr>
        <p:txBody>
          <a:bodyPr wrap="square" lIns="41148" tIns="22860" rIns="41148" bIns="22860" anchor="ctr">
            <a:spAutoFit/>
          </a:bodyPr>
          <a:lstStyle/>
          <a:p>
            <a:pPr algn="ctr"/>
            <a:r>
              <a:rPr sz="900" b="1" i="0">
                <a:solidFill>
                  <a:srgbClr val="10395C"/>
                </a:solidFill>
                <a:latin typeface="Aptos"/>
              </a:rPr>
              <a:t>REGISTER</a:t>
            </a:r>
          </a:p>
        </p:txBody>
      </p:sp>
      <p:sp>
        <p:nvSpPr>
          <p:cNvPr id="34" name="Rounded Rectangle 33"/>
          <p:cNvSpPr/>
          <p:nvPr/>
        </p:nvSpPr>
        <p:spPr>
          <a:xfrm>
            <a:off x="7662672" y="1417320"/>
            <a:ext cx="3904487" cy="452628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973568" y="1764792"/>
            <a:ext cx="3246120" cy="274320"/>
          </a:xfrm>
          <a:prstGeom prst="rect">
            <a:avLst/>
          </a:prstGeom>
          <a:noFill/>
        </p:spPr>
        <p:txBody>
          <a:bodyPr wrap="square" lIns="41148" tIns="22860" rIns="41148" bIns="22860" anchor="t">
            <a:spAutoFit/>
          </a:bodyPr>
          <a:lstStyle/>
          <a:p>
            <a:pPr algn="ctr"/>
            <a:r>
              <a:rPr sz="1300" b="1" i="0">
                <a:solidFill>
                  <a:srgbClr val="10395C"/>
                </a:solidFill>
                <a:latin typeface="Aptos"/>
              </a:rPr>
              <a:t>IN ONE VIEW</a:t>
            </a:r>
          </a:p>
        </p:txBody>
      </p:sp>
      <p:sp>
        <p:nvSpPr>
          <p:cNvPr id="36" name="Oval 35"/>
          <p:cNvSpPr/>
          <p:nvPr/>
        </p:nvSpPr>
        <p:spPr>
          <a:xfrm>
            <a:off x="8001000" y="2267712"/>
            <a:ext cx="347472" cy="347472"/>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001000" y="2267712"/>
            <a:ext cx="347472" cy="347472"/>
          </a:xfrm>
          <a:prstGeom prst="rect">
            <a:avLst/>
          </a:prstGeom>
          <a:noFill/>
        </p:spPr>
        <p:txBody>
          <a:bodyPr wrap="square" lIns="41148" tIns="22860" rIns="41148" bIns="22860" anchor="ctr">
            <a:spAutoFit/>
          </a:bodyPr>
          <a:lstStyle/>
          <a:p>
            <a:pPr algn="ctr"/>
            <a:r>
              <a:rPr sz="900" b="1" i="0">
                <a:solidFill>
                  <a:srgbClr val="2A79A3"/>
                </a:solidFill>
                <a:latin typeface="Aptos"/>
              </a:rPr>
              <a:t>1</a:t>
            </a:r>
          </a:p>
        </p:txBody>
      </p:sp>
      <p:sp>
        <p:nvSpPr>
          <p:cNvPr id="38" name="TextBox 37"/>
          <p:cNvSpPr txBox="1"/>
          <p:nvPr/>
        </p:nvSpPr>
        <p:spPr>
          <a:xfrm>
            <a:off x="8485632" y="2258568"/>
            <a:ext cx="1005840" cy="210312"/>
          </a:xfrm>
          <a:prstGeom prst="rect">
            <a:avLst/>
          </a:prstGeom>
          <a:noFill/>
        </p:spPr>
        <p:txBody>
          <a:bodyPr wrap="square" lIns="41148" tIns="22860" rIns="41148" bIns="22860" anchor="t">
            <a:spAutoFit/>
          </a:bodyPr>
          <a:lstStyle/>
          <a:p>
            <a:pPr algn="l"/>
            <a:r>
              <a:rPr sz="950" b="1" i="0">
                <a:solidFill>
                  <a:srgbClr val="10395C"/>
                </a:solidFill>
                <a:latin typeface="Aptos"/>
              </a:rPr>
              <a:t>Purpose</a:t>
            </a:r>
          </a:p>
        </p:txBody>
      </p:sp>
      <p:sp>
        <p:nvSpPr>
          <p:cNvPr id="39" name="TextBox 38"/>
          <p:cNvSpPr txBox="1"/>
          <p:nvPr/>
        </p:nvSpPr>
        <p:spPr>
          <a:xfrm>
            <a:off x="9464040" y="2258568"/>
            <a:ext cx="1783080" cy="329184"/>
          </a:xfrm>
          <a:prstGeom prst="rect">
            <a:avLst/>
          </a:prstGeom>
          <a:noFill/>
        </p:spPr>
        <p:txBody>
          <a:bodyPr wrap="square" lIns="41148" tIns="22860" rIns="41148" bIns="22860" anchor="t">
            <a:spAutoFit/>
          </a:bodyPr>
          <a:lstStyle/>
          <a:p>
            <a:pPr algn="l"/>
            <a:r>
              <a:rPr sz="940" b="0" i="0">
                <a:solidFill>
                  <a:srgbClr val="273D4E"/>
                </a:solidFill>
                <a:latin typeface="Aptos"/>
              </a:rPr>
              <a:t>Reduce manual checking</a:t>
            </a:r>
          </a:p>
        </p:txBody>
      </p:sp>
      <p:sp>
        <p:nvSpPr>
          <p:cNvPr id="40" name="Oval 39"/>
          <p:cNvSpPr/>
          <p:nvPr/>
        </p:nvSpPr>
        <p:spPr>
          <a:xfrm>
            <a:off x="8001000" y="2889504"/>
            <a:ext cx="347472" cy="34747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8001000" y="2889504"/>
            <a:ext cx="347472" cy="347472"/>
          </a:xfrm>
          <a:prstGeom prst="rect">
            <a:avLst/>
          </a:prstGeom>
          <a:noFill/>
        </p:spPr>
        <p:txBody>
          <a:bodyPr wrap="square" lIns="41148" tIns="22860" rIns="41148" bIns="22860" anchor="ctr">
            <a:spAutoFit/>
          </a:bodyPr>
          <a:lstStyle/>
          <a:p>
            <a:pPr algn="ctr"/>
            <a:r>
              <a:rPr sz="900" b="1" i="0">
                <a:solidFill>
                  <a:srgbClr val="499D7E"/>
                </a:solidFill>
                <a:latin typeface="Aptos"/>
              </a:rPr>
              <a:t>2</a:t>
            </a:r>
          </a:p>
        </p:txBody>
      </p:sp>
      <p:sp>
        <p:nvSpPr>
          <p:cNvPr id="42" name="TextBox 41"/>
          <p:cNvSpPr txBox="1"/>
          <p:nvPr/>
        </p:nvSpPr>
        <p:spPr>
          <a:xfrm>
            <a:off x="8485632" y="2880360"/>
            <a:ext cx="1005840" cy="210312"/>
          </a:xfrm>
          <a:prstGeom prst="rect">
            <a:avLst/>
          </a:prstGeom>
          <a:noFill/>
        </p:spPr>
        <p:txBody>
          <a:bodyPr wrap="square" lIns="41148" tIns="22860" rIns="41148" bIns="22860" anchor="t">
            <a:spAutoFit/>
          </a:bodyPr>
          <a:lstStyle/>
          <a:p>
            <a:pPr algn="l"/>
            <a:r>
              <a:rPr sz="950" b="1" i="0">
                <a:solidFill>
                  <a:srgbClr val="10395C"/>
                </a:solidFill>
                <a:latin typeface="Aptos"/>
              </a:rPr>
              <a:t>Users</a:t>
            </a:r>
          </a:p>
        </p:txBody>
      </p:sp>
      <p:sp>
        <p:nvSpPr>
          <p:cNvPr id="43" name="TextBox 42"/>
          <p:cNvSpPr txBox="1"/>
          <p:nvPr/>
        </p:nvSpPr>
        <p:spPr>
          <a:xfrm>
            <a:off x="9464040" y="2880360"/>
            <a:ext cx="1783080" cy="329184"/>
          </a:xfrm>
          <a:prstGeom prst="rect">
            <a:avLst/>
          </a:prstGeom>
          <a:noFill/>
        </p:spPr>
        <p:txBody>
          <a:bodyPr wrap="square" lIns="41148" tIns="22860" rIns="41148" bIns="22860" anchor="t">
            <a:spAutoFit/>
          </a:bodyPr>
          <a:lstStyle/>
          <a:p>
            <a:pPr algn="l"/>
            <a:r>
              <a:rPr sz="940" b="0" i="0">
                <a:solidFill>
                  <a:srgbClr val="273D4E"/>
                </a:solidFill>
                <a:latin typeface="Aptos"/>
              </a:rPr>
              <a:t>Students • Faculty • Admin</a:t>
            </a:r>
          </a:p>
        </p:txBody>
      </p:sp>
      <p:sp>
        <p:nvSpPr>
          <p:cNvPr id="44" name="Oval 43"/>
          <p:cNvSpPr/>
          <p:nvPr/>
        </p:nvSpPr>
        <p:spPr>
          <a:xfrm>
            <a:off x="8001000" y="3511296"/>
            <a:ext cx="347472" cy="347472"/>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8001000" y="3511296"/>
            <a:ext cx="347472" cy="347472"/>
          </a:xfrm>
          <a:prstGeom prst="rect">
            <a:avLst/>
          </a:prstGeom>
          <a:noFill/>
        </p:spPr>
        <p:txBody>
          <a:bodyPr wrap="square" lIns="41148" tIns="22860" rIns="41148" bIns="22860" anchor="ctr">
            <a:spAutoFit/>
          </a:bodyPr>
          <a:lstStyle/>
          <a:p>
            <a:pPr algn="ctr"/>
            <a:r>
              <a:rPr sz="900" b="1" i="0">
                <a:solidFill>
                  <a:srgbClr val="2A79A3"/>
                </a:solidFill>
                <a:latin typeface="Aptos"/>
              </a:rPr>
              <a:t>3</a:t>
            </a:r>
          </a:p>
        </p:txBody>
      </p:sp>
      <p:sp>
        <p:nvSpPr>
          <p:cNvPr id="46" name="TextBox 45"/>
          <p:cNvSpPr txBox="1"/>
          <p:nvPr/>
        </p:nvSpPr>
        <p:spPr>
          <a:xfrm>
            <a:off x="8485632" y="3502152"/>
            <a:ext cx="1005840" cy="210312"/>
          </a:xfrm>
          <a:prstGeom prst="rect">
            <a:avLst/>
          </a:prstGeom>
          <a:noFill/>
        </p:spPr>
        <p:txBody>
          <a:bodyPr wrap="square" lIns="41148" tIns="22860" rIns="41148" bIns="22860" anchor="t">
            <a:spAutoFit/>
          </a:bodyPr>
          <a:lstStyle/>
          <a:p>
            <a:pPr algn="l"/>
            <a:r>
              <a:rPr sz="950" b="1" i="0">
                <a:solidFill>
                  <a:srgbClr val="10395C"/>
                </a:solidFill>
                <a:latin typeface="Aptos"/>
              </a:rPr>
              <a:t>Core engine</a:t>
            </a:r>
          </a:p>
        </p:txBody>
      </p:sp>
      <p:sp>
        <p:nvSpPr>
          <p:cNvPr id="47" name="TextBox 46"/>
          <p:cNvSpPr txBox="1"/>
          <p:nvPr/>
        </p:nvSpPr>
        <p:spPr>
          <a:xfrm>
            <a:off x="9464040" y="3502152"/>
            <a:ext cx="1783080" cy="329184"/>
          </a:xfrm>
          <a:prstGeom prst="rect">
            <a:avLst/>
          </a:prstGeom>
          <a:noFill/>
        </p:spPr>
        <p:txBody>
          <a:bodyPr wrap="square" lIns="41148" tIns="22860" rIns="41148" bIns="22860" anchor="t">
            <a:spAutoFit/>
          </a:bodyPr>
          <a:lstStyle/>
          <a:p>
            <a:pPr algn="l"/>
            <a:r>
              <a:rPr sz="940" b="0" i="0">
                <a:solidFill>
                  <a:srgbClr val="273D4E"/>
                </a:solidFill>
                <a:latin typeface="Aptos"/>
              </a:rPr>
              <a:t>Rules + clash detection</a:t>
            </a:r>
          </a:p>
        </p:txBody>
      </p:sp>
      <p:sp>
        <p:nvSpPr>
          <p:cNvPr id="48" name="Oval 47"/>
          <p:cNvSpPr/>
          <p:nvPr/>
        </p:nvSpPr>
        <p:spPr>
          <a:xfrm>
            <a:off x="8001000" y="4133087"/>
            <a:ext cx="347472" cy="34747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8001000" y="4133087"/>
            <a:ext cx="347472" cy="347472"/>
          </a:xfrm>
          <a:prstGeom prst="rect">
            <a:avLst/>
          </a:prstGeom>
          <a:noFill/>
        </p:spPr>
        <p:txBody>
          <a:bodyPr wrap="square" lIns="41148" tIns="22860" rIns="41148" bIns="22860" anchor="ctr">
            <a:spAutoFit/>
          </a:bodyPr>
          <a:lstStyle/>
          <a:p>
            <a:pPr algn="ctr"/>
            <a:r>
              <a:rPr sz="900" b="1" i="0">
                <a:solidFill>
                  <a:srgbClr val="499D7E"/>
                </a:solidFill>
                <a:latin typeface="Aptos"/>
              </a:rPr>
              <a:t>4</a:t>
            </a:r>
          </a:p>
        </p:txBody>
      </p:sp>
      <p:sp>
        <p:nvSpPr>
          <p:cNvPr id="50" name="TextBox 49"/>
          <p:cNvSpPr txBox="1"/>
          <p:nvPr/>
        </p:nvSpPr>
        <p:spPr>
          <a:xfrm>
            <a:off x="8485632" y="4123944"/>
            <a:ext cx="1005840" cy="210312"/>
          </a:xfrm>
          <a:prstGeom prst="rect">
            <a:avLst/>
          </a:prstGeom>
          <a:noFill/>
        </p:spPr>
        <p:txBody>
          <a:bodyPr wrap="square" lIns="41148" tIns="22860" rIns="41148" bIns="22860" anchor="t">
            <a:spAutoFit/>
          </a:bodyPr>
          <a:lstStyle/>
          <a:p>
            <a:pPr algn="l"/>
            <a:r>
              <a:rPr sz="950" b="1" i="0">
                <a:solidFill>
                  <a:srgbClr val="10395C"/>
                </a:solidFill>
                <a:latin typeface="Aptos"/>
              </a:rPr>
              <a:t>Data</a:t>
            </a:r>
          </a:p>
        </p:txBody>
      </p:sp>
      <p:sp>
        <p:nvSpPr>
          <p:cNvPr id="51" name="TextBox 50"/>
          <p:cNvSpPr txBox="1"/>
          <p:nvPr/>
        </p:nvSpPr>
        <p:spPr>
          <a:xfrm>
            <a:off x="9464040" y="4123944"/>
            <a:ext cx="1783080" cy="329184"/>
          </a:xfrm>
          <a:prstGeom prst="rect">
            <a:avLst/>
          </a:prstGeom>
          <a:noFill/>
        </p:spPr>
        <p:txBody>
          <a:bodyPr wrap="square" lIns="41148" tIns="22860" rIns="41148" bIns="22860" anchor="t">
            <a:spAutoFit/>
          </a:bodyPr>
          <a:lstStyle/>
          <a:p>
            <a:pPr algn="l"/>
            <a:r>
              <a:rPr sz="940" b="0" i="0">
                <a:solidFill>
                  <a:srgbClr val="273D4E"/>
                </a:solidFill>
                <a:latin typeface="Aptos"/>
              </a:rPr>
              <a:t>Relational MySQL database</a:t>
            </a:r>
          </a:p>
        </p:txBody>
      </p:sp>
      <p:sp>
        <p:nvSpPr>
          <p:cNvPr id="52" name="Oval 51"/>
          <p:cNvSpPr/>
          <p:nvPr/>
        </p:nvSpPr>
        <p:spPr>
          <a:xfrm>
            <a:off x="8001000" y="4754880"/>
            <a:ext cx="347472" cy="347472"/>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8001000" y="4754880"/>
            <a:ext cx="347472" cy="347472"/>
          </a:xfrm>
          <a:prstGeom prst="rect">
            <a:avLst/>
          </a:prstGeom>
          <a:noFill/>
        </p:spPr>
        <p:txBody>
          <a:bodyPr wrap="square" lIns="41148" tIns="22860" rIns="41148" bIns="22860" anchor="ctr">
            <a:spAutoFit/>
          </a:bodyPr>
          <a:lstStyle/>
          <a:p>
            <a:pPr algn="ctr"/>
            <a:r>
              <a:rPr sz="900" b="1" i="0">
                <a:solidFill>
                  <a:srgbClr val="2A79A3"/>
                </a:solidFill>
                <a:latin typeface="Aptos"/>
              </a:rPr>
              <a:t>5</a:t>
            </a:r>
          </a:p>
        </p:txBody>
      </p:sp>
      <p:sp>
        <p:nvSpPr>
          <p:cNvPr id="54" name="TextBox 53"/>
          <p:cNvSpPr txBox="1"/>
          <p:nvPr/>
        </p:nvSpPr>
        <p:spPr>
          <a:xfrm>
            <a:off x="8485632" y="4745736"/>
            <a:ext cx="1005840" cy="210312"/>
          </a:xfrm>
          <a:prstGeom prst="rect">
            <a:avLst/>
          </a:prstGeom>
          <a:noFill/>
        </p:spPr>
        <p:txBody>
          <a:bodyPr wrap="square" lIns="41148" tIns="22860" rIns="41148" bIns="22860" anchor="t">
            <a:spAutoFit/>
          </a:bodyPr>
          <a:lstStyle/>
          <a:p>
            <a:pPr algn="l"/>
            <a:r>
              <a:rPr sz="950" b="1" i="0">
                <a:solidFill>
                  <a:srgbClr val="10395C"/>
                </a:solidFill>
                <a:latin typeface="Aptos"/>
              </a:rPr>
              <a:t>Outcome</a:t>
            </a:r>
          </a:p>
        </p:txBody>
      </p:sp>
      <p:sp>
        <p:nvSpPr>
          <p:cNvPr id="55" name="TextBox 54"/>
          <p:cNvSpPr txBox="1"/>
          <p:nvPr/>
        </p:nvSpPr>
        <p:spPr>
          <a:xfrm>
            <a:off x="9464040" y="4745736"/>
            <a:ext cx="1783080" cy="329184"/>
          </a:xfrm>
          <a:prstGeom prst="rect">
            <a:avLst/>
          </a:prstGeom>
          <a:noFill/>
        </p:spPr>
        <p:txBody>
          <a:bodyPr wrap="square" lIns="41148" tIns="22860" rIns="41148" bIns="22860" anchor="t">
            <a:spAutoFit/>
          </a:bodyPr>
          <a:lstStyle/>
          <a:p>
            <a:pPr algn="l"/>
            <a:r>
              <a:t>Fewer manual checks and fewer invalid selections</a:t>
            </a:r>
          </a:p>
        </p:txBody>
      </p:sp>
      <p:sp>
        <p:nvSpPr>
          <p:cNvPr id="56" name="Rounded Rectangle 55"/>
          <p:cNvSpPr/>
          <p:nvPr/>
        </p:nvSpPr>
        <p:spPr>
          <a:xfrm>
            <a:off x="8028431" y="5285232"/>
            <a:ext cx="3182112"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8046719" y="5303520"/>
            <a:ext cx="3145536" cy="274320"/>
          </a:xfrm>
          <a:prstGeom prst="rect">
            <a:avLst/>
          </a:prstGeom>
          <a:noFill/>
        </p:spPr>
        <p:txBody>
          <a:bodyPr wrap="square" lIns="41148" tIns="22860" rIns="41148" bIns="22860" anchor="ctr">
            <a:spAutoFit/>
          </a:bodyPr>
          <a:lstStyle/>
          <a:p>
            <a:pPr algn="ctr"/>
            <a:r>
              <a:rPr sz="850" b="1" i="0">
                <a:solidFill>
                  <a:srgbClr val="10395C"/>
                </a:solidFill>
                <a:latin typeface="Aptos"/>
              </a:rPr>
              <a:t>WEB-BASED • CENTRALIZED • RULE-DRIVEN</a:t>
            </a:r>
          </a:p>
        </p:txBody>
      </p:sp>
      <p:sp>
        <p:nvSpPr>
          <p:cNvPr id="58" name="TextBox 57"/>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59" name="TextBox 58"/>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4572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24688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00584"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55448"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210312"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6400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2</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Problem Statement</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Why the existing manual process can become difficult</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389888"/>
            <a:ext cx="5257800" cy="461772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58952" y="1554480"/>
            <a:ext cx="237744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1572768"/>
            <a:ext cx="2340864" cy="274320"/>
          </a:xfrm>
          <a:prstGeom prst="rect">
            <a:avLst/>
          </a:prstGeom>
          <a:noFill/>
        </p:spPr>
        <p:txBody>
          <a:bodyPr wrap="square" lIns="41148" tIns="22860" rIns="41148" bIns="22860" anchor="ctr">
            <a:spAutoFit/>
          </a:bodyPr>
          <a:lstStyle/>
          <a:p>
            <a:pPr algn="ctr"/>
            <a:r>
              <a:rPr sz="919" b="1" i="0">
                <a:solidFill>
                  <a:srgbClr val="10395C"/>
                </a:solidFill>
                <a:latin typeface="Aptos"/>
              </a:rPr>
              <a:t>MANUAL CHECKING</a:t>
            </a:r>
          </a:p>
        </p:txBody>
      </p:sp>
      <p:sp>
        <p:nvSpPr>
          <p:cNvPr id="19" name="Oval 18"/>
          <p:cNvSpPr/>
          <p:nvPr/>
        </p:nvSpPr>
        <p:spPr>
          <a:xfrm>
            <a:off x="5541264" y="1618488"/>
            <a:ext cx="91440" cy="91440"/>
          </a:xfrm>
          <a:prstGeom prst="ellipse">
            <a:avLst/>
          </a:prstGeom>
          <a:solidFill>
            <a:srgbClr val="F1B19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541264" y="1618488"/>
            <a:ext cx="91440" cy="91440"/>
          </a:xfrm>
          <a:prstGeom prst="rect">
            <a:avLst/>
          </a:prstGeom>
          <a:noFill/>
        </p:spPr>
        <p:txBody>
          <a:bodyPr wrap="square" lIns="41148" tIns="22860" rIns="41148" bIns="22860" anchor="ctr">
            <a:spAutoFit/>
          </a:bodyPr>
          <a:lstStyle/>
          <a:p>
            <a:pPr algn="ctr"/>
            <a:endParaRPr/>
          </a:p>
        </p:txBody>
      </p:sp>
      <p:sp>
        <p:nvSpPr>
          <p:cNvPr id="21" name="Oval 20"/>
          <p:cNvSpPr/>
          <p:nvPr/>
        </p:nvSpPr>
        <p:spPr>
          <a:xfrm>
            <a:off x="877824" y="1947672"/>
            <a:ext cx="274320" cy="27432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77824" y="1947672"/>
            <a:ext cx="274320" cy="274320"/>
          </a:xfrm>
          <a:prstGeom prst="rect">
            <a:avLst/>
          </a:prstGeom>
          <a:noFill/>
        </p:spPr>
        <p:txBody>
          <a:bodyPr wrap="square" lIns="41148" tIns="22860" rIns="41148" bIns="22860" anchor="ctr">
            <a:spAutoFit/>
          </a:bodyPr>
          <a:lstStyle/>
          <a:p>
            <a:pPr algn="ctr"/>
            <a:r>
              <a:rPr sz="850" b="1" i="0">
                <a:solidFill>
                  <a:srgbClr val="2A79A3"/>
                </a:solidFill>
                <a:latin typeface="Aptos"/>
              </a:rPr>
              <a:t>✓</a:t>
            </a:r>
          </a:p>
        </p:txBody>
      </p:sp>
      <p:sp>
        <p:nvSpPr>
          <p:cNvPr id="23" name="TextBox 22"/>
          <p:cNvSpPr txBox="1"/>
          <p:nvPr/>
        </p:nvSpPr>
        <p:spPr>
          <a:xfrm>
            <a:off x="1298448" y="1938528"/>
            <a:ext cx="4160520" cy="274320"/>
          </a:xfrm>
          <a:prstGeom prst="rect">
            <a:avLst/>
          </a:prstGeom>
          <a:noFill/>
        </p:spPr>
        <p:txBody>
          <a:bodyPr wrap="square" lIns="41148" tIns="22860" rIns="41148" bIns="22860" anchor="t">
            <a:spAutoFit/>
          </a:bodyPr>
          <a:lstStyle/>
          <a:p>
            <a:pPr algn="l"/>
            <a:r>
              <a:rPr sz="1130" b="0" i="0">
                <a:solidFill>
                  <a:srgbClr val="273D4E"/>
                </a:solidFill>
                <a:latin typeface="Aptos"/>
              </a:rPr>
              <a:t>Which courses are available?</a:t>
            </a:r>
          </a:p>
        </p:txBody>
      </p:sp>
      <p:sp>
        <p:nvSpPr>
          <p:cNvPr id="24" name="Oval 23"/>
          <p:cNvSpPr/>
          <p:nvPr/>
        </p:nvSpPr>
        <p:spPr>
          <a:xfrm>
            <a:off x="877824" y="2395728"/>
            <a:ext cx="274320" cy="27432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77824" y="2395728"/>
            <a:ext cx="274320" cy="274320"/>
          </a:xfrm>
          <a:prstGeom prst="rect">
            <a:avLst/>
          </a:prstGeom>
          <a:noFill/>
        </p:spPr>
        <p:txBody>
          <a:bodyPr wrap="square" lIns="41148" tIns="22860" rIns="41148" bIns="22860" anchor="ctr">
            <a:spAutoFit/>
          </a:bodyPr>
          <a:lstStyle/>
          <a:p>
            <a:pPr algn="ctr"/>
            <a:r>
              <a:rPr sz="850" b="1" i="0">
                <a:solidFill>
                  <a:srgbClr val="2A79A3"/>
                </a:solidFill>
                <a:latin typeface="Aptos"/>
              </a:rPr>
              <a:t>✓</a:t>
            </a:r>
          </a:p>
        </p:txBody>
      </p:sp>
      <p:sp>
        <p:nvSpPr>
          <p:cNvPr id="26" name="TextBox 25"/>
          <p:cNvSpPr txBox="1"/>
          <p:nvPr/>
        </p:nvSpPr>
        <p:spPr>
          <a:xfrm>
            <a:off x="1298448" y="2386584"/>
            <a:ext cx="4160520" cy="274320"/>
          </a:xfrm>
          <a:prstGeom prst="rect">
            <a:avLst/>
          </a:prstGeom>
          <a:noFill/>
        </p:spPr>
        <p:txBody>
          <a:bodyPr wrap="square" lIns="41148" tIns="22860" rIns="41148" bIns="22860" anchor="t">
            <a:spAutoFit/>
          </a:bodyPr>
          <a:lstStyle/>
          <a:p>
            <a:pPr algn="l"/>
            <a:r>
              <a:rPr sz="1130" b="0" i="0">
                <a:solidFill>
                  <a:srgbClr val="273D4E"/>
                </a:solidFill>
                <a:latin typeface="Aptos"/>
              </a:rPr>
              <a:t>Course timings and day</a:t>
            </a:r>
          </a:p>
        </p:txBody>
      </p:sp>
      <p:sp>
        <p:nvSpPr>
          <p:cNvPr id="27" name="Oval 26"/>
          <p:cNvSpPr/>
          <p:nvPr/>
        </p:nvSpPr>
        <p:spPr>
          <a:xfrm>
            <a:off x="877824" y="2843784"/>
            <a:ext cx="274320" cy="27432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77824" y="2843784"/>
            <a:ext cx="274320" cy="274320"/>
          </a:xfrm>
          <a:prstGeom prst="rect">
            <a:avLst/>
          </a:prstGeom>
          <a:noFill/>
        </p:spPr>
        <p:txBody>
          <a:bodyPr wrap="square" lIns="41148" tIns="22860" rIns="41148" bIns="22860" anchor="ctr">
            <a:spAutoFit/>
          </a:bodyPr>
          <a:lstStyle/>
          <a:p>
            <a:pPr algn="ctr"/>
            <a:r>
              <a:rPr sz="850" b="1" i="0">
                <a:solidFill>
                  <a:srgbClr val="2A79A3"/>
                </a:solidFill>
                <a:latin typeface="Aptos"/>
              </a:rPr>
              <a:t>✓</a:t>
            </a:r>
          </a:p>
        </p:txBody>
      </p:sp>
      <p:sp>
        <p:nvSpPr>
          <p:cNvPr id="29" name="TextBox 28"/>
          <p:cNvSpPr txBox="1"/>
          <p:nvPr/>
        </p:nvSpPr>
        <p:spPr>
          <a:xfrm>
            <a:off x="1298448" y="2834640"/>
            <a:ext cx="4160520" cy="274320"/>
          </a:xfrm>
          <a:prstGeom prst="rect">
            <a:avLst/>
          </a:prstGeom>
          <a:noFill/>
        </p:spPr>
        <p:txBody>
          <a:bodyPr wrap="square" lIns="41148" tIns="22860" rIns="41148" bIns="22860" anchor="t">
            <a:spAutoFit/>
          </a:bodyPr>
          <a:lstStyle/>
          <a:p>
            <a:pPr algn="l"/>
            <a:r>
              <a:rPr sz="1130" b="0" i="0">
                <a:solidFill>
                  <a:srgbClr val="273D4E"/>
                </a:solidFill>
                <a:latin typeface="Aptos"/>
              </a:rPr>
              <a:t>Faculty and classroom</a:t>
            </a:r>
          </a:p>
        </p:txBody>
      </p:sp>
      <p:sp>
        <p:nvSpPr>
          <p:cNvPr id="30" name="Oval 29"/>
          <p:cNvSpPr/>
          <p:nvPr/>
        </p:nvSpPr>
        <p:spPr>
          <a:xfrm>
            <a:off x="877824" y="3291839"/>
            <a:ext cx="274320" cy="27432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77824" y="3291839"/>
            <a:ext cx="274320" cy="274320"/>
          </a:xfrm>
          <a:prstGeom prst="rect">
            <a:avLst/>
          </a:prstGeom>
          <a:noFill/>
        </p:spPr>
        <p:txBody>
          <a:bodyPr wrap="square" lIns="41148" tIns="22860" rIns="41148" bIns="22860" anchor="ctr">
            <a:spAutoFit/>
          </a:bodyPr>
          <a:lstStyle/>
          <a:p>
            <a:pPr algn="ctr"/>
            <a:r>
              <a:rPr sz="850" b="1" i="0">
                <a:solidFill>
                  <a:srgbClr val="2A79A3"/>
                </a:solidFill>
                <a:latin typeface="Aptos"/>
              </a:rPr>
              <a:t>✓</a:t>
            </a:r>
          </a:p>
        </p:txBody>
      </p:sp>
      <p:sp>
        <p:nvSpPr>
          <p:cNvPr id="32" name="TextBox 31"/>
          <p:cNvSpPr txBox="1"/>
          <p:nvPr/>
        </p:nvSpPr>
        <p:spPr>
          <a:xfrm>
            <a:off x="1298448" y="3282696"/>
            <a:ext cx="4160520" cy="274320"/>
          </a:xfrm>
          <a:prstGeom prst="rect">
            <a:avLst/>
          </a:prstGeom>
          <a:noFill/>
        </p:spPr>
        <p:txBody>
          <a:bodyPr wrap="square" lIns="41148" tIns="22860" rIns="41148" bIns="22860" anchor="t">
            <a:spAutoFit/>
          </a:bodyPr>
          <a:lstStyle/>
          <a:p>
            <a:pPr algn="l"/>
            <a:r>
              <a:rPr sz="1130" b="0" i="0">
                <a:solidFill>
                  <a:srgbClr val="273D4E"/>
                </a:solidFill>
                <a:latin typeface="Aptos"/>
              </a:rPr>
              <a:t>Available seats</a:t>
            </a:r>
          </a:p>
        </p:txBody>
      </p:sp>
      <p:sp>
        <p:nvSpPr>
          <p:cNvPr id="33" name="Oval 32"/>
          <p:cNvSpPr/>
          <p:nvPr/>
        </p:nvSpPr>
        <p:spPr>
          <a:xfrm>
            <a:off x="877824" y="3739896"/>
            <a:ext cx="274320" cy="27432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877824" y="3739896"/>
            <a:ext cx="274320" cy="274320"/>
          </a:xfrm>
          <a:prstGeom prst="rect">
            <a:avLst/>
          </a:prstGeom>
          <a:noFill/>
        </p:spPr>
        <p:txBody>
          <a:bodyPr wrap="square" lIns="41148" tIns="22860" rIns="41148" bIns="22860" anchor="ctr">
            <a:spAutoFit/>
          </a:bodyPr>
          <a:lstStyle/>
          <a:p>
            <a:pPr algn="ctr"/>
            <a:r>
              <a:rPr sz="850" b="1" i="0">
                <a:solidFill>
                  <a:srgbClr val="2A79A3"/>
                </a:solidFill>
                <a:latin typeface="Aptos"/>
              </a:rPr>
              <a:t>✓</a:t>
            </a:r>
          </a:p>
        </p:txBody>
      </p:sp>
      <p:sp>
        <p:nvSpPr>
          <p:cNvPr id="35" name="TextBox 34"/>
          <p:cNvSpPr txBox="1"/>
          <p:nvPr/>
        </p:nvSpPr>
        <p:spPr>
          <a:xfrm>
            <a:off x="1298448" y="3730752"/>
            <a:ext cx="4160520" cy="274320"/>
          </a:xfrm>
          <a:prstGeom prst="rect">
            <a:avLst/>
          </a:prstGeom>
          <a:noFill/>
        </p:spPr>
        <p:txBody>
          <a:bodyPr wrap="square" lIns="41148" tIns="22860" rIns="41148" bIns="22860" anchor="t">
            <a:spAutoFit/>
          </a:bodyPr>
          <a:lstStyle/>
          <a:p>
            <a:pPr algn="l"/>
            <a:r>
              <a:rPr sz="1130" b="0" i="0">
                <a:solidFill>
                  <a:srgbClr val="273D4E"/>
                </a:solidFill>
                <a:latin typeface="Aptos"/>
              </a:rPr>
              <a:t>Credit requirements</a:t>
            </a:r>
          </a:p>
        </p:txBody>
      </p:sp>
      <p:sp>
        <p:nvSpPr>
          <p:cNvPr id="36" name="Oval 35"/>
          <p:cNvSpPr/>
          <p:nvPr/>
        </p:nvSpPr>
        <p:spPr>
          <a:xfrm>
            <a:off x="877824" y="4187952"/>
            <a:ext cx="274320" cy="27432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877824" y="4187952"/>
            <a:ext cx="274320" cy="274320"/>
          </a:xfrm>
          <a:prstGeom prst="rect">
            <a:avLst/>
          </a:prstGeom>
          <a:noFill/>
        </p:spPr>
        <p:txBody>
          <a:bodyPr wrap="square" lIns="41148" tIns="22860" rIns="41148" bIns="22860" anchor="ctr">
            <a:spAutoFit/>
          </a:bodyPr>
          <a:lstStyle/>
          <a:p>
            <a:pPr algn="ctr"/>
            <a:r>
              <a:rPr sz="850" b="1" i="0">
                <a:solidFill>
                  <a:srgbClr val="2A79A3"/>
                </a:solidFill>
                <a:latin typeface="Aptos"/>
              </a:rPr>
              <a:t>✓</a:t>
            </a:r>
          </a:p>
        </p:txBody>
      </p:sp>
      <p:sp>
        <p:nvSpPr>
          <p:cNvPr id="38" name="TextBox 37"/>
          <p:cNvSpPr txBox="1"/>
          <p:nvPr/>
        </p:nvSpPr>
        <p:spPr>
          <a:xfrm>
            <a:off x="1298448" y="4178808"/>
            <a:ext cx="4160520" cy="274320"/>
          </a:xfrm>
          <a:prstGeom prst="rect">
            <a:avLst/>
          </a:prstGeom>
          <a:noFill/>
        </p:spPr>
        <p:txBody>
          <a:bodyPr wrap="square" lIns="41148" tIns="22860" rIns="41148" bIns="22860" anchor="t">
            <a:spAutoFit/>
          </a:bodyPr>
          <a:lstStyle/>
          <a:p>
            <a:pPr algn="l"/>
            <a:r>
              <a:rPr sz="1130" b="0" i="0">
                <a:solidFill>
                  <a:srgbClr val="273D4E"/>
                </a:solidFill>
                <a:latin typeface="Aptos"/>
              </a:rPr>
              <a:t>Prerequisites</a:t>
            </a:r>
          </a:p>
        </p:txBody>
      </p:sp>
      <p:sp>
        <p:nvSpPr>
          <p:cNvPr id="39" name="Oval 38"/>
          <p:cNvSpPr/>
          <p:nvPr/>
        </p:nvSpPr>
        <p:spPr>
          <a:xfrm>
            <a:off x="877824" y="4636008"/>
            <a:ext cx="274320" cy="27432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77824" y="4636008"/>
            <a:ext cx="274320" cy="274320"/>
          </a:xfrm>
          <a:prstGeom prst="rect">
            <a:avLst/>
          </a:prstGeom>
          <a:noFill/>
        </p:spPr>
        <p:txBody>
          <a:bodyPr wrap="square" lIns="41148" tIns="22860" rIns="41148" bIns="22860" anchor="ctr">
            <a:spAutoFit/>
          </a:bodyPr>
          <a:lstStyle/>
          <a:p>
            <a:pPr algn="ctr"/>
            <a:r>
              <a:rPr sz="850" b="1" i="0">
                <a:solidFill>
                  <a:srgbClr val="2A79A3"/>
                </a:solidFill>
                <a:latin typeface="Aptos"/>
              </a:rPr>
              <a:t>✓</a:t>
            </a:r>
          </a:p>
        </p:txBody>
      </p:sp>
      <p:sp>
        <p:nvSpPr>
          <p:cNvPr id="41" name="TextBox 40"/>
          <p:cNvSpPr txBox="1"/>
          <p:nvPr/>
        </p:nvSpPr>
        <p:spPr>
          <a:xfrm>
            <a:off x="1298448" y="4626864"/>
            <a:ext cx="4160520" cy="274320"/>
          </a:xfrm>
          <a:prstGeom prst="rect">
            <a:avLst/>
          </a:prstGeom>
          <a:noFill/>
        </p:spPr>
        <p:txBody>
          <a:bodyPr wrap="square" lIns="41148" tIns="22860" rIns="41148" bIns="22860" anchor="t">
            <a:spAutoFit/>
          </a:bodyPr>
          <a:lstStyle/>
          <a:p>
            <a:pPr algn="l"/>
            <a:r>
              <a:rPr sz="1130" b="0" i="0">
                <a:solidFill>
                  <a:srgbClr val="273D4E"/>
                </a:solidFill>
                <a:latin typeface="Aptos"/>
              </a:rPr>
              <a:t>Whether selected courses clash</a:t>
            </a:r>
          </a:p>
        </p:txBody>
      </p:sp>
      <p:sp>
        <p:nvSpPr>
          <p:cNvPr id="42" name="Oval 41"/>
          <p:cNvSpPr/>
          <p:nvPr/>
        </p:nvSpPr>
        <p:spPr>
          <a:xfrm>
            <a:off x="877824" y="5084064"/>
            <a:ext cx="274320" cy="27432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877824" y="5084064"/>
            <a:ext cx="274320" cy="274320"/>
          </a:xfrm>
          <a:prstGeom prst="rect">
            <a:avLst/>
          </a:prstGeom>
          <a:noFill/>
        </p:spPr>
        <p:txBody>
          <a:bodyPr wrap="square" lIns="41148" tIns="22860" rIns="41148" bIns="22860" anchor="ctr">
            <a:spAutoFit/>
          </a:bodyPr>
          <a:lstStyle/>
          <a:p>
            <a:pPr algn="ctr"/>
            <a:r>
              <a:rPr sz="850" b="1" i="0">
                <a:solidFill>
                  <a:srgbClr val="2A79A3"/>
                </a:solidFill>
                <a:latin typeface="Aptos"/>
              </a:rPr>
              <a:t>✓</a:t>
            </a:r>
          </a:p>
        </p:txBody>
      </p:sp>
      <p:sp>
        <p:nvSpPr>
          <p:cNvPr id="44" name="TextBox 43"/>
          <p:cNvSpPr txBox="1"/>
          <p:nvPr/>
        </p:nvSpPr>
        <p:spPr>
          <a:xfrm>
            <a:off x="1298448" y="5074920"/>
            <a:ext cx="4160520" cy="274320"/>
          </a:xfrm>
          <a:prstGeom prst="rect">
            <a:avLst/>
          </a:prstGeom>
          <a:noFill/>
        </p:spPr>
        <p:txBody>
          <a:bodyPr wrap="square" lIns="41148" tIns="22860" rIns="41148" bIns="22860" anchor="t">
            <a:spAutoFit/>
          </a:bodyPr>
          <a:lstStyle/>
          <a:p>
            <a:pPr algn="l"/>
            <a:r>
              <a:rPr sz="1130" b="0" i="0">
                <a:solidFill>
                  <a:srgbClr val="273D4E"/>
                </a:solidFill>
                <a:latin typeface="Aptos"/>
              </a:rPr>
              <a:t>What to register or drop</a:t>
            </a:r>
          </a:p>
        </p:txBody>
      </p:sp>
      <p:sp>
        <p:nvSpPr>
          <p:cNvPr id="45" name="Rounded Rectangle 44"/>
          <p:cNvSpPr/>
          <p:nvPr/>
        </p:nvSpPr>
        <p:spPr>
          <a:xfrm>
            <a:off x="6144768" y="1289473"/>
            <a:ext cx="5422392" cy="461772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73952" y="1737360"/>
            <a:ext cx="4709160" cy="292608"/>
          </a:xfrm>
          <a:prstGeom prst="rect">
            <a:avLst/>
          </a:prstGeom>
          <a:noFill/>
        </p:spPr>
        <p:txBody>
          <a:bodyPr wrap="square" lIns="41148" tIns="22860" rIns="41148" bIns="22860" anchor="t">
            <a:spAutoFit/>
          </a:bodyPr>
          <a:lstStyle/>
          <a:p>
            <a:pPr algn="ctr"/>
            <a:r>
              <a:rPr sz="1300" b="1" i="0">
                <a:solidFill>
                  <a:srgbClr val="10395C"/>
                </a:solidFill>
                <a:latin typeface="Aptos"/>
              </a:rPr>
              <a:t>THE PROBLEM IN ONE CHAIN</a:t>
            </a:r>
          </a:p>
        </p:txBody>
      </p:sp>
      <p:sp>
        <p:nvSpPr>
          <p:cNvPr id="47" name="Rounded Rectangle 46"/>
          <p:cNvSpPr/>
          <p:nvPr/>
        </p:nvSpPr>
        <p:spPr>
          <a:xfrm>
            <a:off x="7315200" y="2267712"/>
            <a:ext cx="3063240" cy="411480"/>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7315200" y="2331720"/>
            <a:ext cx="3063240" cy="228600"/>
          </a:xfrm>
          <a:prstGeom prst="rect">
            <a:avLst/>
          </a:prstGeom>
          <a:noFill/>
        </p:spPr>
        <p:txBody>
          <a:bodyPr wrap="square" lIns="41148" tIns="22860" rIns="41148" bIns="22860" anchor="t">
            <a:spAutoFit/>
          </a:bodyPr>
          <a:lstStyle/>
          <a:p>
            <a:pPr algn="ctr"/>
            <a:r>
              <a:rPr sz="1000" b="1" i="0">
                <a:solidFill>
                  <a:srgbClr val="10395C"/>
                </a:solidFill>
                <a:latin typeface="Aptos"/>
              </a:rPr>
              <a:t>COURSE SEARCH</a:t>
            </a:r>
          </a:p>
        </p:txBody>
      </p:sp>
      <p:cxnSp>
        <p:nvCxnSpPr>
          <p:cNvPr id="49" name="Connector 48"/>
          <p:cNvCxnSpPr/>
          <p:nvPr/>
        </p:nvCxnSpPr>
        <p:spPr>
          <a:xfrm>
            <a:off x="8851392" y="2688336"/>
            <a:ext cx="0" cy="155448"/>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7315200" y="2889504"/>
            <a:ext cx="3063240" cy="411480"/>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7315200" y="2953512"/>
            <a:ext cx="3063240" cy="228600"/>
          </a:xfrm>
          <a:prstGeom prst="rect">
            <a:avLst/>
          </a:prstGeom>
          <a:noFill/>
        </p:spPr>
        <p:txBody>
          <a:bodyPr wrap="square" lIns="41148" tIns="22860" rIns="41148" bIns="22860" anchor="t">
            <a:spAutoFit/>
          </a:bodyPr>
          <a:lstStyle/>
          <a:p>
            <a:pPr algn="ctr"/>
            <a:r>
              <a:rPr sz="1000" b="1" i="0">
                <a:solidFill>
                  <a:srgbClr val="10395C"/>
                </a:solidFill>
                <a:latin typeface="Aptos"/>
              </a:rPr>
              <a:t>TIMING CHECK</a:t>
            </a:r>
          </a:p>
        </p:txBody>
      </p:sp>
      <p:cxnSp>
        <p:nvCxnSpPr>
          <p:cNvPr id="52" name="Connector 51"/>
          <p:cNvCxnSpPr/>
          <p:nvPr/>
        </p:nvCxnSpPr>
        <p:spPr>
          <a:xfrm>
            <a:off x="8851392" y="3310128"/>
            <a:ext cx="0" cy="155448"/>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53" name="Rounded Rectangle 52"/>
          <p:cNvSpPr/>
          <p:nvPr/>
        </p:nvSpPr>
        <p:spPr>
          <a:xfrm>
            <a:off x="7315200" y="3511296"/>
            <a:ext cx="3063240" cy="411480"/>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7315200" y="3575303"/>
            <a:ext cx="3063240" cy="228600"/>
          </a:xfrm>
          <a:prstGeom prst="rect">
            <a:avLst/>
          </a:prstGeom>
          <a:noFill/>
        </p:spPr>
        <p:txBody>
          <a:bodyPr wrap="square" lIns="41148" tIns="22860" rIns="41148" bIns="22860" anchor="t">
            <a:spAutoFit/>
          </a:bodyPr>
          <a:lstStyle/>
          <a:p>
            <a:pPr algn="ctr"/>
            <a:r>
              <a:rPr sz="1000" b="1" i="0">
                <a:solidFill>
                  <a:srgbClr val="10395C"/>
                </a:solidFill>
                <a:latin typeface="Aptos"/>
              </a:rPr>
              <a:t>CLASH CHECK</a:t>
            </a:r>
          </a:p>
        </p:txBody>
      </p:sp>
      <p:cxnSp>
        <p:nvCxnSpPr>
          <p:cNvPr id="55" name="Connector 54"/>
          <p:cNvCxnSpPr/>
          <p:nvPr/>
        </p:nvCxnSpPr>
        <p:spPr>
          <a:xfrm>
            <a:off x="8851392" y="3931920"/>
            <a:ext cx="0" cy="155448"/>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56" name="Rounded Rectangle 55"/>
          <p:cNvSpPr/>
          <p:nvPr/>
        </p:nvSpPr>
        <p:spPr>
          <a:xfrm>
            <a:off x="7315200" y="4133087"/>
            <a:ext cx="3063240" cy="411480"/>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7315200" y="4197096"/>
            <a:ext cx="3063240" cy="228600"/>
          </a:xfrm>
          <a:prstGeom prst="rect">
            <a:avLst/>
          </a:prstGeom>
          <a:noFill/>
        </p:spPr>
        <p:txBody>
          <a:bodyPr wrap="square" lIns="41148" tIns="22860" rIns="41148" bIns="22860" anchor="t">
            <a:spAutoFit/>
          </a:bodyPr>
          <a:lstStyle/>
          <a:p>
            <a:pPr algn="ctr"/>
            <a:r>
              <a:rPr sz="1000" b="1" i="0">
                <a:solidFill>
                  <a:srgbClr val="10395C"/>
                </a:solidFill>
                <a:latin typeface="Aptos"/>
              </a:rPr>
              <a:t>CREDIT CHECK</a:t>
            </a:r>
          </a:p>
        </p:txBody>
      </p:sp>
      <p:cxnSp>
        <p:nvCxnSpPr>
          <p:cNvPr id="58" name="Connector 57"/>
          <p:cNvCxnSpPr/>
          <p:nvPr/>
        </p:nvCxnSpPr>
        <p:spPr>
          <a:xfrm>
            <a:off x="8851392" y="4553712"/>
            <a:ext cx="0" cy="155447"/>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59" name="Rounded Rectangle 58"/>
          <p:cNvSpPr/>
          <p:nvPr/>
        </p:nvSpPr>
        <p:spPr>
          <a:xfrm>
            <a:off x="7315200" y="4754880"/>
            <a:ext cx="3063240" cy="411480"/>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7315200" y="4818888"/>
            <a:ext cx="3063240" cy="228600"/>
          </a:xfrm>
          <a:prstGeom prst="rect">
            <a:avLst/>
          </a:prstGeom>
          <a:noFill/>
        </p:spPr>
        <p:txBody>
          <a:bodyPr wrap="square" lIns="41148" tIns="22860" rIns="41148" bIns="22860" anchor="t">
            <a:spAutoFit/>
          </a:bodyPr>
          <a:lstStyle/>
          <a:p>
            <a:pPr algn="ctr"/>
            <a:r>
              <a:rPr sz="1000" b="1" i="0">
                <a:solidFill>
                  <a:srgbClr val="10395C"/>
                </a:solidFill>
                <a:latin typeface="Aptos"/>
              </a:rPr>
              <a:t>REGISTRATION</a:t>
            </a:r>
          </a:p>
        </p:txBody>
      </p:sp>
      <p:sp>
        <p:nvSpPr>
          <p:cNvPr id="61" name="Rounded Rectangle 60"/>
          <p:cNvSpPr/>
          <p:nvPr/>
        </p:nvSpPr>
        <p:spPr>
          <a:xfrm>
            <a:off x="4124621" y="6199971"/>
            <a:ext cx="4040293" cy="503090"/>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4288536" y="6214323"/>
            <a:ext cx="3575304" cy="538609"/>
          </a:xfrm>
          <a:prstGeom prst="rect">
            <a:avLst/>
          </a:prstGeom>
          <a:noFill/>
        </p:spPr>
        <p:txBody>
          <a:bodyPr wrap="square" lIns="41148" tIns="22860" rIns="41148" bIns="22860" anchor="ctr">
            <a:spAutoFit/>
          </a:bodyPr>
          <a:lstStyle/>
          <a:p>
            <a:pPr algn="ctr"/>
            <a:r>
              <a:rPr sz="1600" dirty="0"/>
              <a:t>The platform brings these checks into one guided decision before registration.</a:t>
            </a:r>
          </a:p>
        </p:txBody>
      </p:sp>
      <p:sp>
        <p:nvSpPr>
          <p:cNvPr id="63" name="TextBox 62"/>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64" name="TextBox 63"/>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03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4572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24688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00584"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55448"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210312"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6400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4</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Objectives</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What the system is expected to achieve</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353312"/>
            <a:ext cx="5166360" cy="832104"/>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758952" y="1527048"/>
            <a:ext cx="457200" cy="45720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58952" y="1527048"/>
            <a:ext cx="457200" cy="457200"/>
          </a:xfrm>
          <a:prstGeom prst="rect">
            <a:avLst/>
          </a:prstGeom>
          <a:noFill/>
        </p:spPr>
        <p:txBody>
          <a:bodyPr wrap="square" lIns="41148" tIns="22860" rIns="41148" bIns="22860" anchor="ctr">
            <a:spAutoFit/>
          </a:bodyPr>
          <a:lstStyle/>
          <a:p>
            <a:pPr algn="ctr"/>
            <a:r>
              <a:rPr sz="1000" b="1" i="0">
                <a:solidFill>
                  <a:srgbClr val="2A79A3"/>
                </a:solidFill>
                <a:latin typeface="Aptos"/>
              </a:rPr>
              <a:t>1</a:t>
            </a:r>
          </a:p>
        </p:txBody>
      </p:sp>
      <p:sp>
        <p:nvSpPr>
          <p:cNvPr id="19" name="TextBox 18"/>
          <p:cNvSpPr txBox="1"/>
          <p:nvPr/>
        </p:nvSpPr>
        <p:spPr>
          <a:xfrm>
            <a:off x="1371600" y="1472184"/>
            <a:ext cx="4069080" cy="548640"/>
          </a:xfrm>
          <a:prstGeom prst="rect">
            <a:avLst/>
          </a:prstGeom>
          <a:noFill/>
        </p:spPr>
        <p:txBody>
          <a:bodyPr wrap="square" lIns="41148" tIns="22860" rIns="41148" bIns="22860" anchor="t">
            <a:spAutoFit/>
          </a:bodyPr>
          <a:lstStyle/>
          <a:p>
            <a:pPr algn="l"/>
            <a:r>
              <a:rPr sz="1130" b="0" i="0">
                <a:solidFill>
                  <a:srgbClr val="273D4E"/>
                </a:solidFill>
                <a:latin typeface="Aptos"/>
              </a:rPr>
              <a:t>Provide secure student, faculty and administrator login.</a:t>
            </a:r>
          </a:p>
        </p:txBody>
      </p:sp>
      <p:sp>
        <p:nvSpPr>
          <p:cNvPr id="20" name="Rounded Rectangle 19"/>
          <p:cNvSpPr/>
          <p:nvPr/>
        </p:nvSpPr>
        <p:spPr>
          <a:xfrm>
            <a:off x="6263640" y="1353312"/>
            <a:ext cx="5166360" cy="832104"/>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Oval 20"/>
          <p:cNvSpPr/>
          <p:nvPr/>
        </p:nvSpPr>
        <p:spPr>
          <a:xfrm>
            <a:off x="6428232" y="1527048"/>
            <a:ext cx="457200" cy="45720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28232" y="1527048"/>
            <a:ext cx="457200" cy="457200"/>
          </a:xfrm>
          <a:prstGeom prst="rect">
            <a:avLst/>
          </a:prstGeom>
          <a:noFill/>
        </p:spPr>
        <p:txBody>
          <a:bodyPr wrap="square" lIns="41148" tIns="22860" rIns="41148" bIns="22860" anchor="ctr">
            <a:spAutoFit/>
          </a:bodyPr>
          <a:lstStyle/>
          <a:p>
            <a:pPr algn="ctr"/>
            <a:r>
              <a:rPr sz="1000" b="1" i="0">
                <a:solidFill>
                  <a:srgbClr val="499D7E"/>
                </a:solidFill>
                <a:latin typeface="Aptos"/>
              </a:rPr>
              <a:t>2</a:t>
            </a:r>
          </a:p>
        </p:txBody>
      </p:sp>
      <p:sp>
        <p:nvSpPr>
          <p:cNvPr id="23" name="TextBox 22"/>
          <p:cNvSpPr txBox="1"/>
          <p:nvPr/>
        </p:nvSpPr>
        <p:spPr>
          <a:xfrm>
            <a:off x="7040880" y="1472184"/>
            <a:ext cx="4069080" cy="548640"/>
          </a:xfrm>
          <a:prstGeom prst="rect">
            <a:avLst/>
          </a:prstGeom>
          <a:noFill/>
        </p:spPr>
        <p:txBody>
          <a:bodyPr wrap="square" lIns="41148" tIns="22860" rIns="41148" bIns="22860" anchor="t">
            <a:spAutoFit/>
          </a:bodyPr>
          <a:lstStyle/>
          <a:p>
            <a:pPr algn="l"/>
            <a:r>
              <a:rPr sz="1130" b="0" i="0">
                <a:solidFill>
                  <a:srgbClr val="273D4E"/>
                </a:solidFill>
                <a:latin typeface="Aptos"/>
              </a:rPr>
              <a:t>Create a searchable course catalog with complete details.</a:t>
            </a:r>
          </a:p>
        </p:txBody>
      </p:sp>
      <p:sp>
        <p:nvSpPr>
          <p:cNvPr id="24" name="Rounded Rectangle 23"/>
          <p:cNvSpPr/>
          <p:nvPr/>
        </p:nvSpPr>
        <p:spPr>
          <a:xfrm>
            <a:off x="594360" y="2423160"/>
            <a:ext cx="5166360" cy="832104"/>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Oval 24"/>
          <p:cNvSpPr/>
          <p:nvPr/>
        </p:nvSpPr>
        <p:spPr>
          <a:xfrm>
            <a:off x="758952" y="2596896"/>
            <a:ext cx="457200" cy="45720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58952" y="2596896"/>
            <a:ext cx="457200" cy="457200"/>
          </a:xfrm>
          <a:prstGeom prst="rect">
            <a:avLst/>
          </a:prstGeom>
          <a:noFill/>
        </p:spPr>
        <p:txBody>
          <a:bodyPr wrap="square" lIns="41148" tIns="22860" rIns="41148" bIns="22860" anchor="ctr">
            <a:spAutoFit/>
          </a:bodyPr>
          <a:lstStyle/>
          <a:p>
            <a:pPr algn="ctr"/>
            <a:r>
              <a:rPr sz="1000" b="1" i="0">
                <a:solidFill>
                  <a:srgbClr val="2A79A3"/>
                </a:solidFill>
                <a:latin typeface="Aptos"/>
              </a:rPr>
              <a:t>3</a:t>
            </a:r>
          </a:p>
        </p:txBody>
      </p:sp>
      <p:sp>
        <p:nvSpPr>
          <p:cNvPr id="27" name="TextBox 26"/>
          <p:cNvSpPr txBox="1"/>
          <p:nvPr/>
        </p:nvSpPr>
        <p:spPr>
          <a:xfrm>
            <a:off x="1371600" y="2542032"/>
            <a:ext cx="4069080" cy="548640"/>
          </a:xfrm>
          <a:prstGeom prst="rect">
            <a:avLst/>
          </a:prstGeom>
          <a:noFill/>
        </p:spPr>
        <p:txBody>
          <a:bodyPr wrap="square" lIns="41148" tIns="22860" rIns="41148" bIns="22860" anchor="t">
            <a:spAutoFit/>
          </a:bodyPr>
          <a:lstStyle/>
          <a:p>
            <a:pPr algn="l"/>
            <a:r>
              <a:rPr sz="1130" b="0" i="0">
                <a:solidFill>
                  <a:srgbClr val="273D4E"/>
                </a:solidFill>
                <a:latin typeface="Aptos"/>
              </a:rPr>
              <a:t>Allow students to select, remove, register and drop courses.</a:t>
            </a:r>
          </a:p>
        </p:txBody>
      </p:sp>
      <p:sp>
        <p:nvSpPr>
          <p:cNvPr id="28" name="Rounded Rectangle 27"/>
          <p:cNvSpPr/>
          <p:nvPr/>
        </p:nvSpPr>
        <p:spPr>
          <a:xfrm>
            <a:off x="6263640" y="2423160"/>
            <a:ext cx="5166360" cy="832104"/>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6428232" y="2596896"/>
            <a:ext cx="457200" cy="45720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428232" y="2596896"/>
            <a:ext cx="457200" cy="457200"/>
          </a:xfrm>
          <a:prstGeom prst="rect">
            <a:avLst/>
          </a:prstGeom>
          <a:noFill/>
        </p:spPr>
        <p:txBody>
          <a:bodyPr wrap="square" lIns="41148" tIns="22860" rIns="41148" bIns="22860" anchor="ctr">
            <a:spAutoFit/>
          </a:bodyPr>
          <a:lstStyle/>
          <a:p>
            <a:pPr algn="ctr"/>
            <a:r>
              <a:rPr sz="1000" b="1" i="0">
                <a:solidFill>
                  <a:srgbClr val="499D7E"/>
                </a:solidFill>
                <a:latin typeface="Aptos"/>
              </a:rPr>
              <a:t>4</a:t>
            </a:r>
          </a:p>
        </p:txBody>
      </p:sp>
      <p:sp>
        <p:nvSpPr>
          <p:cNvPr id="31" name="TextBox 30"/>
          <p:cNvSpPr txBox="1"/>
          <p:nvPr/>
        </p:nvSpPr>
        <p:spPr>
          <a:xfrm>
            <a:off x="7040880" y="2542032"/>
            <a:ext cx="4069080" cy="548640"/>
          </a:xfrm>
          <a:prstGeom prst="rect">
            <a:avLst/>
          </a:prstGeom>
          <a:noFill/>
        </p:spPr>
        <p:txBody>
          <a:bodyPr wrap="square" lIns="41148" tIns="22860" rIns="41148" bIns="22860" anchor="t">
            <a:spAutoFit/>
          </a:bodyPr>
          <a:lstStyle/>
          <a:p>
            <a:pPr algn="l"/>
            <a:r>
              <a:rPr sz="1130" b="0" i="0">
                <a:solidFill>
                  <a:srgbClr val="273D4E"/>
                </a:solidFill>
                <a:latin typeface="Aptos"/>
              </a:rPr>
              <a:t>Automatically calculate total registered credits.</a:t>
            </a:r>
          </a:p>
        </p:txBody>
      </p:sp>
      <p:sp>
        <p:nvSpPr>
          <p:cNvPr id="32" name="Rounded Rectangle 31"/>
          <p:cNvSpPr/>
          <p:nvPr/>
        </p:nvSpPr>
        <p:spPr>
          <a:xfrm>
            <a:off x="594360" y="3493008"/>
            <a:ext cx="5166360" cy="832104"/>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Oval 32"/>
          <p:cNvSpPr/>
          <p:nvPr/>
        </p:nvSpPr>
        <p:spPr>
          <a:xfrm>
            <a:off x="758952" y="3666744"/>
            <a:ext cx="457200" cy="45720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58952" y="3666744"/>
            <a:ext cx="457200" cy="457200"/>
          </a:xfrm>
          <a:prstGeom prst="rect">
            <a:avLst/>
          </a:prstGeom>
          <a:noFill/>
        </p:spPr>
        <p:txBody>
          <a:bodyPr wrap="square" lIns="41148" tIns="22860" rIns="41148" bIns="22860" anchor="ctr">
            <a:spAutoFit/>
          </a:bodyPr>
          <a:lstStyle/>
          <a:p>
            <a:pPr algn="ctr"/>
            <a:r>
              <a:rPr sz="1000" b="1" i="0">
                <a:solidFill>
                  <a:srgbClr val="2A79A3"/>
                </a:solidFill>
                <a:latin typeface="Aptos"/>
              </a:rPr>
              <a:t>5</a:t>
            </a:r>
          </a:p>
        </p:txBody>
      </p:sp>
      <p:sp>
        <p:nvSpPr>
          <p:cNvPr id="35" name="TextBox 34"/>
          <p:cNvSpPr txBox="1"/>
          <p:nvPr/>
        </p:nvSpPr>
        <p:spPr>
          <a:xfrm>
            <a:off x="1371600" y="3611879"/>
            <a:ext cx="4069080" cy="548640"/>
          </a:xfrm>
          <a:prstGeom prst="rect">
            <a:avLst/>
          </a:prstGeom>
          <a:noFill/>
        </p:spPr>
        <p:txBody>
          <a:bodyPr wrap="square" lIns="41148" tIns="22860" rIns="41148" bIns="22860" anchor="t">
            <a:spAutoFit/>
          </a:bodyPr>
          <a:lstStyle/>
          <a:p>
            <a:pPr algn="l"/>
            <a:r>
              <a:rPr sz="1130" b="0" i="0">
                <a:solidFill>
                  <a:srgbClr val="273D4E"/>
                </a:solidFill>
                <a:latin typeface="Aptos"/>
              </a:rPr>
              <a:t>Detect timetable conflicts before registration is finalized.</a:t>
            </a:r>
          </a:p>
        </p:txBody>
      </p:sp>
      <p:sp>
        <p:nvSpPr>
          <p:cNvPr id="36" name="Rounded Rectangle 35"/>
          <p:cNvSpPr/>
          <p:nvPr/>
        </p:nvSpPr>
        <p:spPr>
          <a:xfrm>
            <a:off x="6263640" y="3493008"/>
            <a:ext cx="5166360" cy="832104"/>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6428232" y="3666744"/>
            <a:ext cx="457200" cy="45720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428232" y="3666744"/>
            <a:ext cx="457200" cy="457200"/>
          </a:xfrm>
          <a:prstGeom prst="rect">
            <a:avLst/>
          </a:prstGeom>
          <a:noFill/>
        </p:spPr>
        <p:txBody>
          <a:bodyPr wrap="square" lIns="41148" tIns="22860" rIns="41148" bIns="22860" anchor="ctr">
            <a:spAutoFit/>
          </a:bodyPr>
          <a:lstStyle/>
          <a:p>
            <a:pPr algn="ctr"/>
            <a:r>
              <a:rPr sz="1000" b="1" i="0">
                <a:solidFill>
                  <a:srgbClr val="499D7E"/>
                </a:solidFill>
                <a:latin typeface="Aptos"/>
              </a:rPr>
              <a:t>6</a:t>
            </a:r>
          </a:p>
        </p:txBody>
      </p:sp>
      <p:sp>
        <p:nvSpPr>
          <p:cNvPr id="39" name="TextBox 38"/>
          <p:cNvSpPr txBox="1"/>
          <p:nvPr/>
        </p:nvSpPr>
        <p:spPr>
          <a:xfrm>
            <a:off x="7040880" y="3611879"/>
            <a:ext cx="4069080" cy="548640"/>
          </a:xfrm>
          <a:prstGeom prst="rect">
            <a:avLst/>
          </a:prstGeom>
          <a:noFill/>
        </p:spPr>
        <p:txBody>
          <a:bodyPr wrap="square" lIns="41148" tIns="22860" rIns="41148" bIns="22860" anchor="t">
            <a:spAutoFit/>
          </a:bodyPr>
          <a:lstStyle/>
          <a:p>
            <a:pPr algn="l"/>
            <a:r>
              <a:rPr sz="1130" b="0" i="0">
                <a:solidFill>
                  <a:srgbClr val="273D4E"/>
                </a:solidFill>
                <a:latin typeface="Aptos"/>
              </a:rPr>
              <a:t>Generate a clear weekly timetable from selected courses.</a:t>
            </a:r>
          </a:p>
        </p:txBody>
      </p:sp>
      <p:sp>
        <p:nvSpPr>
          <p:cNvPr id="40" name="Rounded Rectangle 39"/>
          <p:cNvSpPr/>
          <p:nvPr/>
        </p:nvSpPr>
        <p:spPr>
          <a:xfrm>
            <a:off x="594360" y="4562856"/>
            <a:ext cx="5166360" cy="832104"/>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Oval 40"/>
          <p:cNvSpPr/>
          <p:nvPr/>
        </p:nvSpPr>
        <p:spPr>
          <a:xfrm>
            <a:off x="758952" y="4736592"/>
            <a:ext cx="457200" cy="45720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58952" y="4736592"/>
            <a:ext cx="457200" cy="457200"/>
          </a:xfrm>
          <a:prstGeom prst="rect">
            <a:avLst/>
          </a:prstGeom>
          <a:noFill/>
        </p:spPr>
        <p:txBody>
          <a:bodyPr wrap="square" lIns="41148" tIns="22860" rIns="41148" bIns="22860" anchor="ctr">
            <a:spAutoFit/>
          </a:bodyPr>
          <a:lstStyle/>
          <a:p>
            <a:pPr algn="ctr"/>
            <a:r>
              <a:rPr sz="1000" b="1" i="0">
                <a:solidFill>
                  <a:srgbClr val="2A79A3"/>
                </a:solidFill>
                <a:latin typeface="Aptos"/>
              </a:rPr>
              <a:t>7</a:t>
            </a:r>
          </a:p>
        </p:txBody>
      </p:sp>
      <p:sp>
        <p:nvSpPr>
          <p:cNvPr id="43" name="TextBox 42"/>
          <p:cNvSpPr txBox="1"/>
          <p:nvPr/>
        </p:nvSpPr>
        <p:spPr>
          <a:xfrm>
            <a:off x="1371600" y="4681728"/>
            <a:ext cx="4069080" cy="548640"/>
          </a:xfrm>
          <a:prstGeom prst="rect">
            <a:avLst/>
          </a:prstGeom>
          <a:noFill/>
        </p:spPr>
        <p:txBody>
          <a:bodyPr wrap="square" lIns="41148" tIns="22860" rIns="41148" bIns="22860" anchor="t">
            <a:spAutoFit/>
          </a:bodyPr>
          <a:lstStyle/>
          <a:p>
            <a:pPr algn="l"/>
            <a:r>
              <a:rPr sz="1130" b="0" i="0">
                <a:solidFill>
                  <a:srgbClr val="273D4E"/>
                </a:solidFill>
                <a:latin typeface="Aptos"/>
              </a:rPr>
              <a:t>Allow administrators to manage students, faculty, rooms, courses and schedules.</a:t>
            </a:r>
          </a:p>
        </p:txBody>
      </p:sp>
      <p:sp>
        <p:nvSpPr>
          <p:cNvPr id="44" name="Rounded Rectangle 43"/>
          <p:cNvSpPr/>
          <p:nvPr/>
        </p:nvSpPr>
        <p:spPr>
          <a:xfrm>
            <a:off x="6263640" y="4562856"/>
            <a:ext cx="5166360" cy="832104"/>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Oval 44"/>
          <p:cNvSpPr/>
          <p:nvPr/>
        </p:nvSpPr>
        <p:spPr>
          <a:xfrm>
            <a:off x="6428232" y="4736592"/>
            <a:ext cx="457200" cy="45720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428232" y="4736592"/>
            <a:ext cx="457200" cy="457200"/>
          </a:xfrm>
          <a:prstGeom prst="rect">
            <a:avLst/>
          </a:prstGeom>
          <a:noFill/>
        </p:spPr>
        <p:txBody>
          <a:bodyPr wrap="square" lIns="41148" tIns="22860" rIns="41148" bIns="22860" anchor="ctr">
            <a:spAutoFit/>
          </a:bodyPr>
          <a:lstStyle/>
          <a:p>
            <a:pPr algn="ctr"/>
            <a:r>
              <a:rPr sz="1000" b="1" i="0">
                <a:solidFill>
                  <a:srgbClr val="499D7E"/>
                </a:solidFill>
                <a:latin typeface="Aptos"/>
              </a:rPr>
              <a:t>8</a:t>
            </a:r>
          </a:p>
        </p:txBody>
      </p:sp>
      <p:sp>
        <p:nvSpPr>
          <p:cNvPr id="47" name="TextBox 46"/>
          <p:cNvSpPr txBox="1"/>
          <p:nvPr/>
        </p:nvSpPr>
        <p:spPr>
          <a:xfrm>
            <a:off x="7040880" y="4681728"/>
            <a:ext cx="4069080" cy="548640"/>
          </a:xfrm>
          <a:prstGeom prst="rect">
            <a:avLst/>
          </a:prstGeom>
          <a:noFill/>
        </p:spPr>
        <p:txBody>
          <a:bodyPr wrap="square" lIns="41148" tIns="22860" rIns="41148" bIns="22860" anchor="t">
            <a:spAutoFit/>
          </a:bodyPr>
          <a:lstStyle/>
          <a:p>
            <a:pPr algn="l"/>
            <a:r>
              <a:rPr sz="1130" b="0" i="0">
                <a:solidFill>
                  <a:srgbClr val="273D4E"/>
                </a:solidFill>
                <a:latin typeface="Aptos"/>
              </a:rPr>
              <a:t>Maintain accurate registration data in a relational database.</a:t>
            </a:r>
          </a:p>
        </p:txBody>
      </p:sp>
      <p:sp>
        <p:nvSpPr>
          <p:cNvPr id="48" name="Rounded Rectangle 47"/>
          <p:cNvSpPr/>
          <p:nvPr/>
        </p:nvSpPr>
        <p:spPr>
          <a:xfrm>
            <a:off x="3886199" y="5916168"/>
            <a:ext cx="4817533" cy="667512"/>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4095833" y="5976427"/>
            <a:ext cx="4398264" cy="600164"/>
          </a:xfrm>
          <a:prstGeom prst="rect">
            <a:avLst/>
          </a:prstGeom>
          <a:noFill/>
        </p:spPr>
        <p:txBody>
          <a:bodyPr wrap="square" lIns="41148" tIns="22860" rIns="41148" bIns="22860" anchor="ctr">
            <a:spAutoFit/>
          </a:bodyPr>
          <a:lstStyle/>
          <a:p>
            <a:pPr algn="ctr"/>
            <a:r>
              <a:rPr dirty="0"/>
              <a:t>The objective is to validate the complete academic plan before it is saved.</a:t>
            </a:r>
          </a:p>
        </p:txBody>
      </p:sp>
      <p:sp>
        <p:nvSpPr>
          <p:cNvPr id="50" name="TextBox 49"/>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51" name="TextBox 50"/>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05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1129284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1149400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1146536"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1402567"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11036808"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1131112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7</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System Workflow</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From login to a completed registration</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02920" y="1847088"/>
            <a:ext cx="1581912" cy="1024128"/>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603504" y="1975104"/>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03504" y="1975104"/>
            <a:ext cx="365760" cy="365760"/>
          </a:xfrm>
          <a:prstGeom prst="rect">
            <a:avLst/>
          </a:prstGeom>
          <a:noFill/>
        </p:spPr>
        <p:txBody>
          <a:bodyPr wrap="square" lIns="41148" tIns="22860" rIns="41148" bIns="22860" anchor="ctr">
            <a:spAutoFit/>
          </a:bodyPr>
          <a:lstStyle/>
          <a:p>
            <a:pPr algn="ctr"/>
            <a:r>
              <a:rPr sz="900" b="1" i="0">
                <a:solidFill>
                  <a:srgbClr val="2A79A3"/>
                </a:solidFill>
                <a:latin typeface="Aptos"/>
              </a:rPr>
              <a:t>1</a:t>
            </a:r>
          </a:p>
        </p:txBody>
      </p:sp>
      <p:sp>
        <p:nvSpPr>
          <p:cNvPr id="19" name="TextBox 18"/>
          <p:cNvSpPr txBox="1"/>
          <p:nvPr/>
        </p:nvSpPr>
        <p:spPr>
          <a:xfrm>
            <a:off x="1033271" y="1993392"/>
            <a:ext cx="932688" cy="530352"/>
          </a:xfrm>
          <a:prstGeom prst="rect">
            <a:avLst/>
          </a:prstGeom>
          <a:noFill/>
        </p:spPr>
        <p:txBody>
          <a:bodyPr wrap="square" lIns="41148" tIns="22860" rIns="41148" bIns="22860" anchor="ctr">
            <a:spAutoFit/>
          </a:bodyPr>
          <a:lstStyle/>
          <a:p>
            <a:pPr algn="ctr"/>
            <a:r>
              <a:rPr sz="1030" b="1" i="0">
                <a:solidFill>
                  <a:srgbClr val="10395C"/>
                </a:solidFill>
                <a:latin typeface="Aptos"/>
              </a:rPr>
              <a:t>LOGIN</a:t>
            </a:r>
          </a:p>
        </p:txBody>
      </p:sp>
      <p:cxnSp>
        <p:nvCxnSpPr>
          <p:cNvPr id="20" name="Connector 19"/>
          <p:cNvCxnSpPr/>
          <p:nvPr/>
        </p:nvCxnSpPr>
        <p:spPr>
          <a:xfrm>
            <a:off x="2103120" y="2359152"/>
            <a:ext cx="283464"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2441448" y="1847088"/>
            <a:ext cx="1581912" cy="1024128"/>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2542032" y="1975104"/>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542032" y="1975104"/>
            <a:ext cx="365760" cy="365760"/>
          </a:xfrm>
          <a:prstGeom prst="rect">
            <a:avLst/>
          </a:prstGeom>
          <a:noFill/>
        </p:spPr>
        <p:txBody>
          <a:bodyPr wrap="square" lIns="41148" tIns="22860" rIns="41148" bIns="22860" anchor="ctr">
            <a:spAutoFit/>
          </a:bodyPr>
          <a:lstStyle/>
          <a:p>
            <a:pPr algn="ctr"/>
            <a:r>
              <a:rPr sz="900" b="1" i="0">
                <a:solidFill>
                  <a:srgbClr val="2A79A3"/>
                </a:solidFill>
                <a:latin typeface="Aptos"/>
              </a:rPr>
              <a:t>2</a:t>
            </a:r>
          </a:p>
        </p:txBody>
      </p:sp>
      <p:sp>
        <p:nvSpPr>
          <p:cNvPr id="24" name="TextBox 23"/>
          <p:cNvSpPr txBox="1"/>
          <p:nvPr/>
        </p:nvSpPr>
        <p:spPr>
          <a:xfrm>
            <a:off x="2971800" y="1993392"/>
            <a:ext cx="932688" cy="530352"/>
          </a:xfrm>
          <a:prstGeom prst="rect">
            <a:avLst/>
          </a:prstGeom>
          <a:noFill/>
        </p:spPr>
        <p:txBody>
          <a:bodyPr wrap="square" lIns="41148" tIns="22860" rIns="41148" bIns="22860" anchor="ctr">
            <a:spAutoFit/>
          </a:bodyPr>
          <a:lstStyle/>
          <a:p>
            <a:pPr algn="ctr"/>
            <a:r>
              <a:rPr sz="1030" b="1" i="0">
                <a:solidFill>
                  <a:srgbClr val="10395C"/>
                </a:solidFill>
                <a:latin typeface="Aptos"/>
              </a:rPr>
              <a:t>BROWSE
COURSES</a:t>
            </a:r>
          </a:p>
        </p:txBody>
      </p:sp>
      <p:cxnSp>
        <p:nvCxnSpPr>
          <p:cNvPr id="25" name="Connector 24"/>
          <p:cNvCxnSpPr/>
          <p:nvPr/>
        </p:nvCxnSpPr>
        <p:spPr>
          <a:xfrm>
            <a:off x="4041648" y="2359152"/>
            <a:ext cx="283464"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379976" y="1847088"/>
            <a:ext cx="1581912" cy="1024128"/>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Oval 26"/>
          <p:cNvSpPr/>
          <p:nvPr/>
        </p:nvSpPr>
        <p:spPr>
          <a:xfrm>
            <a:off x="4480560" y="1975104"/>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480560" y="1975104"/>
            <a:ext cx="365760" cy="365760"/>
          </a:xfrm>
          <a:prstGeom prst="rect">
            <a:avLst/>
          </a:prstGeom>
          <a:noFill/>
        </p:spPr>
        <p:txBody>
          <a:bodyPr wrap="square" lIns="41148" tIns="22860" rIns="41148" bIns="22860" anchor="ctr">
            <a:spAutoFit/>
          </a:bodyPr>
          <a:lstStyle/>
          <a:p>
            <a:pPr algn="ctr"/>
            <a:r>
              <a:rPr sz="900" b="1" i="0">
                <a:solidFill>
                  <a:srgbClr val="2A79A3"/>
                </a:solidFill>
                <a:latin typeface="Aptos"/>
              </a:rPr>
              <a:t>3</a:t>
            </a:r>
          </a:p>
        </p:txBody>
      </p:sp>
      <p:sp>
        <p:nvSpPr>
          <p:cNvPr id="29" name="TextBox 28"/>
          <p:cNvSpPr txBox="1"/>
          <p:nvPr/>
        </p:nvSpPr>
        <p:spPr>
          <a:xfrm>
            <a:off x="4910328" y="1993392"/>
            <a:ext cx="932688" cy="530352"/>
          </a:xfrm>
          <a:prstGeom prst="rect">
            <a:avLst/>
          </a:prstGeom>
          <a:noFill/>
        </p:spPr>
        <p:txBody>
          <a:bodyPr wrap="square" lIns="41148" tIns="22860" rIns="41148" bIns="22860" anchor="ctr">
            <a:spAutoFit/>
          </a:bodyPr>
          <a:lstStyle/>
          <a:p>
            <a:pPr algn="ctr"/>
            <a:r>
              <a:rPr sz="1030" b="1" i="0">
                <a:solidFill>
                  <a:srgbClr val="10395C"/>
                </a:solidFill>
                <a:latin typeface="Aptos"/>
              </a:rPr>
              <a:t>SELECT
COURSES</a:t>
            </a:r>
          </a:p>
        </p:txBody>
      </p:sp>
      <p:cxnSp>
        <p:nvCxnSpPr>
          <p:cNvPr id="30" name="Connector 29"/>
          <p:cNvCxnSpPr/>
          <p:nvPr/>
        </p:nvCxnSpPr>
        <p:spPr>
          <a:xfrm>
            <a:off x="5980176" y="2359152"/>
            <a:ext cx="283464"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6318504" y="1847088"/>
            <a:ext cx="1581912" cy="1024128"/>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6419088" y="1975104"/>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419088" y="1975104"/>
            <a:ext cx="365760" cy="365760"/>
          </a:xfrm>
          <a:prstGeom prst="rect">
            <a:avLst/>
          </a:prstGeom>
          <a:noFill/>
        </p:spPr>
        <p:txBody>
          <a:bodyPr wrap="square" lIns="41148" tIns="22860" rIns="41148" bIns="22860" anchor="ctr">
            <a:spAutoFit/>
          </a:bodyPr>
          <a:lstStyle/>
          <a:p>
            <a:pPr algn="ctr"/>
            <a:r>
              <a:rPr sz="900" b="1" i="0">
                <a:solidFill>
                  <a:srgbClr val="2A79A3"/>
                </a:solidFill>
                <a:latin typeface="Aptos"/>
              </a:rPr>
              <a:t>4</a:t>
            </a:r>
          </a:p>
        </p:txBody>
      </p:sp>
      <p:sp>
        <p:nvSpPr>
          <p:cNvPr id="34" name="TextBox 33"/>
          <p:cNvSpPr txBox="1"/>
          <p:nvPr/>
        </p:nvSpPr>
        <p:spPr>
          <a:xfrm>
            <a:off x="6848856" y="1993392"/>
            <a:ext cx="932688" cy="530352"/>
          </a:xfrm>
          <a:prstGeom prst="rect">
            <a:avLst/>
          </a:prstGeom>
          <a:noFill/>
        </p:spPr>
        <p:txBody>
          <a:bodyPr wrap="square" lIns="41148" tIns="22860" rIns="41148" bIns="22860" anchor="ctr">
            <a:spAutoFit/>
          </a:bodyPr>
          <a:lstStyle/>
          <a:p>
            <a:pPr algn="ctr"/>
            <a:r>
              <a:rPr sz="1030" b="1" i="0">
                <a:solidFill>
                  <a:srgbClr val="10395C"/>
                </a:solidFill>
                <a:latin typeface="Aptos"/>
              </a:rPr>
              <a:t>CHECK
RULES</a:t>
            </a:r>
          </a:p>
        </p:txBody>
      </p:sp>
      <p:cxnSp>
        <p:nvCxnSpPr>
          <p:cNvPr id="35" name="Connector 34"/>
          <p:cNvCxnSpPr/>
          <p:nvPr/>
        </p:nvCxnSpPr>
        <p:spPr>
          <a:xfrm>
            <a:off x="7918704" y="2359152"/>
            <a:ext cx="283464"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36" name="Rounded Rectangle 35"/>
          <p:cNvSpPr/>
          <p:nvPr/>
        </p:nvSpPr>
        <p:spPr>
          <a:xfrm>
            <a:off x="8257032" y="1847088"/>
            <a:ext cx="1581912" cy="1024128"/>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Oval 36"/>
          <p:cNvSpPr/>
          <p:nvPr/>
        </p:nvSpPr>
        <p:spPr>
          <a:xfrm>
            <a:off x="8357616" y="1975104"/>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8357616" y="1975104"/>
            <a:ext cx="365760" cy="365760"/>
          </a:xfrm>
          <a:prstGeom prst="rect">
            <a:avLst/>
          </a:prstGeom>
          <a:noFill/>
        </p:spPr>
        <p:txBody>
          <a:bodyPr wrap="square" lIns="41148" tIns="22860" rIns="41148" bIns="22860" anchor="ctr">
            <a:spAutoFit/>
          </a:bodyPr>
          <a:lstStyle/>
          <a:p>
            <a:pPr algn="ctr"/>
            <a:r>
              <a:rPr sz="900" b="1" i="0">
                <a:solidFill>
                  <a:srgbClr val="2A79A3"/>
                </a:solidFill>
                <a:latin typeface="Aptos"/>
              </a:rPr>
              <a:t>5</a:t>
            </a:r>
          </a:p>
        </p:txBody>
      </p:sp>
      <p:sp>
        <p:nvSpPr>
          <p:cNvPr id="39" name="TextBox 38"/>
          <p:cNvSpPr txBox="1"/>
          <p:nvPr/>
        </p:nvSpPr>
        <p:spPr>
          <a:xfrm>
            <a:off x="8787384" y="1993392"/>
            <a:ext cx="932688" cy="530352"/>
          </a:xfrm>
          <a:prstGeom prst="rect">
            <a:avLst/>
          </a:prstGeom>
          <a:noFill/>
        </p:spPr>
        <p:txBody>
          <a:bodyPr wrap="square" lIns="41148" tIns="22860" rIns="41148" bIns="22860" anchor="ctr">
            <a:spAutoFit/>
          </a:bodyPr>
          <a:lstStyle/>
          <a:p>
            <a:pPr algn="ctr"/>
            <a:r>
              <a:rPr sz="1030" b="1" i="0">
                <a:solidFill>
                  <a:srgbClr val="10395C"/>
                </a:solidFill>
                <a:latin typeface="Aptos"/>
              </a:rPr>
              <a:t>BUILD
TIMETABLE</a:t>
            </a:r>
          </a:p>
        </p:txBody>
      </p:sp>
      <p:cxnSp>
        <p:nvCxnSpPr>
          <p:cNvPr id="40" name="Connector 39"/>
          <p:cNvCxnSpPr/>
          <p:nvPr/>
        </p:nvCxnSpPr>
        <p:spPr>
          <a:xfrm>
            <a:off x="9857232" y="2359152"/>
            <a:ext cx="283464"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10195560" y="1847088"/>
            <a:ext cx="1581912" cy="1024128"/>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Oval 41"/>
          <p:cNvSpPr/>
          <p:nvPr/>
        </p:nvSpPr>
        <p:spPr>
          <a:xfrm>
            <a:off x="10296144" y="1975104"/>
            <a:ext cx="365760" cy="36576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10296144" y="1975104"/>
            <a:ext cx="365760" cy="365760"/>
          </a:xfrm>
          <a:prstGeom prst="rect">
            <a:avLst/>
          </a:prstGeom>
          <a:noFill/>
        </p:spPr>
        <p:txBody>
          <a:bodyPr wrap="square" lIns="41148" tIns="22860" rIns="41148" bIns="22860" anchor="ctr">
            <a:spAutoFit/>
          </a:bodyPr>
          <a:lstStyle/>
          <a:p>
            <a:pPr algn="ctr"/>
            <a:r>
              <a:rPr sz="900" b="1" i="0">
                <a:solidFill>
                  <a:srgbClr val="2A79A3"/>
                </a:solidFill>
                <a:latin typeface="Aptos"/>
              </a:rPr>
              <a:t>6</a:t>
            </a:r>
          </a:p>
        </p:txBody>
      </p:sp>
      <p:sp>
        <p:nvSpPr>
          <p:cNvPr id="44" name="TextBox 43"/>
          <p:cNvSpPr txBox="1"/>
          <p:nvPr/>
        </p:nvSpPr>
        <p:spPr>
          <a:xfrm>
            <a:off x="10725912" y="1993392"/>
            <a:ext cx="932688" cy="530352"/>
          </a:xfrm>
          <a:prstGeom prst="rect">
            <a:avLst/>
          </a:prstGeom>
          <a:noFill/>
        </p:spPr>
        <p:txBody>
          <a:bodyPr wrap="square" lIns="41148" tIns="22860" rIns="41148" bIns="22860" anchor="ctr">
            <a:spAutoFit/>
          </a:bodyPr>
          <a:lstStyle/>
          <a:p>
            <a:pPr algn="ctr"/>
            <a:r>
              <a:rPr sz="1030" b="1" i="0">
                <a:solidFill>
                  <a:srgbClr val="10395C"/>
                </a:solidFill>
                <a:latin typeface="Aptos"/>
              </a:rPr>
              <a:t>REGISTER</a:t>
            </a:r>
          </a:p>
        </p:txBody>
      </p:sp>
      <p:sp>
        <p:nvSpPr>
          <p:cNvPr id="45" name="Rounded Rectangle 44"/>
          <p:cNvSpPr/>
          <p:nvPr/>
        </p:nvSpPr>
        <p:spPr>
          <a:xfrm>
            <a:off x="960120" y="3822191"/>
            <a:ext cx="10195560" cy="1115568"/>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234440" y="4069080"/>
            <a:ext cx="1508760" cy="274320"/>
          </a:xfrm>
          <a:prstGeom prst="rect">
            <a:avLst/>
          </a:prstGeom>
          <a:noFill/>
        </p:spPr>
        <p:txBody>
          <a:bodyPr wrap="square" lIns="41148" tIns="22860" rIns="41148" bIns="22860" anchor="t">
            <a:spAutoFit/>
          </a:bodyPr>
          <a:lstStyle/>
          <a:p>
            <a:pPr algn="l"/>
            <a:r>
              <a:rPr sz="1150" b="1" i="0">
                <a:solidFill>
                  <a:srgbClr val="10395C"/>
                </a:solidFill>
                <a:latin typeface="Aptos"/>
              </a:rPr>
              <a:t>VALIDATION GATE</a:t>
            </a:r>
          </a:p>
        </p:txBody>
      </p:sp>
      <p:sp>
        <p:nvSpPr>
          <p:cNvPr id="47" name="Rounded Rectangle 46"/>
          <p:cNvSpPr/>
          <p:nvPr/>
        </p:nvSpPr>
        <p:spPr>
          <a:xfrm>
            <a:off x="2880360" y="4023360"/>
            <a:ext cx="1700784"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2898648" y="4041648"/>
            <a:ext cx="1664208" cy="274320"/>
          </a:xfrm>
          <a:prstGeom prst="rect">
            <a:avLst/>
          </a:prstGeom>
          <a:noFill/>
        </p:spPr>
        <p:txBody>
          <a:bodyPr wrap="square" lIns="41148" tIns="22860" rIns="41148" bIns="22860" anchor="ctr">
            <a:spAutoFit/>
          </a:bodyPr>
          <a:lstStyle/>
          <a:p>
            <a:pPr algn="ctr"/>
            <a:r>
              <a:rPr sz="880" b="1" i="0">
                <a:solidFill>
                  <a:srgbClr val="10395C"/>
                </a:solidFill>
                <a:latin typeface="Aptos"/>
              </a:rPr>
              <a:t>✓ SEATS</a:t>
            </a:r>
          </a:p>
        </p:txBody>
      </p:sp>
      <p:sp>
        <p:nvSpPr>
          <p:cNvPr id="49" name="Rounded Rectangle 48"/>
          <p:cNvSpPr/>
          <p:nvPr/>
        </p:nvSpPr>
        <p:spPr>
          <a:xfrm>
            <a:off x="4873752" y="4023360"/>
            <a:ext cx="1700784"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892040" y="4041648"/>
            <a:ext cx="1664208" cy="274320"/>
          </a:xfrm>
          <a:prstGeom prst="rect">
            <a:avLst/>
          </a:prstGeom>
          <a:noFill/>
        </p:spPr>
        <p:txBody>
          <a:bodyPr wrap="square" lIns="41148" tIns="22860" rIns="41148" bIns="22860" anchor="ctr">
            <a:spAutoFit/>
          </a:bodyPr>
          <a:lstStyle/>
          <a:p>
            <a:pPr algn="ctr"/>
            <a:r>
              <a:rPr sz="880" b="1" i="0">
                <a:solidFill>
                  <a:srgbClr val="10395C"/>
                </a:solidFill>
                <a:latin typeface="Aptos"/>
              </a:rPr>
              <a:t>✓ CREDITS</a:t>
            </a:r>
          </a:p>
        </p:txBody>
      </p:sp>
      <p:sp>
        <p:nvSpPr>
          <p:cNvPr id="51" name="Rounded Rectangle 50"/>
          <p:cNvSpPr/>
          <p:nvPr/>
        </p:nvSpPr>
        <p:spPr>
          <a:xfrm>
            <a:off x="6867144" y="4023360"/>
            <a:ext cx="1700784"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885431" y="4041648"/>
            <a:ext cx="1664208" cy="274320"/>
          </a:xfrm>
          <a:prstGeom prst="rect">
            <a:avLst/>
          </a:prstGeom>
          <a:noFill/>
        </p:spPr>
        <p:txBody>
          <a:bodyPr wrap="square" lIns="41148" tIns="22860" rIns="41148" bIns="22860" anchor="ctr">
            <a:spAutoFit/>
          </a:bodyPr>
          <a:lstStyle/>
          <a:p>
            <a:pPr algn="ctr"/>
            <a:r>
              <a:rPr sz="880" b="1" i="0">
                <a:solidFill>
                  <a:srgbClr val="10395C"/>
                </a:solidFill>
                <a:latin typeface="Aptos"/>
              </a:rPr>
              <a:t>✓ PREREQUISITES</a:t>
            </a:r>
          </a:p>
        </p:txBody>
      </p:sp>
      <p:sp>
        <p:nvSpPr>
          <p:cNvPr id="53" name="Rounded Rectangle 52"/>
          <p:cNvSpPr/>
          <p:nvPr/>
        </p:nvSpPr>
        <p:spPr>
          <a:xfrm>
            <a:off x="8860536" y="4023360"/>
            <a:ext cx="1700784" cy="329184"/>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878824" y="4041648"/>
            <a:ext cx="1664208" cy="274320"/>
          </a:xfrm>
          <a:prstGeom prst="rect">
            <a:avLst/>
          </a:prstGeom>
          <a:noFill/>
        </p:spPr>
        <p:txBody>
          <a:bodyPr wrap="square" lIns="41148" tIns="22860" rIns="41148" bIns="22860" anchor="ctr">
            <a:spAutoFit/>
          </a:bodyPr>
          <a:lstStyle/>
          <a:p>
            <a:pPr algn="ctr"/>
            <a:r>
              <a:rPr sz="880" b="1" i="0">
                <a:solidFill>
                  <a:srgbClr val="10395C"/>
                </a:solidFill>
                <a:latin typeface="Aptos"/>
              </a:rPr>
              <a:t>✓ DAY / TIME</a:t>
            </a:r>
          </a:p>
        </p:txBody>
      </p:sp>
      <p:sp>
        <p:nvSpPr>
          <p:cNvPr id="55" name="TextBox 54"/>
          <p:cNvSpPr txBox="1"/>
          <p:nvPr/>
        </p:nvSpPr>
        <p:spPr>
          <a:xfrm>
            <a:off x="1600200" y="5376672"/>
            <a:ext cx="9052560" cy="274320"/>
          </a:xfrm>
          <a:prstGeom prst="rect">
            <a:avLst/>
          </a:prstGeom>
          <a:noFill/>
        </p:spPr>
        <p:txBody>
          <a:bodyPr wrap="square" lIns="41148" tIns="22860" rIns="41148" bIns="22860" anchor="t">
            <a:spAutoFit/>
          </a:bodyPr>
          <a:lstStyle/>
          <a:p>
            <a:pPr algn="ctr"/>
            <a:r>
              <a:rPr sz="1019"/>
              <a:t>This sequence prevents a student from reaching final registration with a plan that violates seats, credits, prerequisites, or timetable rules.</a:t>
            </a:r>
          </a:p>
        </p:txBody>
      </p:sp>
      <p:sp>
        <p:nvSpPr>
          <p:cNvPr id="56" name="TextBox 55"/>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57" name="TextBox 56"/>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08</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4572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24688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00584"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55448"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210312"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6400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10</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Course Catalog &amp; Course Details</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t>The course view gives the student enough information to decide before adding it.</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16" name="Table 15"/>
          <p:cNvGraphicFramePr>
            <a:graphicFrameLocks noGrp="1"/>
          </p:cNvGraphicFramePr>
          <p:nvPr/>
        </p:nvGraphicFramePr>
        <p:xfrm>
          <a:off x="594360" y="1417320"/>
          <a:ext cx="6537960" cy="2606040"/>
        </p:xfrm>
        <a:graphic>
          <a:graphicData uri="http://schemas.openxmlformats.org/drawingml/2006/table">
            <a:tbl>
              <a:tblPr firstRow="1" bandRow="1">
                <a:tableStyleId>{5C22544A-7EE6-4342-B048-85BDC9FD1C3A}</a:tableStyleId>
              </a:tblPr>
              <a:tblGrid>
                <a:gridCol w="96012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914400">
                  <a:extLst>
                    <a:ext uri="{9D8B030D-6E8A-4147-A177-3AD203B41FA5}">
                      <a16:colId xmlns:a16="http://schemas.microsoft.com/office/drawing/2014/main" val="20005"/>
                    </a:ext>
                  </a:extLst>
                </a:gridCol>
              </a:tblGrid>
              <a:tr h="521208">
                <a:tc>
                  <a:txBody>
                    <a:bodyPr/>
                    <a:lstStyle/>
                    <a:p>
                      <a:pPr algn="ctr">
                        <a:defRPr sz="910" b="1">
                          <a:solidFill>
                            <a:srgbClr val="FFFFFF"/>
                          </a:solidFill>
                          <a:latin typeface="Aptos"/>
                        </a:defRPr>
                      </a:pPr>
                      <a:r>
                        <a:t>CODE</a:t>
                      </a:r>
                    </a:p>
                  </a:txBody>
                  <a:tcPr marL="36576" marR="36576">
                    <a:solidFill>
                      <a:srgbClr val="10395C"/>
                    </a:solidFill>
                  </a:tcPr>
                </a:tc>
                <a:tc>
                  <a:txBody>
                    <a:bodyPr/>
                    <a:lstStyle/>
                    <a:p>
                      <a:pPr algn="ctr">
                        <a:defRPr sz="910" b="1">
                          <a:solidFill>
                            <a:srgbClr val="FFFFFF"/>
                          </a:solidFill>
                          <a:latin typeface="Aptos"/>
                        </a:defRPr>
                      </a:pPr>
                      <a:r>
                        <a:t>COURSE</a:t>
                      </a:r>
                    </a:p>
                  </a:txBody>
                  <a:tcPr marL="36576" marR="36576">
                    <a:solidFill>
                      <a:srgbClr val="10395C"/>
                    </a:solidFill>
                  </a:tcPr>
                </a:tc>
                <a:tc>
                  <a:txBody>
                    <a:bodyPr/>
                    <a:lstStyle/>
                    <a:p>
                      <a:pPr algn="ctr">
                        <a:defRPr sz="910" b="1">
                          <a:solidFill>
                            <a:srgbClr val="FFFFFF"/>
                          </a:solidFill>
                          <a:latin typeface="Aptos"/>
                        </a:defRPr>
                      </a:pPr>
                      <a:r>
                        <a:t>CREDITS</a:t>
                      </a:r>
                    </a:p>
                  </a:txBody>
                  <a:tcPr marL="36576" marR="36576">
                    <a:solidFill>
                      <a:srgbClr val="10395C"/>
                    </a:solidFill>
                  </a:tcPr>
                </a:tc>
                <a:tc>
                  <a:txBody>
                    <a:bodyPr/>
                    <a:lstStyle/>
                    <a:p>
                      <a:pPr algn="ctr">
                        <a:defRPr sz="910" b="1">
                          <a:solidFill>
                            <a:srgbClr val="FFFFFF"/>
                          </a:solidFill>
                          <a:latin typeface="Aptos"/>
                        </a:defRPr>
                      </a:pPr>
                      <a:r>
                        <a:t>FACULTY</a:t>
                      </a:r>
                    </a:p>
                  </a:txBody>
                  <a:tcPr marL="36576" marR="36576">
                    <a:solidFill>
                      <a:srgbClr val="10395C"/>
                    </a:solidFill>
                  </a:tcPr>
                </a:tc>
                <a:tc>
                  <a:txBody>
                    <a:bodyPr/>
                    <a:lstStyle/>
                    <a:p>
                      <a:pPr algn="ctr">
                        <a:defRPr sz="910" b="1">
                          <a:solidFill>
                            <a:srgbClr val="FFFFFF"/>
                          </a:solidFill>
                          <a:latin typeface="Aptos"/>
                        </a:defRPr>
                      </a:pPr>
                      <a:r>
                        <a:t>TIMING</a:t>
                      </a:r>
                    </a:p>
                  </a:txBody>
                  <a:tcPr marL="36576" marR="36576">
                    <a:solidFill>
                      <a:srgbClr val="10395C"/>
                    </a:solidFill>
                  </a:tcPr>
                </a:tc>
                <a:tc>
                  <a:txBody>
                    <a:bodyPr/>
                    <a:lstStyle/>
                    <a:p>
                      <a:pPr algn="ctr">
                        <a:defRPr sz="910" b="1">
                          <a:solidFill>
                            <a:srgbClr val="FFFFFF"/>
                          </a:solidFill>
                          <a:latin typeface="Aptos"/>
                        </a:defRPr>
                      </a:pPr>
                      <a:r>
                        <a:t>SEATS</a:t>
                      </a:r>
                    </a:p>
                  </a:txBody>
                  <a:tcPr marL="36576" marR="36576">
                    <a:solidFill>
                      <a:srgbClr val="10395C"/>
                    </a:solidFill>
                  </a:tcPr>
                </a:tc>
                <a:extLst>
                  <a:ext uri="{0D108BD9-81ED-4DB2-BD59-A6C34878D82A}">
                    <a16:rowId xmlns:a16="http://schemas.microsoft.com/office/drawing/2014/main" val="10000"/>
                  </a:ext>
                </a:extLst>
              </a:tr>
              <a:tr h="521208">
                <a:tc>
                  <a:txBody>
                    <a:bodyPr/>
                    <a:lstStyle/>
                    <a:p>
                      <a:pPr algn="ctr">
                        <a:defRPr sz="910" b="0">
                          <a:solidFill>
                            <a:srgbClr val="273D4E"/>
                          </a:solidFill>
                          <a:latin typeface="Aptos"/>
                        </a:defRPr>
                      </a:pPr>
                      <a:r>
                        <a:t>CSE101</a:t>
                      </a:r>
                    </a:p>
                  </a:txBody>
                  <a:tcPr marL="36576" marR="36576">
                    <a:solidFill>
                      <a:srgbClr val="FFFFFF"/>
                    </a:solidFill>
                  </a:tcPr>
                </a:tc>
                <a:tc>
                  <a:txBody>
                    <a:bodyPr/>
                    <a:lstStyle/>
                    <a:p>
                      <a:pPr algn="ctr">
                        <a:defRPr sz="910" b="0">
                          <a:solidFill>
                            <a:srgbClr val="273D4E"/>
                          </a:solidFill>
                          <a:latin typeface="Aptos"/>
                        </a:defRPr>
                      </a:pPr>
                      <a:r>
                        <a:t>Programming</a:t>
                      </a:r>
                    </a:p>
                  </a:txBody>
                  <a:tcPr marL="36576" marR="36576">
                    <a:solidFill>
                      <a:srgbClr val="FFFFFF"/>
                    </a:solidFill>
                  </a:tcPr>
                </a:tc>
                <a:tc>
                  <a:txBody>
                    <a:bodyPr/>
                    <a:lstStyle/>
                    <a:p>
                      <a:pPr algn="ctr">
                        <a:defRPr sz="910" b="0">
                          <a:solidFill>
                            <a:srgbClr val="273D4E"/>
                          </a:solidFill>
                          <a:latin typeface="Aptos"/>
                        </a:defRPr>
                      </a:pPr>
                      <a:r>
                        <a:t>4</a:t>
                      </a:r>
                    </a:p>
                  </a:txBody>
                  <a:tcPr marL="36576" marR="36576">
                    <a:solidFill>
                      <a:srgbClr val="FFFFFF"/>
                    </a:solidFill>
                  </a:tcPr>
                </a:tc>
                <a:tc>
                  <a:txBody>
                    <a:bodyPr/>
                    <a:lstStyle/>
                    <a:p>
                      <a:pPr algn="ctr">
                        <a:defRPr sz="910" b="0">
                          <a:solidFill>
                            <a:srgbClr val="273D4E"/>
                          </a:solidFill>
                          <a:latin typeface="Aptos"/>
                        </a:defRPr>
                      </a:pPr>
                      <a:r>
                        <a:t>Dr. Rao</a:t>
                      </a:r>
                    </a:p>
                  </a:txBody>
                  <a:tcPr marL="36576" marR="36576">
                    <a:solidFill>
                      <a:srgbClr val="FFFFFF"/>
                    </a:solidFill>
                  </a:tcPr>
                </a:tc>
                <a:tc>
                  <a:txBody>
                    <a:bodyPr/>
                    <a:lstStyle/>
                    <a:p>
                      <a:pPr algn="ctr">
                        <a:defRPr sz="910" b="0">
                          <a:solidFill>
                            <a:srgbClr val="273D4E"/>
                          </a:solidFill>
                          <a:latin typeface="Aptos"/>
                        </a:defRPr>
                      </a:pPr>
                      <a:r>
                        <a:t>Mon 9–10</a:t>
                      </a:r>
                    </a:p>
                  </a:txBody>
                  <a:tcPr marL="36576" marR="36576">
                    <a:solidFill>
                      <a:srgbClr val="FFFFFF"/>
                    </a:solidFill>
                  </a:tcPr>
                </a:tc>
                <a:tc>
                  <a:txBody>
                    <a:bodyPr/>
                    <a:lstStyle/>
                    <a:p>
                      <a:pPr algn="ctr">
                        <a:defRPr sz="910" b="0">
                          <a:solidFill>
                            <a:srgbClr val="273D4E"/>
                          </a:solidFill>
                          <a:latin typeface="Aptos"/>
                        </a:defRPr>
                      </a:pPr>
                      <a:r>
                        <a:t>12 / 40</a:t>
                      </a:r>
                    </a:p>
                  </a:txBody>
                  <a:tcPr marL="36576" marR="36576">
                    <a:solidFill>
                      <a:srgbClr val="FFFFFF"/>
                    </a:solidFill>
                  </a:tcPr>
                </a:tc>
                <a:extLst>
                  <a:ext uri="{0D108BD9-81ED-4DB2-BD59-A6C34878D82A}">
                    <a16:rowId xmlns:a16="http://schemas.microsoft.com/office/drawing/2014/main" val="10001"/>
                  </a:ext>
                </a:extLst>
              </a:tr>
              <a:tr h="521208">
                <a:tc>
                  <a:txBody>
                    <a:bodyPr/>
                    <a:lstStyle/>
                    <a:p>
                      <a:pPr algn="ctr">
                        <a:defRPr sz="910" b="0">
                          <a:solidFill>
                            <a:srgbClr val="273D4E"/>
                          </a:solidFill>
                          <a:latin typeface="Aptos"/>
                        </a:defRPr>
                      </a:pPr>
                      <a:r>
                        <a:t>MAT101</a:t>
                      </a:r>
                    </a:p>
                  </a:txBody>
                  <a:tcPr marL="36576" marR="36576">
                    <a:solidFill>
                      <a:srgbClr val="FFFFFF"/>
                    </a:solidFill>
                  </a:tcPr>
                </a:tc>
                <a:tc>
                  <a:txBody>
                    <a:bodyPr/>
                    <a:lstStyle/>
                    <a:p>
                      <a:pPr algn="ctr">
                        <a:defRPr sz="910" b="0">
                          <a:solidFill>
                            <a:srgbClr val="273D4E"/>
                          </a:solidFill>
                          <a:latin typeface="Aptos"/>
                        </a:defRPr>
                      </a:pPr>
                      <a:r>
                        <a:t>Mathematics</a:t>
                      </a:r>
                    </a:p>
                  </a:txBody>
                  <a:tcPr marL="36576" marR="36576">
                    <a:solidFill>
                      <a:srgbClr val="FFFFFF"/>
                    </a:solidFill>
                  </a:tcPr>
                </a:tc>
                <a:tc>
                  <a:txBody>
                    <a:bodyPr/>
                    <a:lstStyle/>
                    <a:p>
                      <a:pPr algn="ctr">
                        <a:defRPr sz="910" b="0">
                          <a:solidFill>
                            <a:srgbClr val="273D4E"/>
                          </a:solidFill>
                          <a:latin typeface="Aptos"/>
                        </a:defRPr>
                      </a:pPr>
                      <a:r>
                        <a:t>3</a:t>
                      </a:r>
                    </a:p>
                  </a:txBody>
                  <a:tcPr marL="36576" marR="36576">
                    <a:solidFill>
                      <a:srgbClr val="FFFFFF"/>
                    </a:solidFill>
                  </a:tcPr>
                </a:tc>
                <a:tc>
                  <a:txBody>
                    <a:bodyPr/>
                    <a:lstStyle/>
                    <a:p>
                      <a:pPr algn="ctr">
                        <a:defRPr sz="910" b="0">
                          <a:solidFill>
                            <a:srgbClr val="273D4E"/>
                          </a:solidFill>
                          <a:latin typeface="Aptos"/>
                        </a:defRPr>
                      </a:pPr>
                      <a:r>
                        <a:t>Dr. Kumar</a:t>
                      </a:r>
                    </a:p>
                  </a:txBody>
                  <a:tcPr marL="36576" marR="36576">
                    <a:solidFill>
                      <a:srgbClr val="FFFFFF"/>
                    </a:solidFill>
                  </a:tcPr>
                </a:tc>
                <a:tc>
                  <a:txBody>
                    <a:bodyPr/>
                    <a:lstStyle/>
                    <a:p>
                      <a:pPr algn="ctr">
                        <a:defRPr sz="910" b="0">
                          <a:solidFill>
                            <a:srgbClr val="273D4E"/>
                          </a:solidFill>
                          <a:latin typeface="Aptos"/>
                        </a:defRPr>
                      </a:pPr>
                      <a:r>
                        <a:t>Tue 10–11</a:t>
                      </a:r>
                    </a:p>
                  </a:txBody>
                  <a:tcPr marL="36576" marR="36576">
                    <a:solidFill>
                      <a:srgbClr val="FFFFFF"/>
                    </a:solidFill>
                  </a:tcPr>
                </a:tc>
                <a:tc>
                  <a:txBody>
                    <a:bodyPr/>
                    <a:lstStyle/>
                    <a:p>
                      <a:pPr algn="ctr">
                        <a:defRPr sz="910" b="0">
                          <a:solidFill>
                            <a:srgbClr val="273D4E"/>
                          </a:solidFill>
                          <a:latin typeface="Aptos"/>
                        </a:defRPr>
                      </a:pPr>
                      <a:r>
                        <a:t>8 / 35</a:t>
                      </a:r>
                    </a:p>
                  </a:txBody>
                  <a:tcPr marL="36576" marR="36576">
                    <a:solidFill>
                      <a:srgbClr val="FFFFFF"/>
                    </a:solidFill>
                  </a:tcPr>
                </a:tc>
                <a:extLst>
                  <a:ext uri="{0D108BD9-81ED-4DB2-BD59-A6C34878D82A}">
                    <a16:rowId xmlns:a16="http://schemas.microsoft.com/office/drawing/2014/main" val="10002"/>
                  </a:ext>
                </a:extLst>
              </a:tr>
              <a:tr h="521208">
                <a:tc>
                  <a:txBody>
                    <a:bodyPr/>
                    <a:lstStyle/>
                    <a:p>
                      <a:pPr algn="ctr">
                        <a:defRPr sz="910" b="0">
                          <a:solidFill>
                            <a:srgbClr val="273D4E"/>
                          </a:solidFill>
                          <a:latin typeface="Aptos"/>
                        </a:defRPr>
                      </a:pPr>
                      <a:r>
                        <a:t>PHY101</a:t>
                      </a:r>
                    </a:p>
                  </a:txBody>
                  <a:tcPr marL="36576" marR="36576">
                    <a:solidFill>
                      <a:srgbClr val="FFFFFF"/>
                    </a:solidFill>
                  </a:tcPr>
                </a:tc>
                <a:tc>
                  <a:txBody>
                    <a:bodyPr/>
                    <a:lstStyle/>
                    <a:p>
                      <a:pPr algn="ctr">
                        <a:defRPr sz="910" b="0">
                          <a:solidFill>
                            <a:srgbClr val="273D4E"/>
                          </a:solidFill>
                          <a:latin typeface="Aptos"/>
                        </a:defRPr>
                      </a:pPr>
                      <a:r>
                        <a:t>Physics</a:t>
                      </a:r>
                    </a:p>
                  </a:txBody>
                  <a:tcPr marL="36576" marR="36576">
                    <a:solidFill>
                      <a:srgbClr val="FFFFFF"/>
                    </a:solidFill>
                  </a:tcPr>
                </a:tc>
                <a:tc>
                  <a:txBody>
                    <a:bodyPr/>
                    <a:lstStyle/>
                    <a:p>
                      <a:pPr algn="ctr">
                        <a:defRPr sz="910" b="0">
                          <a:solidFill>
                            <a:srgbClr val="273D4E"/>
                          </a:solidFill>
                          <a:latin typeface="Aptos"/>
                        </a:defRPr>
                      </a:pPr>
                      <a:r>
                        <a:t>3</a:t>
                      </a:r>
                    </a:p>
                  </a:txBody>
                  <a:tcPr marL="36576" marR="36576">
                    <a:solidFill>
                      <a:srgbClr val="FFFFFF"/>
                    </a:solidFill>
                  </a:tcPr>
                </a:tc>
                <a:tc>
                  <a:txBody>
                    <a:bodyPr/>
                    <a:lstStyle/>
                    <a:p>
                      <a:pPr algn="ctr">
                        <a:defRPr sz="910" b="0">
                          <a:solidFill>
                            <a:srgbClr val="273D4E"/>
                          </a:solidFill>
                          <a:latin typeface="Aptos"/>
                        </a:defRPr>
                      </a:pPr>
                      <a:r>
                        <a:t>Dr. Singh</a:t>
                      </a:r>
                    </a:p>
                  </a:txBody>
                  <a:tcPr marL="36576" marR="36576">
                    <a:solidFill>
                      <a:srgbClr val="FFFFFF"/>
                    </a:solidFill>
                  </a:tcPr>
                </a:tc>
                <a:tc>
                  <a:txBody>
                    <a:bodyPr/>
                    <a:lstStyle/>
                    <a:p>
                      <a:pPr algn="ctr">
                        <a:defRPr sz="910" b="0">
                          <a:solidFill>
                            <a:srgbClr val="273D4E"/>
                          </a:solidFill>
                          <a:latin typeface="Aptos"/>
                        </a:defRPr>
                      </a:pPr>
                      <a:r>
                        <a:t>Wed 11–12</a:t>
                      </a:r>
                    </a:p>
                  </a:txBody>
                  <a:tcPr marL="36576" marR="36576">
                    <a:solidFill>
                      <a:srgbClr val="FFFFFF"/>
                    </a:solidFill>
                  </a:tcPr>
                </a:tc>
                <a:tc>
                  <a:txBody>
                    <a:bodyPr/>
                    <a:lstStyle/>
                    <a:p>
                      <a:pPr algn="ctr">
                        <a:defRPr sz="910" b="0">
                          <a:solidFill>
                            <a:srgbClr val="273D4E"/>
                          </a:solidFill>
                          <a:latin typeface="Aptos"/>
                        </a:defRPr>
                      </a:pPr>
                      <a:r>
                        <a:t>20 / 40</a:t>
                      </a:r>
                    </a:p>
                  </a:txBody>
                  <a:tcPr marL="36576" marR="36576">
                    <a:solidFill>
                      <a:srgbClr val="FFFFFF"/>
                    </a:solidFill>
                  </a:tcPr>
                </a:tc>
                <a:extLst>
                  <a:ext uri="{0D108BD9-81ED-4DB2-BD59-A6C34878D82A}">
                    <a16:rowId xmlns:a16="http://schemas.microsoft.com/office/drawing/2014/main" val="10003"/>
                  </a:ext>
                </a:extLst>
              </a:tr>
              <a:tr h="521208">
                <a:tc>
                  <a:txBody>
                    <a:bodyPr/>
                    <a:lstStyle/>
                    <a:p>
                      <a:pPr algn="ctr">
                        <a:defRPr sz="910" b="0">
                          <a:solidFill>
                            <a:srgbClr val="273D4E"/>
                          </a:solidFill>
                          <a:latin typeface="Aptos"/>
                        </a:defRPr>
                      </a:pPr>
                      <a:r>
                        <a:t>ENG101</a:t>
                      </a:r>
                    </a:p>
                  </a:txBody>
                  <a:tcPr marL="36576" marR="36576">
                    <a:solidFill>
                      <a:srgbClr val="FFFFFF"/>
                    </a:solidFill>
                  </a:tcPr>
                </a:tc>
                <a:tc>
                  <a:txBody>
                    <a:bodyPr/>
                    <a:lstStyle/>
                    <a:p>
                      <a:pPr algn="ctr">
                        <a:defRPr sz="910" b="0">
                          <a:solidFill>
                            <a:srgbClr val="273D4E"/>
                          </a:solidFill>
                          <a:latin typeface="Aptos"/>
                        </a:defRPr>
                      </a:pPr>
                      <a:r>
                        <a:t>English</a:t>
                      </a:r>
                    </a:p>
                  </a:txBody>
                  <a:tcPr marL="36576" marR="36576">
                    <a:solidFill>
                      <a:srgbClr val="FFFFFF"/>
                    </a:solidFill>
                  </a:tcPr>
                </a:tc>
                <a:tc>
                  <a:txBody>
                    <a:bodyPr/>
                    <a:lstStyle/>
                    <a:p>
                      <a:pPr algn="ctr">
                        <a:defRPr sz="910" b="0">
                          <a:solidFill>
                            <a:srgbClr val="273D4E"/>
                          </a:solidFill>
                          <a:latin typeface="Aptos"/>
                        </a:defRPr>
                      </a:pPr>
                      <a:r>
                        <a:t>2</a:t>
                      </a:r>
                    </a:p>
                  </a:txBody>
                  <a:tcPr marL="36576" marR="36576">
                    <a:solidFill>
                      <a:srgbClr val="FFFFFF"/>
                    </a:solidFill>
                  </a:tcPr>
                </a:tc>
                <a:tc>
                  <a:txBody>
                    <a:bodyPr/>
                    <a:lstStyle/>
                    <a:p>
                      <a:pPr algn="ctr">
                        <a:defRPr sz="910" b="0">
                          <a:solidFill>
                            <a:srgbClr val="273D4E"/>
                          </a:solidFill>
                          <a:latin typeface="Aptos"/>
                        </a:defRPr>
                      </a:pPr>
                      <a:r>
                        <a:t>Dr. Patel</a:t>
                      </a:r>
                    </a:p>
                  </a:txBody>
                  <a:tcPr marL="36576" marR="36576">
                    <a:solidFill>
                      <a:srgbClr val="FFFFFF"/>
                    </a:solidFill>
                  </a:tcPr>
                </a:tc>
                <a:tc>
                  <a:txBody>
                    <a:bodyPr/>
                    <a:lstStyle/>
                    <a:p>
                      <a:pPr algn="ctr">
                        <a:defRPr sz="910" b="0">
                          <a:solidFill>
                            <a:srgbClr val="273D4E"/>
                          </a:solidFill>
                          <a:latin typeface="Aptos"/>
                        </a:defRPr>
                      </a:pPr>
                      <a:r>
                        <a:t>Fri 12–1</a:t>
                      </a:r>
                    </a:p>
                  </a:txBody>
                  <a:tcPr marL="36576" marR="36576">
                    <a:solidFill>
                      <a:srgbClr val="FFFFFF"/>
                    </a:solidFill>
                  </a:tcPr>
                </a:tc>
                <a:tc>
                  <a:txBody>
                    <a:bodyPr/>
                    <a:lstStyle/>
                    <a:p>
                      <a:pPr algn="ctr">
                        <a:defRPr sz="910" b="0">
                          <a:solidFill>
                            <a:srgbClr val="273D4E"/>
                          </a:solidFill>
                          <a:latin typeface="Aptos"/>
                        </a:defRPr>
                      </a:pPr>
                      <a:r>
                        <a:t>25 / 40</a:t>
                      </a:r>
                    </a:p>
                  </a:txBody>
                  <a:tcPr marL="36576" marR="36576">
                    <a:solidFill>
                      <a:srgbClr val="FFFFFF"/>
                    </a:solidFill>
                  </a:tcPr>
                </a:tc>
                <a:extLst>
                  <a:ext uri="{0D108BD9-81ED-4DB2-BD59-A6C34878D82A}">
                    <a16:rowId xmlns:a16="http://schemas.microsoft.com/office/drawing/2014/main" val="10004"/>
                  </a:ext>
                </a:extLst>
              </a:tr>
            </a:tbl>
          </a:graphicData>
        </a:graphic>
      </p:graphicFrame>
      <p:sp>
        <p:nvSpPr>
          <p:cNvPr id="30" name="Rounded Rectangle 29"/>
          <p:cNvSpPr/>
          <p:nvPr/>
        </p:nvSpPr>
        <p:spPr>
          <a:xfrm>
            <a:off x="7452360" y="1417320"/>
            <a:ext cx="4114800" cy="4590288"/>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7754112" y="1719072"/>
            <a:ext cx="169164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7772400" y="1737360"/>
            <a:ext cx="1655064" cy="274320"/>
          </a:xfrm>
          <a:prstGeom prst="rect">
            <a:avLst/>
          </a:prstGeom>
          <a:noFill/>
        </p:spPr>
        <p:txBody>
          <a:bodyPr wrap="square" lIns="41148" tIns="22860" rIns="41148" bIns="22860" anchor="ctr">
            <a:spAutoFit/>
          </a:bodyPr>
          <a:lstStyle/>
          <a:p>
            <a:pPr algn="ctr"/>
            <a:r>
              <a:rPr sz="869" b="1" i="0">
                <a:solidFill>
                  <a:srgbClr val="10395C"/>
                </a:solidFill>
                <a:latin typeface="Aptos"/>
              </a:rPr>
              <a:t>COURSE DETAILS</a:t>
            </a:r>
          </a:p>
        </p:txBody>
      </p:sp>
      <p:sp>
        <p:nvSpPr>
          <p:cNvPr id="33" name="TextBox 32"/>
          <p:cNvSpPr txBox="1"/>
          <p:nvPr/>
        </p:nvSpPr>
        <p:spPr>
          <a:xfrm>
            <a:off x="7754112" y="2176272"/>
            <a:ext cx="3429000" cy="384048"/>
          </a:xfrm>
          <a:prstGeom prst="rect">
            <a:avLst/>
          </a:prstGeom>
          <a:noFill/>
        </p:spPr>
        <p:txBody>
          <a:bodyPr wrap="square" lIns="41148" tIns="22860" rIns="41148" bIns="22860" anchor="t">
            <a:spAutoFit/>
          </a:bodyPr>
          <a:lstStyle/>
          <a:p>
            <a:pPr algn="l"/>
            <a:r>
              <a:rPr sz="1300" b="1" i="0">
                <a:solidFill>
                  <a:srgbClr val="10395C"/>
                </a:solidFill>
                <a:latin typeface="Aptos"/>
              </a:rPr>
              <a:t>CSE101 – Programming Fundamentals</a:t>
            </a:r>
          </a:p>
        </p:txBody>
      </p:sp>
      <p:sp>
        <p:nvSpPr>
          <p:cNvPr id="34" name="TextBox 33"/>
          <p:cNvSpPr txBox="1"/>
          <p:nvPr/>
        </p:nvSpPr>
        <p:spPr>
          <a:xfrm>
            <a:off x="7818120" y="2706624"/>
            <a:ext cx="3154680" cy="228600"/>
          </a:xfrm>
          <a:prstGeom prst="rect">
            <a:avLst/>
          </a:prstGeom>
          <a:noFill/>
        </p:spPr>
        <p:txBody>
          <a:bodyPr wrap="square" lIns="41148" tIns="22860" rIns="41148" bIns="22860" anchor="t">
            <a:spAutoFit/>
          </a:bodyPr>
          <a:lstStyle/>
          <a:p>
            <a:pPr algn="l"/>
            <a:r>
              <a:rPr sz="1050" b="0" i="0">
                <a:solidFill>
                  <a:srgbClr val="273D4E"/>
                </a:solidFill>
                <a:latin typeface="Aptos"/>
              </a:rPr>
              <a:t>Credits: 4</a:t>
            </a:r>
          </a:p>
        </p:txBody>
      </p:sp>
      <p:sp>
        <p:nvSpPr>
          <p:cNvPr id="35" name="TextBox 34"/>
          <p:cNvSpPr txBox="1"/>
          <p:nvPr/>
        </p:nvSpPr>
        <p:spPr>
          <a:xfrm>
            <a:off x="7818120" y="3090672"/>
            <a:ext cx="3154680" cy="228600"/>
          </a:xfrm>
          <a:prstGeom prst="rect">
            <a:avLst/>
          </a:prstGeom>
          <a:noFill/>
        </p:spPr>
        <p:txBody>
          <a:bodyPr wrap="square" lIns="41148" tIns="22860" rIns="41148" bIns="22860" anchor="t">
            <a:spAutoFit/>
          </a:bodyPr>
          <a:lstStyle/>
          <a:p>
            <a:pPr algn="l"/>
            <a:r>
              <a:rPr sz="1050" b="0" i="0">
                <a:solidFill>
                  <a:srgbClr val="273D4E"/>
                </a:solidFill>
                <a:latin typeface="Aptos"/>
              </a:rPr>
              <a:t>Faculty: Dr. Rao</a:t>
            </a:r>
          </a:p>
        </p:txBody>
      </p:sp>
      <p:sp>
        <p:nvSpPr>
          <p:cNvPr id="36" name="TextBox 35"/>
          <p:cNvSpPr txBox="1"/>
          <p:nvPr/>
        </p:nvSpPr>
        <p:spPr>
          <a:xfrm>
            <a:off x="7818120" y="3474720"/>
            <a:ext cx="3154680" cy="228600"/>
          </a:xfrm>
          <a:prstGeom prst="rect">
            <a:avLst/>
          </a:prstGeom>
          <a:noFill/>
        </p:spPr>
        <p:txBody>
          <a:bodyPr wrap="square" lIns="41148" tIns="22860" rIns="41148" bIns="22860" anchor="t">
            <a:spAutoFit/>
          </a:bodyPr>
          <a:lstStyle/>
          <a:p>
            <a:pPr algn="l"/>
            <a:r>
              <a:rPr sz="1050" b="0" i="0">
                <a:solidFill>
                  <a:srgbClr val="273D4E"/>
                </a:solidFill>
                <a:latin typeface="Aptos"/>
              </a:rPr>
              <a:t>Days: Mon, Wed</a:t>
            </a:r>
          </a:p>
        </p:txBody>
      </p:sp>
      <p:sp>
        <p:nvSpPr>
          <p:cNvPr id="37" name="TextBox 36"/>
          <p:cNvSpPr txBox="1"/>
          <p:nvPr/>
        </p:nvSpPr>
        <p:spPr>
          <a:xfrm>
            <a:off x="7818120" y="3858768"/>
            <a:ext cx="3154680" cy="228600"/>
          </a:xfrm>
          <a:prstGeom prst="rect">
            <a:avLst/>
          </a:prstGeom>
          <a:noFill/>
        </p:spPr>
        <p:txBody>
          <a:bodyPr wrap="square" lIns="41148" tIns="22860" rIns="41148" bIns="22860" anchor="t">
            <a:spAutoFit/>
          </a:bodyPr>
          <a:lstStyle/>
          <a:p>
            <a:pPr algn="l"/>
            <a:r>
              <a:rPr sz="1050" b="0" i="0">
                <a:solidFill>
                  <a:srgbClr val="273D4E"/>
                </a:solidFill>
                <a:latin typeface="Aptos"/>
              </a:rPr>
              <a:t>Time: 09:00–10:00</a:t>
            </a:r>
          </a:p>
        </p:txBody>
      </p:sp>
      <p:sp>
        <p:nvSpPr>
          <p:cNvPr id="38" name="TextBox 37"/>
          <p:cNvSpPr txBox="1"/>
          <p:nvPr/>
        </p:nvSpPr>
        <p:spPr>
          <a:xfrm>
            <a:off x="7818120" y="4242816"/>
            <a:ext cx="3154680" cy="228600"/>
          </a:xfrm>
          <a:prstGeom prst="rect">
            <a:avLst/>
          </a:prstGeom>
          <a:noFill/>
        </p:spPr>
        <p:txBody>
          <a:bodyPr wrap="square" lIns="41148" tIns="22860" rIns="41148" bIns="22860" anchor="t">
            <a:spAutoFit/>
          </a:bodyPr>
          <a:lstStyle/>
          <a:p>
            <a:pPr algn="l"/>
            <a:r>
              <a:rPr sz="1050" b="0" i="0">
                <a:solidFill>
                  <a:srgbClr val="273D4E"/>
                </a:solidFill>
                <a:latin typeface="Aptos"/>
              </a:rPr>
              <a:t>Room: Block A-204</a:t>
            </a:r>
          </a:p>
        </p:txBody>
      </p:sp>
      <p:sp>
        <p:nvSpPr>
          <p:cNvPr id="39" name="TextBox 38"/>
          <p:cNvSpPr txBox="1"/>
          <p:nvPr/>
        </p:nvSpPr>
        <p:spPr>
          <a:xfrm>
            <a:off x="7818120" y="4626864"/>
            <a:ext cx="3154680" cy="228600"/>
          </a:xfrm>
          <a:prstGeom prst="rect">
            <a:avLst/>
          </a:prstGeom>
          <a:noFill/>
        </p:spPr>
        <p:txBody>
          <a:bodyPr wrap="square" lIns="41148" tIns="22860" rIns="41148" bIns="22860" anchor="t">
            <a:spAutoFit/>
          </a:bodyPr>
          <a:lstStyle/>
          <a:p>
            <a:pPr algn="l"/>
            <a:r>
              <a:rPr sz="1050" b="0" i="0">
                <a:solidFill>
                  <a:srgbClr val="273D4E"/>
                </a:solidFill>
                <a:latin typeface="Aptos"/>
              </a:rPr>
              <a:t>Seats: 12 / 40</a:t>
            </a:r>
          </a:p>
        </p:txBody>
      </p:sp>
      <p:sp>
        <p:nvSpPr>
          <p:cNvPr id="40" name="TextBox 39"/>
          <p:cNvSpPr txBox="1"/>
          <p:nvPr/>
        </p:nvSpPr>
        <p:spPr>
          <a:xfrm>
            <a:off x="7818120" y="5010912"/>
            <a:ext cx="3154680" cy="228600"/>
          </a:xfrm>
          <a:prstGeom prst="rect">
            <a:avLst/>
          </a:prstGeom>
          <a:noFill/>
        </p:spPr>
        <p:txBody>
          <a:bodyPr wrap="square" lIns="41148" tIns="22860" rIns="41148" bIns="22860" anchor="t">
            <a:spAutoFit/>
          </a:bodyPr>
          <a:lstStyle/>
          <a:p>
            <a:pPr algn="l"/>
            <a:r>
              <a:rPr sz="1050" b="0" i="0">
                <a:solidFill>
                  <a:srgbClr val="273D4E"/>
                </a:solidFill>
                <a:latin typeface="Aptos"/>
              </a:rPr>
              <a:t>Prerequisite: None</a:t>
            </a:r>
          </a:p>
        </p:txBody>
      </p:sp>
      <p:sp>
        <p:nvSpPr>
          <p:cNvPr id="41" name="Rounded Rectangle 40"/>
          <p:cNvSpPr/>
          <p:nvPr/>
        </p:nvSpPr>
        <p:spPr>
          <a:xfrm>
            <a:off x="8394192" y="5468112"/>
            <a:ext cx="2011680"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8412480" y="5486400"/>
            <a:ext cx="1975104" cy="274320"/>
          </a:xfrm>
          <a:prstGeom prst="rect">
            <a:avLst/>
          </a:prstGeom>
          <a:noFill/>
        </p:spPr>
        <p:txBody>
          <a:bodyPr wrap="square" lIns="41148" tIns="22860" rIns="41148" bIns="22860" anchor="ctr">
            <a:spAutoFit/>
          </a:bodyPr>
          <a:lstStyle/>
          <a:p>
            <a:pPr algn="ctr"/>
            <a:r>
              <a:rPr sz="900" b="1" i="0">
                <a:solidFill>
                  <a:srgbClr val="10395C"/>
                </a:solidFill>
                <a:latin typeface="Aptos"/>
              </a:rPr>
              <a:t>+ ADD COURSE</a:t>
            </a:r>
          </a:p>
        </p:txBody>
      </p:sp>
      <p:sp>
        <p:nvSpPr>
          <p:cNvPr id="43" name="TextBox 42"/>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44" name="TextBox 43"/>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11</a:t>
            </a:r>
          </a:p>
        </p:txBody>
      </p:sp>
      <p:sp>
        <p:nvSpPr>
          <p:cNvPr id="45" name="Rounded Rectangle 44"/>
          <p:cNvSpPr/>
          <p:nvPr/>
        </p:nvSpPr>
        <p:spPr>
          <a:xfrm>
            <a:off x="777240" y="4407408"/>
            <a:ext cx="6537960" cy="1928234"/>
          </a:xfrm>
          <a:prstGeom prst="roundRect">
            <a:avLst/>
          </a:prstGeom>
          <a:solidFill>
            <a:srgbClr val="F8F8F6"/>
          </a:solidFill>
          <a:ln>
            <a:noFill/>
          </a:ln>
        </p:spPr>
        <p:style>
          <a:lnRef idx="1">
            <a:schemeClr val="accent1"/>
          </a:lnRef>
          <a:fillRef idx="3">
            <a:schemeClr val="accent1"/>
          </a:fillRef>
          <a:effectRef idx="2">
            <a:schemeClr val="accent1"/>
          </a:effectRef>
          <a:fontRef idx="minor">
            <a:schemeClr val="lt1"/>
          </a:fontRef>
        </p:style>
        <p:txBody>
          <a:bodyPr lIns="146304" tIns="91440" rIns="128016" bIns="54864" rtlCol="0" anchor="ctr"/>
          <a:lstStyle/>
          <a:p>
            <a:pPr algn="ctr">
              <a:defRPr sz="1300" b="1">
                <a:solidFill>
                  <a:srgbClr val="1E3F5A"/>
                </a:solidFill>
              </a:defRPr>
            </a:pPr>
            <a:r>
              <a:rPr sz="2000" dirty="0"/>
              <a:t>WHY THIS SCREEN MATTERS</a:t>
            </a:r>
          </a:p>
          <a:p>
            <a:pPr>
              <a:spcAft>
                <a:spcPts val="300"/>
              </a:spcAft>
              <a:defRPr sz="1070">
                <a:solidFill>
                  <a:srgbClr val="262B30"/>
                </a:solidFill>
              </a:defRPr>
            </a:pPr>
            <a:r>
              <a:rPr sz="2000" dirty="0"/>
              <a:t>The catalog lets students compare the information that will later be used for validation.</a:t>
            </a:r>
          </a:p>
          <a:p>
            <a:pPr>
              <a:spcAft>
                <a:spcPts val="300"/>
              </a:spcAft>
              <a:defRPr sz="1070">
                <a:solidFill>
                  <a:srgbClr val="262B30"/>
                </a:solidFill>
              </a:defRPr>
            </a:pPr>
            <a:r>
              <a:rPr sz="2000" dirty="0"/>
              <a:t>For CSE101, seats, timing, faculty and prerequisites can be checked before the course is added</a:t>
            </a:r>
            <a:r>
              <a:rPr sz="1200" dirty="0"/>
              <a: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1129284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1149400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1146536"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1402567"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11036808"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1131112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11</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Timetable Builder</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Selected courses become a visual weekly plan</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417320"/>
            <a:ext cx="1499616" cy="438912"/>
          </a:xfrm>
          <a:prstGeom prst="roundRect">
            <a:avLst>
              <a:gd name="adj" fmla="val 0"/>
            </a:avLst>
          </a:prstGeom>
          <a:solidFill>
            <a:srgbClr val="D7F0F8"/>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94360" y="1508760"/>
            <a:ext cx="1499616" cy="228600"/>
          </a:xfrm>
          <a:prstGeom prst="rect">
            <a:avLst/>
          </a:prstGeom>
          <a:noFill/>
        </p:spPr>
        <p:txBody>
          <a:bodyPr wrap="square" lIns="41148" tIns="22860" rIns="41148" bIns="22860" anchor="t">
            <a:spAutoFit/>
          </a:bodyPr>
          <a:lstStyle/>
          <a:p>
            <a:pPr algn="ctr"/>
            <a:r>
              <a:rPr sz="930" b="1" i="0">
                <a:solidFill>
                  <a:srgbClr val="10395C"/>
                </a:solidFill>
                <a:latin typeface="Aptos"/>
              </a:rPr>
              <a:t>TIME</a:t>
            </a:r>
          </a:p>
        </p:txBody>
      </p:sp>
      <p:sp>
        <p:nvSpPr>
          <p:cNvPr id="18" name="Rounded Rectangle 17"/>
          <p:cNvSpPr/>
          <p:nvPr/>
        </p:nvSpPr>
        <p:spPr>
          <a:xfrm>
            <a:off x="2148840" y="1417320"/>
            <a:ext cx="1499616" cy="438912"/>
          </a:xfrm>
          <a:prstGeom prst="roundRect">
            <a:avLst>
              <a:gd name="adj" fmla="val 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148840" y="1508760"/>
            <a:ext cx="1499616" cy="228600"/>
          </a:xfrm>
          <a:prstGeom prst="rect">
            <a:avLst/>
          </a:prstGeom>
          <a:noFill/>
        </p:spPr>
        <p:txBody>
          <a:bodyPr wrap="square" lIns="41148" tIns="22860" rIns="41148" bIns="22860" anchor="t">
            <a:spAutoFit/>
          </a:bodyPr>
          <a:lstStyle/>
          <a:p>
            <a:pPr algn="ctr"/>
            <a:r>
              <a:rPr sz="930" b="1" i="0">
                <a:solidFill>
                  <a:srgbClr val="10395C"/>
                </a:solidFill>
                <a:latin typeface="Aptos"/>
              </a:rPr>
              <a:t>MON</a:t>
            </a:r>
          </a:p>
        </p:txBody>
      </p:sp>
      <p:sp>
        <p:nvSpPr>
          <p:cNvPr id="20" name="Rounded Rectangle 19"/>
          <p:cNvSpPr/>
          <p:nvPr/>
        </p:nvSpPr>
        <p:spPr>
          <a:xfrm>
            <a:off x="3703320" y="1417320"/>
            <a:ext cx="1499616" cy="438912"/>
          </a:xfrm>
          <a:prstGeom prst="roundRect">
            <a:avLst>
              <a:gd name="adj" fmla="val 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03320" y="1508760"/>
            <a:ext cx="1499616" cy="228600"/>
          </a:xfrm>
          <a:prstGeom prst="rect">
            <a:avLst/>
          </a:prstGeom>
          <a:noFill/>
        </p:spPr>
        <p:txBody>
          <a:bodyPr wrap="square" lIns="41148" tIns="22860" rIns="41148" bIns="22860" anchor="t">
            <a:spAutoFit/>
          </a:bodyPr>
          <a:lstStyle/>
          <a:p>
            <a:pPr algn="ctr"/>
            <a:r>
              <a:rPr sz="930" b="1" i="0">
                <a:solidFill>
                  <a:srgbClr val="10395C"/>
                </a:solidFill>
                <a:latin typeface="Aptos"/>
              </a:rPr>
              <a:t>TUE</a:t>
            </a:r>
          </a:p>
        </p:txBody>
      </p:sp>
      <p:sp>
        <p:nvSpPr>
          <p:cNvPr id="22" name="Rounded Rectangle 21"/>
          <p:cNvSpPr/>
          <p:nvPr/>
        </p:nvSpPr>
        <p:spPr>
          <a:xfrm>
            <a:off x="5257800" y="1417320"/>
            <a:ext cx="1499616" cy="438912"/>
          </a:xfrm>
          <a:prstGeom prst="roundRect">
            <a:avLst>
              <a:gd name="adj" fmla="val 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57800" y="1508760"/>
            <a:ext cx="1499616" cy="228600"/>
          </a:xfrm>
          <a:prstGeom prst="rect">
            <a:avLst/>
          </a:prstGeom>
          <a:noFill/>
        </p:spPr>
        <p:txBody>
          <a:bodyPr wrap="square" lIns="41148" tIns="22860" rIns="41148" bIns="22860" anchor="t">
            <a:spAutoFit/>
          </a:bodyPr>
          <a:lstStyle/>
          <a:p>
            <a:pPr algn="ctr"/>
            <a:r>
              <a:rPr sz="930" b="1" i="0">
                <a:solidFill>
                  <a:srgbClr val="10395C"/>
                </a:solidFill>
                <a:latin typeface="Aptos"/>
              </a:rPr>
              <a:t>WED</a:t>
            </a:r>
          </a:p>
        </p:txBody>
      </p:sp>
      <p:sp>
        <p:nvSpPr>
          <p:cNvPr id="24" name="Rounded Rectangle 23"/>
          <p:cNvSpPr/>
          <p:nvPr/>
        </p:nvSpPr>
        <p:spPr>
          <a:xfrm>
            <a:off x="6812280" y="1417320"/>
            <a:ext cx="1499616" cy="438912"/>
          </a:xfrm>
          <a:prstGeom prst="roundRect">
            <a:avLst>
              <a:gd name="adj" fmla="val 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812280" y="1508760"/>
            <a:ext cx="1499616" cy="228600"/>
          </a:xfrm>
          <a:prstGeom prst="rect">
            <a:avLst/>
          </a:prstGeom>
          <a:noFill/>
        </p:spPr>
        <p:txBody>
          <a:bodyPr wrap="square" lIns="41148" tIns="22860" rIns="41148" bIns="22860" anchor="t">
            <a:spAutoFit/>
          </a:bodyPr>
          <a:lstStyle/>
          <a:p>
            <a:pPr algn="ctr"/>
            <a:r>
              <a:rPr sz="930" b="1" i="0">
                <a:solidFill>
                  <a:srgbClr val="10395C"/>
                </a:solidFill>
                <a:latin typeface="Aptos"/>
              </a:rPr>
              <a:t>THU</a:t>
            </a:r>
          </a:p>
        </p:txBody>
      </p:sp>
      <p:sp>
        <p:nvSpPr>
          <p:cNvPr id="26" name="Rounded Rectangle 25"/>
          <p:cNvSpPr/>
          <p:nvPr/>
        </p:nvSpPr>
        <p:spPr>
          <a:xfrm>
            <a:off x="8366760" y="1417320"/>
            <a:ext cx="1499616" cy="438912"/>
          </a:xfrm>
          <a:prstGeom prst="roundRect">
            <a:avLst>
              <a:gd name="adj" fmla="val 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8366760" y="1508760"/>
            <a:ext cx="1499616" cy="228600"/>
          </a:xfrm>
          <a:prstGeom prst="rect">
            <a:avLst/>
          </a:prstGeom>
          <a:noFill/>
        </p:spPr>
        <p:txBody>
          <a:bodyPr wrap="square" lIns="41148" tIns="22860" rIns="41148" bIns="22860" anchor="t">
            <a:spAutoFit/>
          </a:bodyPr>
          <a:lstStyle/>
          <a:p>
            <a:pPr algn="ctr"/>
            <a:r>
              <a:rPr sz="930" b="1" i="0">
                <a:solidFill>
                  <a:srgbClr val="10395C"/>
                </a:solidFill>
                <a:latin typeface="Aptos"/>
              </a:rPr>
              <a:t>FRI</a:t>
            </a:r>
          </a:p>
        </p:txBody>
      </p:sp>
      <p:sp>
        <p:nvSpPr>
          <p:cNvPr id="28" name="Rounded Rectangle 27"/>
          <p:cNvSpPr/>
          <p:nvPr/>
        </p:nvSpPr>
        <p:spPr>
          <a:xfrm>
            <a:off x="594360" y="1874519"/>
            <a:ext cx="1499616" cy="640080"/>
          </a:xfrm>
          <a:prstGeom prst="roundRect">
            <a:avLst>
              <a:gd name="adj" fmla="val 0"/>
            </a:avLst>
          </a:prstGeom>
          <a:solidFill>
            <a:srgbClr val="F1FAFD"/>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94360" y="2039112"/>
            <a:ext cx="1499616" cy="201168"/>
          </a:xfrm>
          <a:prstGeom prst="rect">
            <a:avLst/>
          </a:prstGeom>
          <a:noFill/>
        </p:spPr>
        <p:txBody>
          <a:bodyPr wrap="square" lIns="41148" tIns="22860" rIns="41148" bIns="22860" anchor="t">
            <a:spAutoFit/>
          </a:bodyPr>
          <a:lstStyle/>
          <a:p>
            <a:pPr algn="ctr"/>
            <a:r>
              <a:rPr sz="880" b="1" i="0">
                <a:solidFill>
                  <a:srgbClr val="5D7684"/>
                </a:solidFill>
                <a:latin typeface="Aptos"/>
              </a:rPr>
              <a:t>9–10</a:t>
            </a:r>
          </a:p>
        </p:txBody>
      </p:sp>
      <p:sp>
        <p:nvSpPr>
          <p:cNvPr id="30" name="Rounded Rectangle 29"/>
          <p:cNvSpPr/>
          <p:nvPr/>
        </p:nvSpPr>
        <p:spPr>
          <a:xfrm>
            <a:off x="2148840" y="1874519"/>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3703320" y="1874519"/>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5257800" y="1874519"/>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6812280" y="1874519"/>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8366760" y="1874519"/>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34"/>
          <p:cNvSpPr/>
          <p:nvPr/>
        </p:nvSpPr>
        <p:spPr>
          <a:xfrm>
            <a:off x="594360" y="2569463"/>
            <a:ext cx="1499616" cy="640080"/>
          </a:xfrm>
          <a:prstGeom prst="roundRect">
            <a:avLst>
              <a:gd name="adj" fmla="val 0"/>
            </a:avLst>
          </a:prstGeom>
          <a:solidFill>
            <a:srgbClr val="F1FAFD"/>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594360" y="2734056"/>
            <a:ext cx="1499616" cy="201168"/>
          </a:xfrm>
          <a:prstGeom prst="rect">
            <a:avLst/>
          </a:prstGeom>
          <a:noFill/>
        </p:spPr>
        <p:txBody>
          <a:bodyPr wrap="square" lIns="41148" tIns="22860" rIns="41148" bIns="22860" anchor="t">
            <a:spAutoFit/>
          </a:bodyPr>
          <a:lstStyle/>
          <a:p>
            <a:pPr algn="ctr"/>
            <a:r>
              <a:rPr sz="880" b="1" i="0">
                <a:solidFill>
                  <a:srgbClr val="5D7684"/>
                </a:solidFill>
                <a:latin typeface="Aptos"/>
              </a:rPr>
              <a:t>10–11</a:t>
            </a:r>
          </a:p>
        </p:txBody>
      </p:sp>
      <p:sp>
        <p:nvSpPr>
          <p:cNvPr id="37" name="Rounded Rectangle 36"/>
          <p:cNvSpPr/>
          <p:nvPr/>
        </p:nvSpPr>
        <p:spPr>
          <a:xfrm>
            <a:off x="2148840" y="2569463"/>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ounded Rectangle 37"/>
          <p:cNvSpPr/>
          <p:nvPr/>
        </p:nvSpPr>
        <p:spPr>
          <a:xfrm>
            <a:off x="3703320" y="2569463"/>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ounded Rectangle 38"/>
          <p:cNvSpPr/>
          <p:nvPr/>
        </p:nvSpPr>
        <p:spPr>
          <a:xfrm>
            <a:off x="5257800" y="2569463"/>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6812280" y="2569463"/>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ounded Rectangle 40"/>
          <p:cNvSpPr/>
          <p:nvPr/>
        </p:nvSpPr>
        <p:spPr>
          <a:xfrm>
            <a:off x="8366760" y="2569463"/>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594360" y="3264408"/>
            <a:ext cx="1499616" cy="640080"/>
          </a:xfrm>
          <a:prstGeom prst="roundRect">
            <a:avLst>
              <a:gd name="adj" fmla="val 0"/>
            </a:avLst>
          </a:prstGeom>
          <a:solidFill>
            <a:srgbClr val="F1FAFD"/>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94360" y="3429000"/>
            <a:ext cx="1499616" cy="201168"/>
          </a:xfrm>
          <a:prstGeom prst="rect">
            <a:avLst/>
          </a:prstGeom>
          <a:noFill/>
        </p:spPr>
        <p:txBody>
          <a:bodyPr wrap="square" lIns="41148" tIns="22860" rIns="41148" bIns="22860" anchor="t">
            <a:spAutoFit/>
          </a:bodyPr>
          <a:lstStyle/>
          <a:p>
            <a:pPr algn="ctr"/>
            <a:r>
              <a:rPr sz="880" b="1" i="0">
                <a:solidFill>
                  <a:srgbClr val="5D7684"/>
                </a:solidFill>
                <a:latin typeface="Aptos"/>
              </a:rPr>
              <a:t>11–12</a:t>
            </a:r>
          </a:p>
        </p:txBody>
      </p:sp>
      <p:sp>
        <p:nvSpPr>
          <p:cNvPr id="44" name="Rounded Rectangle 43"/>
          <p:cNvSpPr/>
          <p:nvPr/>
        </p:nvSpPr>
        <p:spPr>
          <a:xfrm>
            <a:off x="2148840" y="3264408"/>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ounded Rectangle 44"/>
          <p:cNvSpPr/>
          <p:nvPr/>
        </p:nvSpPr>
        <p:spPr>
          <a:xfrm>
            <a:off x="3703320" y="3264408"/>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Rounded Rectangle 45"/>
          <p:cNvSpPr/>
          <p:nvPr/>
        </p:nvSpPr>
        <p:spPr>
          <a:xfrm>
            <a:off x="5257800" y="3264408"/>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ounded Rectangle 46"/>
          <p:cNvSpPr/>
          <p:nvPr/>
        </p:nvSpPr>
        <p:spPr>
          <a:xfrm>
            <a:off x="6812280" y="3264408"/>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ounded Rectangle 47"/>
          <p:cNvSpPr/>
          <p:nvPr/>
        </p:nvSpPr>
        <p:spPr>
          <a:xfrm>
            <a:off x="8366760" y="3264408"/>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ounded Rectangle 48"/>
          <p:cNvSpPr/>
          <p:nvPr/>
        </p:nvSpPr>
        <p:spPr>
          <a:xfrm>
            <a:off x="594360" y="3959352"/>
            <a:ext cx="1499616" cy="640080"/>
          </a:xfrm>
          <a:prstGeom prst="roundRect">
            <a:avLst>
              <a:gd name="adj" fmla="val 0"/>
            </a:avLst>
          </a:prstGeom>
          <a:solidFill>
            <a:srgbClr val="F1FAFD"/>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594360" y="4123944"/>
            <a:ext cx="1499616" cy="201168"/>
          </a:xfrm>
          <a:prstGeom prst="rect">
            <a:avLst/>
          </a:prstGeom>
          <a:noFill/>
        </p:spPr>
        <p:txBody>
          <a:bodyPr wrap="square" lIns="41148" tIns="22860" rIns="41148" bIns="22860" anchor="t">
            <a:spAutoFit/>
          </a:bodyPr>
          <a:lstStyle/>
          <a:p>
            <a:pPr algn="ctr"/>
            <a:r>
              <a:rPr sz="880" b="1" i="0">
                <a:solidFill>
                  <a:srgbClr val="5D7684"/>
                </a:solidFill>
                <a:latin typeface="Aptos"/>
              </a:rPr>
              <a:t>12–1</a:t>
            </a:r>
          </a:p>
        </p:txBody>
      </p:sp>
      <p:sp>
        <p:nvSpPr>
          <p:cNvPr id="51" name="Rounded Rectangle 50"/>
          <p:cNvSpPr/>
          <p:nvPr/>
        </p:nvSpPr>
        <p:spPr>
          <a:xfrm>
            <a:off x="2148840" y="3959352"/>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ounded Rectangle 51"/>
          <p:cNvSpPr/>
          <p:nvPr/>
        </p:nvSpPr>
        <p:spPr>
          <a:xfrm>
            <a:off x="3703320" y="3959352"/>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ounded Rectangle 52"/>
          <p:cNvSpPr/>
          <p:nvPr/>
        </p:nvSpPr>
        <p:spPr>
          <a:xfrm>
            <a:off x="5257800" y="3959352"/>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ounded Rectangle 53"/>
          <p:cNvSpPr/>
          <p:nvPr/>
        </p:nvSpPr>
        <p:spPr>
          <a:xfrm>
            <a:off x="6812280" y="3959352"/>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8366760" y="3959352"/>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594360" y="4654296"/>
            <a:ext cx="1499616" cy="640080"/>
          </a:xfrm>
          <a:prstGeom prst="roundRect">
            <a:avLst>
              <a:gd name="adj" fmla="val 0"/>
            </a:avLst>
          </a:prstGeom>
          <a:solidFill>
            <a:srgbClr val="F1FAFD"/>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94360" y="4818888"/>
            <a:ext cx="1499616" cy="201168"/>
          </a:xfrm>
          <a:prstGeom prst="rect">
            <a:avLst/>
          </a:prstGeom>
          <a:noFill/>
        </p:spPr>
        <p:txBody>
          <a:bodyPr wrap="square" lIns="41148" tIns="22860" rIns="41148" bIns="22860" anchor="t">
            <a:spAutoFit/>
          </a:bodyPr>
          <a:lstStyle/>
          <a:p>
            <a:pPr algn="ctr"/>
            <a:r>
              <a:rPr sz="880" b="1" i="0">
                <a:solidFill>
                  <a:srgbClr val="5D7684"/>
                </a:solidFill>
                <a:latin typeface="Aptos"/>
              </a:rPr>
              <a:t>1–2</a:t>
            </a:r>
          </a:p>
        </p:txBody>
      </p:sp>
      <p:sp>
        <p:nvSpPr>
          <p:cNvPr id="58" name="Rounded Rectangle 57"/>
          <p:cNvSpPr/>
          <p:nvPr/>
        </p:nvSpPr>
        <p:spPr>
          <a:xfrm>
            <a:off x="2148840" y="4654296"/>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ounded Rectangle 58"/>
          <p:cNvSpPr/>
          <p:nvPr/>
        </p:nvSpPr>
        <p:spPr>
          <a:xfrm>
            <a:off x="3703320" y="4654296"/>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ounded Rectangle 59"/>
          <p:cNvSpPr/>
          <p:nvPr/>
        </p:nvSpPr>
        <p:spPr>
          <a:xfrm>
            <a:off x="5257800" y="4654296"/>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ounded Rectangle 60"/>
          <p:cNvSpPr/>
          <p:nvPr/>
        </p:nvSpPr>
        <p:spPr>
          <a:xfrm>
            <a:off x="6812280" y="4654296"/>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ounded Rectangle 61"/>
          <p:cNvSpPr/>
          <p:nvPr/>
        </p:nvSpPr>
        <p:spPr>
          <a:xfrm>
            <a:off x="8366760" y="4654296"/>
            <a:ext cx="1499616" cy="640080"/>
          </a:xfrm>
          <a:prstGeom prst="roundRect">
            <a:avLst>
              <a:gd name="adj" fmla="val 0"/>
            </a:avLst>
          </a:prstGeom>
          <a:solidFill>
            <a:srgbClr val="FFFFFF"/>
          </a:solidFill>
          <a:ln>
            <a:solidFill>
              <a:srgbClr val="DEEDF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ounded Rectangle 62"/>
          <p:cNvSpPr/>
          <p:nvPr/>
        </p:nvSpPr>
        <p:spPr>
          <a:xfrm>
            <a:off x="2231136" y="1938528"/>
            <a:ext cx="1307592" cy="512064"/>
          </a:xfrm>
          <a:prstGeom prst="roundRect">
            <a:avLst>
              <a:gd name="adj" fmla="val 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2231136" y="2066543"/>
            <a:ext cx="1307592" cy="182880"/>
          </a:xfrm>
          <a:prstGeom prst="rect">
            <a:avLst/>
          </a:prstGeom>
          <a:noFill/>
        </p:spPr>
        <p:txBody>
          <a:bodyPr wrap="square" lIns="41148" tIns="22860" rIns="41148" bIns="22860" anchor="t">
            <a:spAutoFit/>
          </a:bodyPr>
          <a:lstStyle/>
          <a:p>
            <a:pPr algn="ctr"/>
            <a:r>
              <a:rPr sz="869" b="1" i="0">
                <a:solidFill>
                  <a:srgbClr val="10395C"/>
                </a:solidFill>
                <a:latin typeface="Aptos"/>
              </a:rPr>
              <a:t>CSE101</a:t>
            </a:r>
          </a:p>
        </p:txBody>
      </p:sp>
      <p:sp>
        <p:nvSpPr>
          <p:cNvPr id="65" name="Rounded Rectangle 64"/>
          <p:cNvSpPr/>
          <p:nvPr/>
        </p:nvSpPr>
        <p:spPr>
          <a:xfrm>
            <a:off x="5340096" y="1938528"/>
            <a:ext cx="1307592" cy="512064"/>
          </a:xfrm>
          <a:prstGeom prst="roundRect">
            <a:avLst>
              <a:gd name="adj" fmla="val 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5340096" y="2066543"/>
            <a:ext cx="1307592" cy="182880"/>
          </a:xfrm>
          <a:prstGeom prst="rect">
            <a:avLst/>
          </a:prstGeom>
          <a:noFill/>
        </p:spPr>
        <p:txBody>
          <a:bodyPr wrap="square" lIns="41148" tIns="22860" rIns="41148" bIns="22860" anchor="t">
            <a:spAutoFit/>
          </a:bodyPr>
          <a:lstStyle/>
          <a:p>
            <a:pPr algn="ctr"/>
            <a:r>
              <a:rPr sz="869" b="1" i="0">
                <a:solidFill>
                  <a:srgbClr val="10395C"/>
                </a:solidFill>
                <a:latin typeface="Aptos"/>
              </a:rPr>
              <a:t>CSE101</a:t>
            </a:r>
          </a:p>
        </p:txBody>
      </p:sp>
      <p:sp>
        <p:nvSpPr>
          <p:cNvPr id="67" name="Rounded Rectangle 66"/>
          <p:cNvSpPr/>
          <p:nvPr/>
        </p:nvSpPr>
        <p:spPr>
          <a:xfrm>
            <a:off x="3785615" y="2633472"/>
            <a:ext cx="1307592" cy="512064"/>
          </a:xfrm>
          <a:prstGeom prst="roundRect">
            <a:avLst>
              <a:gd name="adj" fmla="val 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785615" y="2761487"/>
            <a:ext cx="1307592" cy="182880"/>
          </a:xfrm>
          <a:prstGeom prst="rect">
            <a:avLst/>
          </a:prstGeom>
          <a:noFill/>
        </p:spPr>
        <p:txBody>
          <a:bodyPr wrap="square" lIns="41148" tIns="22860" rIns="41148" bIns="22860" anchor="t">
            <a:spAutoFit/>
          </a:bodyPr>
          <a:lstStyle/>
          <a:p>
            <a:pPr algn="ctr"/>
            <a:r>
              <a:rPr sz="869" b="1" i="0">
                <a:solidFill>
                  <a:srgbClr val="10395C"/>
                </a:solidFill>
                <a:latin typeface="Aptos"/>
              </a:rPr>
              <a:t>MAT101</a:t>
            </a:r>
          </a:p>
        </p:txBody>
      </p:sp>
      <p:sp>
        <p:nvSpPr>
          <p:cNvPr id="69" name="Rounded Rectangle 68"/>
          <p:cNvSpPr/>
          <p:nvPr/>
        </p:nvSpPr>
        <p:spPr>
          <a:xfrm>
            <a:off x="6894576" y="2633472"/>
            <a:ext cx="1307592" cy="512064"/>
          </a:xfrm>
          <a:prstGeom prst="roundRect">
            <a:avLst>
              <a:gd name="adj" fmla="val 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TextBox 69"/>
          <p:cNvSpPr txBox="1"/>
          <p:nvPr/>
        </p:nvSpPr>
        <p:spPr>
          <a:xfrm>
            <a:off x="6894576" y="2761487"/>
            <a:ext cx="1307592" cy="182880"/>
          </a:xfrm>
          <a:prstGeom prst="rect">
            <a:avLst/>
          </a:prstGeom>
          <a:noFill/>
        </p:spPr>
        <p:txBody>
          <a:bodyPr wrap="square" lIns="41148" tIns="22860" rIns="41148" bIns="22860" anchor="t">
            <a:spAutoFit/>
          </a:bodyPr>
          <a:lstStyle/>
          <a:p>
            <a:pPr algn="ctr"/>
            <a:r>
              <a:rPr sz="869" b="1" i="0">
                <a:solidFill>
                  <a:srgbClr val="10395C"/>
                </a:solidFill>
                <a:latin typeface="Aptos"/>
              </a:rPr>
              <a:t>MAT101</a:t>
            </a:r>
          </a:p>
        </p:txBody>
      </p:sp>
      <p:sp>
        <p:nvSpPr>
          <p:cNvPr id="71" name="Rounded Rectangle 70"/>
          <p:cNvSpPr/>
          <p:nvPr/>
        </p:nvSpPr>
        <p:spPr>
          <a:xfrm>
            <a:off x="2231136" y="3328416"/>
            <a:ext cx="1307592" cy="512064"/>
          </a:xfrm>
          <a:prstGeom prst="roundRect">
            <a:avLst>
              <a:gd name="adj" fmla="val 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p:cNvSpPr txBox="1"/>
          <p:nvPr/>
        </p:nvSpPr>
        <p:spPr>
          <a:xfrm>
            <a:off x="2231136" y="3456432"/>
            <a:ext cx="1307592" cy="182880"/>
          </a:xfrm>
          <a:prstGeom prst="rect">
            <a:avLst/>
          </a:prstGeom>
          <a:noFill/>
        </p:spPr>
        <p:txBody>
          <a:bodyPr wrap="square" lIns="41148" tIns="22860" rIns="41148" bIns="22860" anchor="t">
            <a:spAutoFit/>
          </a:bodyPr>
          <a:lstStyle/>
          <a:p>
            <a:pPr algn="ctr"/>
            <a:r>
              <a:rPr sz="869" b="1" i="0">
                <a:solidFill>
                  <a:srgbClr val="10395C"/>
                </a:solidFill>
                <a:latin typeface="Aptos"/>
              </a:rPr>
              <a:t>PHY101</a:t>
            </a:r>
          </a:p>
        </p:txBody>
      </p:sp>
      <p:sp>
        <p:nvSpPr>
          <p:cNvPr id="73" name="Rounded Rectangle 72"/>
          <p:cNvSpPr/>
          <p:nvPr/>
        </p:nvSpPr>
        <p:spPr>
          <a:xfrm>
            <a:off x="5340096" y="3328416"/>
            <a:ext cx="1307592" cy="512064"/>
          </a:xfrm>
          <a:prstGeom prst="roundRect">
            <a:avLst>
              <a:gd name="adj" fmla="val 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p:cNvSpPr txBox="1"/>
          <p:nvPr/>
        </p:nvSpPr>
        <p:spPr>
          <a:xfrm>
            <a:off x="5340096" y="3456432"/>
            <a:ext cx="1307592" cy="182880"/>
          </a:xfrm>
          <a:prstGeom prst="rect">
            <a:avLst/>
          </a:prstGeom>
          <a:noFill/>
        </p:spPr>
        <p:txBody>
          <a:bodyPr wrap="square" lIns="41148" tIns="22860" rIns="41148" bIns="22860" anchor="t">
            <a:spAutoFit/>
          </a:bodyPr>
          <a:lstStyle/>
          <a:p>
            <a:pPr algn="ctr"/>
            <a:r>
              <a:rPr sz="869" b="1" i="0">
                <a:solidFill>
                  <a:srgbClr val="10395C"/>
                </a:solidFill>
                <a:latin typeface="Aptos"/>
              </a:rPr>
              <a:t>PHY101</a:t>
            </a:r>
          </a:p>
        </p:txBody>
      </p:sp>
      <p:sp>
        <p:nvSpPr>
          <p:cNvPr id="75" name="Rounded Rectangle 74"/>
          <p:cNvSpPr/>
          <p:nvPr/>
        </p:nvSpPr>
        <p:spPr>
          <a:xfrm>
            <a:off x="10012680" y="1417320"/>
            <a:ext cx="1554480" cy="4315968"/>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TextBox 75"/>
          <p:cNvSpPr txBox="1"/>
          <p:nvPr/>
        </p:nvSpPr>
        <p:spPr>
          <a:xfrm>
            <a:off x="10195560" y="1709928"/>
            <a:ext cx="1188720" cy="230832"/>
          </a:xfrm>
          <a:prstGeom prst="rect">
            <a:avLst/>
          </a:prstGeom>
          <a:noFill/>
        </p:spPr>
        <p:txBody>
          <a:bodyPr wrap="square" lIns="41148" tIns="22860" rIns="41148" bIns="22860" anchor="t">
            <a:spAutoFit/>
          </a:bodyPr>
          <a:lstStyle/>
          <a:p>
            <a:pPr algn="ctr"/>
            <a:r>
              <a:rPr sz="1200" b="1" i="0" dirty="0">
                <a:solidFill>
                  <a:srgbClr val="10395C"/>
                </a:solidFill>
                <a:latin typeface="Aptos"/>
              </a:rPr>
              <a:t>HOW IT HELPS</a:t>
            </a:r>
          </a:p>
        </p:txBody>
      </p:sp>
      <p:sp>
        <p:nvSpPr>
          <p:cNvPr id="77" name="TextBox 76"/>
          <p:cNvSpPr txBox="1"/>
          <p:nvPr/>
        </p:nvSpPr>
        <p:spPr>
          <a:xfrm>
            <a:off x="10131552" y="2212848"/>
            <a:ext cx="1280160" cy="2862322"/>
          </a:xfrm>
          <a:prstGeom prst="rect">
            <a:avLst/>
          </a:prstGeom>
          <a:noFill/>
        </p:spPr>
        <p:txBody>
          <a:bodyPr wrap="square" lIns="36576" rIns="36576">
            <a:spAutoFit/>
          </a:bodyPr>
          <a:lstStyle/>
          <a:p>
            <a:pPr>
              <a:spcAft>
                <a:spcPts val="700"/>
              </a:spcAft>
              <a:defRPr sz="860">
                <a:solidFill>
                  <a:srgbClr val="273D4E"/>
                </a:solidFill>
                <a:latin typeface="Aptos"/>
              </a:defRPr>
            </a:pPr>
            <a:r>
              <a:rPr sz="1200" dirty="0"/>
              <a:t>The weekly grid converts selected courses into one visual plan.</a:t>
            </a:r>
            <a:br>
              <a:rPr sz="1200" dirty="0"/>
            </a:br>
            <a:br>
              <a:rPr sz="1200" dirty="0"/>
            </a:br>
            <a:r>
              <a:rPr sz="1200" dirty="0"/>
              <a:t>In this example, CSE101, MAT101 and PHY101 are placed into specific day/time slots, making free periods and overlaps easier to notice before registration.</a:t>
            </a:r>
          </a:p>
        </p:txBody>
      </p:sp>
      <p:sp>
        <p:nvSpPr>
          <p:cNvPr id="78" name="Rounded Rectangle 77"/>
          <p:cNvSpPr/>
          <p:nvPr/>
        </p:nvSpPr>
        <p:spPr>
          <a:xfrm>
            <a:off x="10241280" y="5230368"/>
            <a:ext cx="1097280"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p:cNvSpPr txBox="1"/>
          <p:nvPr/>
        </p:nvSpPr>
        <p:spPr>
          <a:xfrm>
            <a:off x="10259567" y="5248655"/>
            <a:ext cx="1060704" cy="274320"/>
          </a:xfrm>
          <a:prstGeom prst="rect">
            <a:avLst/>
          </a:prstGeom>
          <a:noFill/>
        </p:spPr>
        <p:txBody>
          <a:bodyPr wrap="square" lIns="41148" tIns="22860" rIns="41148" bIns="22860" anchor="ctr">
            <a:spAutoFit/>
          </a:bodyPr>
          <a:lstStyle/>
          <a:p>
            <a:pPr algn="ctr"/>
            <a:r>
              <a:rPr sz="770" b="1" i="0">
                <a:solidFill>
                  <a:srgbClr val="10395C"/>
                </a:solidFill>
                <a:latin typeface="Aptos"/>
              </a:rPr>
              <a:t>VISUAL PLAN</a:t>
            </a:r>
          </a:p>
        </p:txBody>
      </p:sp>
      <p:sp>
        <p:nvSpPr>
          <p:cNvPr id="80" name="TextBox 79"/>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81" name="TextBox 80"/>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12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4572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24688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00584"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55448"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210312"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6400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12</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Clash Detection Logic</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The key technical rule that prevents overlapping registrations</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417320"/>
            <a:ext cx="5257800" cy="452628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96112" y="1719072"/>
            <a:ext cx="105156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14400" y="1737360"/>
            <a:ext cx="1014983" cy="274320"/>
          </a:xfrm>
          <a:prstGeom prst="rect">
            <a:avLst/>
          </a:prstGeom>
          <a:noFill/>
        </p:spPr>
        <p:txBody>
          <a:bodyPr wrap="square" lIns="41148" tIns="22860" rIns="41148" bIns="22860" anchor="ctr">
            <a:spAutoFit/>
          </a:bodyPr>
          <a:lstStyle/>
          <a:p>
            <a:pPr algn="ctr"/>
            <a:r>
              <a:rPr sz="850" b="1" i="0">
                <a:solidFill>
                  <a:srgbClr val="10395C"/>
                </a:solidFill>
                <a:latin typeface="Aptos"/>
              </a:rPr>
              <a:t>EXAMPLE</a:t>
            </a:r>
          </a:p>
        </p:txBody>
      </p:sp>
      <p:sp>
        <p:nvSpPr>
          <p:cNvPr id="19" name="Rounded Rectangle 18"/>
          <p:cNvSpPr/>
          <p:nvPr/>
        </p:nvSpPr>
        <p:spPr>
          <a:xfrm>
            <a:off x="914400" y="2267712"/>
            <a:ext cx="2788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 y="2286000"/>
            <a:ext cx="2752344" cy="274320"/>
          </a:xfrm>
          <a:prstGeom prst="rect">
            <a:avLst/>
          </a:prstGeom>
          <a:noFill/>
        </p:spPr>
        <p:txBody>
          <a:bodyPr wrap="square" lIns="41148" tIns="22860" rIns="41148" bIns="22860" anchor="ctr">
            <a:spAutoFit/>
          </a:bodyPr>
          <a:lstStyle/>
          <a:p>
            <a:pPr algn="ctr"/>
            <a:r>
              <a:rPr sz="900" b="1" i="0">
                <a:solidFill>
                  <a:srgbClr val="10395C"/>
                </a:solidFill>
                <a:latin typeface="Aptos"/>
              </a:rPr>
              <a:t>CSE101 • Mon 9:00–10:00</a:t>
            </a:r>
          </a:p>
        </p:txBody>
      </p:sp>
      <p:sp>
        <p:nvSpPr>
          <p:cNvPr id="21" name="Rounded Rectangle 20"/>
          <p:cNvSpPr/>
          <p:nvPr/>
        </p:nvSpPr>
        <p:spPr>
          <a:xfrm>
            <a:off x="2240280" y="2926080"/>
            <a:ext cx="2788920" cy="329184"/>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2258568" y="2944368"/>
            <a:ext cx="2752344" cy="274320"/>
          </a:xfrm>
          <a:prstGeom prst="rect">
            <a:avLst/>
          </a:prstGeom>
          <a:noFill/>
        </p:spPr>
        <p:txBody>
          <a:bodyPr wrap="square" lIns="41148" tIns="22860" rIns="41148" bIns="22860" anchor="ctr">
            <a:spAutoFit/>
          </a:bodyPr>
          <a:lstStyle/>
          <a:p>
            <a:pPr algn="ctr"/>
            <a:r>
              <a:rPr sz="900" b="1" i="0">
                <a:solidFill>
                  <a:srgbClr val="10395C"/>
                </a:solidFill>
                <a:latin typeface="Aptos"/>
              </a:rPr>
              <a:t>MAT101 • Mon 9:30–10:30</a:t>
            </a:r>
          </a:p>
        </p:txBody>
      </p:sp>
      <p:sp>
        <p:nvSpPr>
          <p:cNvPr id="24" name="Rounded Rectangle 23"/>
          <p:cNvSpPr/>
          <p:nvPr/>
        </p:nvSpPr>
        <p:spPr>
          <a:xfrm>
            <a:off x="987552" y="4315968"/>
            <a:ext cx="4315968" cy="73152"/>
          </a:xfrm>
          <a:prstGeom prst="roundRect">
            <a:avLst>
              <a:gd name="adj" fmla="val 0"/>
            </a:avLst>
          </a:prstGeom>
          <a:solidFill>
            <a:srgbClr val="5D7684"/>
          </a:solidFill>
          <a:ln>
            <a:solidFill>
              <a:srgbClr val="5D768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86384" y="4526280"/>
            <a:ext cx="411480" cy="201168"/>
          </a:xfrm>
          <a:prstGeom prst="rect">
            <a:avLst/>
          </a:prstGeom>
          <a:noFill/>
        </p:spPr>
        <p:txBody>
          <a:bodyPr wrap="square" lIns="41148" tIns="22860" rIns="41148" bIns="22860" anchor="t">
            <a:spAutoFit/>
          </a:bodyPr>
          <a:lstStyle/>
          <a:p>
            <a:pPr algn="ctr"/>
            <a:r>
              <a:rPr sz="830" b="0" i="0">
                <a:solidFill>
                  <a:srgbClr val="5D7684"/>
                </a:solidFill>
                <a:latin typeface="Aptos"/>
              </a:rPr>
              <a:t>9:00</a:t>
            </a:r>
          </a:p>
        </p:txBody>
      </p:sp>
      <p:sp>
        <p:nvSpPr>
          <p:cNvPr id="26" name="TextBox 25"/>
          <p:cNvSpPr txBox="1"/>
          <p:nvPr/>
        </p:nvSpPr>
        <p:spPr>
          <a:xfrm>
            <a:off x="2194560" y="4526280"/>
            <a:ext cx="411480" cy="201168"/>
          </a:xfrm>
          <a:prstGeom prst="rect">
            <a:avLst/>
          </a:prstGeom>
          <a:noFill/>
        </p:spPr>
        <p:txBody>
          <a:bodyPr wrap="square" lIns="41148" tIns="22860" rIns="41148" bIns="22860" anchor="t">
            <a:spAutoFit/>
          </a:bodyPr>
          <a:lstStyle/>
          <a:p>
            <a:pPr algn="ctr"/>
            <a:r>
              <a:rPr sz="830" b="0" i="0">
                <a:solidFill>
                  <a:srgbClr val="5D7684"/>
                </a:solidFill>
                <a:latin typeface="Aptos"/>
              </a:rPr>
              <a:t>9:30</a:t>
            </a:r>
          </a:p>
        </p:txBody>
      </p:sp>
      <p:sp>
        <p:nvSpPr>
          <p:cNvPr id="27" name="TextBox 26"/>
          <p:cNvSpPr txBox="1"/>
          <p:nvPr/>
        </p:nvSpPr>
        <p:spPr>
          <a:xfrm>
            <a:off x="3639312" y="4526280"/>
            <a:ext cx="411480" cy="201168"/>
          </a:xfrm>
          <a:prstGeom prst="rect">
            <a:avLst/>
          </a:prstGeom>
          <a:noFill/>
        </p:spPr>
        <p:txBody>
          <a:bodyPr wrap="square" lIns="41148" tIns="22860" rIns="41148" bIns="22860" anchor="t">
            <a:spAutoFit/>
          </a:bodyPr>
          <a:lstStyle/>
          <a:p>
            <a:pPr algn="ctr"/>
            <a:r>
              <a:rPr sz="830" b="0" i="0">
                <a:solidFill>
                  <a:srgbClr val="5D7684"/>
                </a:solidFill>
                <a:latin typeface="Aptos"/>
              </a:rPr>
              <a:t>10:00</a:t>
            </a:r>
          </a:p>
        </p:txBody>
      </p:sp>
      <p:sp>
        <p:nvSpPr>
          <p:cNvPr id="28" name="TextBox 27"/>
          <p:cNvSpPr txBox="1"/>
          <p:nvPr/>
        </p:nvSpPr>
        <p:spPr>
          <a:xfrm>
            <a:off x="4846320" y="4526280"/>
            <a:ext cx="411480" cy="201168"/>
          </a:xfrm>
          <a:prstGeom prst="rect">
            <a:avLst/>
          </a:prstGeom>
          <a:noFill/>
        </p:spPr>
        <p:txBody>
          <a:bodyPr wrap="square" lIns="41148" tIns="22860" rIns="41148" bIns="22860" anchor="t">
            <a:spAutoFit/>
          </a:bodyPr>
          <a:lstStyle/>
          <a:p>
            <a:pPr algn="ctr"/>
            <a:r>
              <a:rPr sz="830" b="0" i="0">
                <a:solidFill>
                  <a:srgbClr val="5D7684"/>
                </a:solidFill>
                <a:latin typeface="Aptos"/>
              </a:rPr>
              <a:t>10:30</a:t>
            </a:r>
          </a:p>
        </p:txBody>
      </p:sp>
      <p:sp>
        <p:nvSpPr>
          <p:cNvPr id="29" name="Rounded Rectangle 28"/>
          <p:cNvSpPr/>
          <p:nvPr/>
        </p:nvSpPr>
        <p:spPr>
          <a:xfrm>
            <a:off x="964692" y="4035383"/>
            <a:ext cx="2871216" cy="256032"/>
          </a:xfrm>
          <a:prstGeom prst="roundRect">
            <a:avLst>
              <a:gd name="adj" fmla="val 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2331720" y="3713141"/>
            <a:ext cx="2871216" cy="256032"/>
          </a:xfrm>
          <a:prstGeom prst="roundRect">
            <a:avLst>
              <a:gd name="adj" fmla="val 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200" b="1" dirty="0">
                <a:solidFill>
                  <a:srgbClr val="DA6873"/>
                </a:solidFill>
                <a:latin typeface="Aptos"/>
              </a:rPr>
              <a:t>SAME DAY + OVERLAPPING TIME</a:t>
            </a:r>
          </a:p>
        </p:txBody>
      </p:sp>
      <p:sp>
        <p:nvSpPr>
          <p:cNvPr id="31" name="Rounded Rectangle 30"/>
          <p:cNvSpPr/>
          <p:nvPr/>
        </p:nvSpPr>
        <p:spPr>
          <a:xfrm>
            <a:off x="2194560" y="5047488"/>
            <a:ext cx="1572768" cy="329184"/>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2212848" y="5065775"/>
            <a:ext cx="1536192" cy="274320"/>
          </a:xfrm>
          <a:prstGeom prst="rect">
            <a:avLst/>
          </a:prstGeom>
          <a:noFill/>
        </p:spPr>
        <p:txBody>
          <a:bodyPr wrap="square" lIns="41148" tIns="22860" rIns="41148" bIns="22860" anchor="ctr">
            <a:spAutoFit/>
          </a:bodyPr>
          <a:lstStyle/>
          <a:p>
            <a:pPr algn="ctr"/>
            <a:r>
              <a:rPr sz="900" b="1" i="0">
                <a:solidFill>
                  <a:srgbClr val="DA6873"/>
                </a:solidFill>
                <a:latin typeface="Aptos"/>
              </a:rPr>
              <a:t>CONFLICT</a:t>
            </a:r>
          </a:p>
        </p:txBody>
      </p:sp>
      <p:sp>
        <p:nvSpPr>
          <p:cNvPr id="33" name="Rounded Rectangle 32"/>
          <p:cNvSpPr/>
          <p:nvPr/>
        </p:nvSpPr>
        <p:spPr>
          <a:xfrm>
            <a:off x="6126480" y="1417320"/>
            <a:ext cx="5440680" cy="452628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7543800" y="1719072"/>
            <a:ext cx="2423160"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562088" y="1737360"/>
            <a:ext cx="2386584" cy="274320"/>
          </a:xfrm>
          <a:prstGeom prst="rect">
            <a:avLst/>
          </a:prstGeom>
          <a:noFill/>
        </p:spPr>
        <p:txBody>
          <a:bodyPr wrap="square" lIns="41148" tIns="22860" rIns="41148" bIns="22860" anchor="ctr">
            <a:spAutoFit/>
          </a:bodyPr>
          <a:lstStyle/>
          <a:p>
            <a:pPr algn="ctr"/>
            <a:r>
              <a:rPr sz="869" b="1" i="0">
                <a:solidFill>
                  <a:srgbClr val="10395C"/>
                </a:solidFill>
                <a:latin typeface="Aptos"/>
              </a:rPr>
              <a:t>CORE OVERLAP RULE</a:t>
            </a:r>
          </a:p>
        </p:txBody>
      </p:sp>
      <p:sp>
        <p:nvSpPr>
          <p:cNvPr id="36" name="Rounded Rectangle 35"/>
          <p:cNvSpPr/>
          <p:nvPr/>
        </p:nvSpPr>
        <p:spPr>
          <a:xfrm>
            <a:off x="7406640" y="2377440"/>
            <a:ext cx="1572768"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7424927" y="2395728"/>
            <a:ext cx="1536192" cy="274320"/>
          </a:xfrm>
          <a:prstGeom prst="rect">
            <a:avLst/>
          </a:prstGeom>
          <a:noFill/>
        </p:spPr>
        <p:txBody>
          <a:bodyPr wrap="square" lIns="41148" tIns="22860" rIns="41148" bIns="22860" anchor="ctr">
            <a:spAutoFit/>
          </a:bodyPr>
          <a:lstStyle/>
          <a:p>
            <a:pPr algn="ctr"/>
            <a:r>
              <a:rPr sz="1000" b="1" i="0">
                <a:solidFill>
                  <a:srgbClr val="10395C"/>
                </a:solidFill>
                <a:latin typeface="Aptos"/>
              </a:rPr>
              <a:t>start₁ &lt; end₂</a:t>
            </a:r>
          </a:p>
        </p:txBody>
      </p:sp>
      <p:sp>
        <p:nvSpPr>
          <p:cNvPr id="38" name="Rounded Rectangle 37"/>
          <p:cNvSpPr/>
          <p:nvPr/>
        </p:nvSpPr>
        <p:spPr>
          <a:xfrm>
            <a:off x="9171432" y="2377440"/>
            <a:ext cx="749808"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189719" y="2395728"/>
            <a:ext cx="713231" cy="274320"/>
          </a:xfrm>
          <a:prstGeom prst="rect">
            <a:avLst/>
          </a:prstGeom>
          <a:noFill/>
        </p:spPr>
        <p:txBody>
          <a:bodyPr wrap="square" lIns="41148" tIns="22860" rIns="41148" bIns="22860" anchor="ctr">
            <a:spAutoFit/>
          </a:bodyPr>
          <a:lstStyle/>
          <a:p>
            <a:pPr algn="ctr"/>
            <a:r>
              <a:rPr sz="900" b="1" i="0">
                <a:solidFill>
                  <a:srgbClr val="10395C"/>
                </a:solidFill>
                <a:latin typeface="Aptos"/>
              </a:rPr>
              <a:t>AND</a:t>
            </a:r>
          </a:p>
        </p:txBody>
      </p:sp>
      <p:sp>
        <p:nvSpPr>
          <p:cNvPr id="40" name="Rounded Rectangle 39"/>
          <p:cNvSpPr/>
          <p:nvPr/>
        </p:nvSpPr>
        <p:spPr>
          <a:xfrm>
            <a:off x="10040112" y="2377440"/>
            <a:ext cx="1353312"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0058400" y="2395728"/>
            <a:ext cx="1316736" cy="274320"/>
          </a:xfrm>
          <a:prstGeom prst="rect">
            <a:avLst/>
          </a:prstGeom>
          <a:noFill/>
        </p:spPr>
        <p:txBody>
          <a:bodyPr wrap="square" lIns="41148" tIns="22860" rIns="41148" bIns="22860" anchor="ctr">
            <a:spAutoFit/>
          </a:bodyPr>
          <a:lstStyle/>
          <a:p>
            <a:pPr algn="ctr"/>
            <a:r>
              <a:rPr sz="1000" b="1" i="0">
                <a:solidFill>
                  <a:srgbClr val="10395C"/>
                </a:solidFill>
                <a:latin typeface="Aptos"/>
              </a:rPr>
              <a:t>start₂ &lt; end₁</a:t>
            </a:r>
          </a:p>
        </p:txBody>
      </p:sp>
      <p:sp>
        <p:nvSpPr>
          <p:cNvPr id="42" name="TextBox 41"/>
          <p:cNvSpPr txBox="1"/>
          <p:nvPr/>
        </p:nvSpPr>
        <p:spPr>
          <a:xfrm>
            <a:off x="6675120" y="3090672"/>
            <a:ext cx="4343400" cy="457200"/>
          </a:xfrm>
          <a:prstGeom prst="rect">
            <a:avLst/>
          </a:prstGeom>
          <a:noFill/>
        </p:spPr>
        <p:txBody>
          <a:bodyPr wrap="square" lIns="41148" tIns="22860" rIns="41148" bIns="22860" anchor="t">
            <a:spAutoFit/>
          </a:bodyPr>
          <a:lstStyle/>
          <a:p>
            <a:pPr algn="ctr"/>
            <a:r>
              <a:t>The system first confirms that both classes occur on the same day. It then compares their start and end times; if both conditions are true, the selected courses overlap.</a:t>
            </a:r>
          </a:p>
        </p:txBody>
      </p:sp>
      <p:sp>
        <p:nvSpPr>
          <p:cNvPr id="43" name="Rounded Rectangle 42"/>
          <p:cNvSpPr/>
          <p:nvPr/>
        </p:nvSpPr>
        <p:spPr>
          <a:xfrm>
            <a:off x="6181344" y="390914"/>
            <a:ext cx="3785616" cy="830749"/>
          </a:xfrm>
          <a:prstGeom prst="roundRect">
            <a:avLst>
              <a:gd name="adj" fmla="val 0"/>
            </a:avLst>
          </a:prstGeom>
          <a:solidFill>
            <a:srgbClr val="F1FAFD"/>
          </a:solidFill>
          <a:ln>
            <a:solidFill>
              <a:srgbClr val="F1FA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034665" y="532723"/>
            <a:ext cx="3858768" cy="658368"/>
          </a:xfrm>
          <a:prstGeom prst="rect">
            <a:avLst/>
          </a:prstGeom>
          <a:noFill/>
        </p:spPr>
        <p:txBody>
          <a:bodyPr wrap="square" lIns="41148" tIns="22860" rIns="41148" bIns="22860" anchor="t">
            <a:spAutoFit/>
          </a:bodyPr>
          <a:lstStyle/>
          <a:p>
            <a:pPr algn="ctr"/>
            <a:r>
              <a:rPr sz="1050" b="1" i="0" dirty="0">
                <a:solidFill>
                  <a:srgbClr val="10395C"/>
                </a:solidFill>
                <a:latin typeface="Consolas"/>
              </a:rPr>
              <a:t>if (</a:t>
            </a:r>
            <a:r>
              <a:rPr sz="1050" b="1" i="0" dirty="0" err="1">
                <a:solidFill>
                  <a:srgbClr val="10395C"/>
                </a:solidFill>
                <a:latin typeface="Consolas"/>
              </a:rPr>
              <a:t>sameDay</a:t>
            </a:r>
            <a:r>
              <a:rPr sz="1050" b="1" i="0" dirty="0">
                <a:solidFill>
                  <a:srgbClr val="10395C"/>
                </a:solidFill>
                <a:latin typeface="Consolas"/>
              </a:rPr>
              <a:t> &amp;&amp; start1 &lt; end2 &amp;&amp; start2 &lt; end1)
    conflict = true;</a:t>
            </a:r>
          </a:p>
        </p:txBody>
      </p:sp>
      <p:sp>
        <p:nvSpPr>
          <p:cNvPr id="45" name="Rounded Rectangle 44"/>
          <p:cNvSpPr/>
          <p:nvPr/>
        </p:nvSpPr>
        <p:spPr>
          <a:xfrm>
            <a:off x="7699248" y="5212080"/>
            <a:ext cx="2487168"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7717536" y="5230368"/>
            <a:ext cx="2450592" cy="274320"/>
          </a:xfrm>
          <a:prstGeom prst="rect">
            <a:avLst/>
          </a:prstGeom>
          <a:noFill/>
        </p:spPr>
        <p:txBody>
          <a:bodyPr wrap="square" lIns="41148" tIns="22860" rIns="41148" bIns="22860" anchor="ctr">
            <a:spAutoFit/>
          </a:bodyPr>
          <a:lstStyle/>
          <a:p>
            <a:pPr algn="ctr"/>
            <a:r>
              <a:rPr sz="880" b="1" i="0">
                <a:solidFill>
                  <a:srgbClr val="10395C"/>
                </a:solidFill>
                <a:latin typeface="Aptos"/>
              </a:rPr>
              <a:t>IMMEDIATE FEEDBACK</a:t>
            </a:r>
          </a:p>
        </p:txBody>
      </p:sp>
      <p:sp>
        <p:nvSpPr>
          <p:cNvPr id="47" name="TextBox 46"/>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48" name="TextBox 47"/>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13</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1129284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1149400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1146536"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1402567"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11036808"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1131112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13</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Registration &amp; Drop Course</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t>The selected plan is validated before the registration record is updated.</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417320"/>
            <a:ext cx="5120640" cy="45537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14400" y="1719072"/>
            <a:ext cx="1755648"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32688" y="1737360"/>
            <a:ext cx="1719072" cy="274320"/>
          </a:xfrm>
          <a:prstGeom prst="rect">
            <a:avLst/>
          </a:prstGeom>
          <a:noFill/>
        </p:spPr>
        <p:txBody>
          <a:bodyPr wrap="square" lIns="41148" tIns="22860" rIns="41148" bIns="22860" anchor="ctr">
            <a:spAutoFit/>
          </a:bodyPr>
          <a:lstStyle/>
          <a:p>
            <a:pPr algn="ctr"/>
            <a:r>
              <a:rPr sz="869" b="1" i="0">
                <a:solidFill>
                  <a:srgbClr val="10395C"/>
                </a:solidFill>
                <a:latin typeface="Aptos"/>
              </a:rPr>
              <a:t>SELECTED COURSES</a:t>
            </a:r>
          </a:p>
        </p:txBody>
      </p:sp>
      <p:sp>
        <p:nvSpPr>
          <p:cNvPr id="19" name="Rounded Rectangle 18"/>
          <p:cNvSpPr/>
          <p:nvPr/>
        </p:nvSpPr>
        <p:spPr>
          <a:xfrm>
            <a:off x="914400" y="2267712"/>
            <a:ext cx="4462272" cy="438912"/>
          </a:xfrm>
          <a:prstGeom prst="roundRect">
            <a:avLst>
              <a:gd name="adj" fmla="val 0"/>
            </a:avLst>
          </a:prstGeom>
          <a:solidFill>
            <a:srgbClr val="F1FAFD"/>
          </a:solidFill>
          <a:ln>
            <a:solidFill>
              <a:srgbClr val="F1FA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078992" y="2359152"/>
            <a:ext cx="749808" cy="182880"/>
          </a:xfrm>
          <a:prstGeom prst="rect">
            <a:avLst/>
          </a:prstGeom>
          <a:noFill/>
        </p:spPr>
        <p:txBody>
          <a:bodyPr wrap="square" lIns="41148" tIns="22860" rIns="41148" bIns="22860" anchor="t">
            <a:spAutoFit/>
          </a:bodyPr>
          <a:lstStyle/>
          <a:p>
            <a:pPr algn="l"/>
            <a:r>
              <a:rPr sz="980" b="1" i="0">
                <a:solidFill>
                  <a:srgbClr val="10395C"/>
                </a:solidFill>
                <a:latin typeface="Aptos"/>
              </a:rPr>
              <a:t>CSE101</a:t>
            </a:r>
          </a:p>
        </p:txBody>
      </p:sp>
      <p:sp>
        <p:nvSpPr>
          <p:cNvPr id="21" name="TextBox 20"/>
          <p:cNvSpPr txBox="1"/>
          <p:nvPr/>
        </p:nvSpPr>
        <p:spPr>
          <a:xfrm>
            <a:off x="1856231" y="2359152"/>
            <a:ext cx="2331720" cy="182880"/>
          </a:xfrm>
          <a:prstGeom prst="rect">
            <a:avLst/>
          </a:prstGeom>
          <a:noFill/>
        </p:spPr>
        <p:txBody>
          <a:bodyPr wrap="square" lIns="41148" tIns="22860" rIns="41148" bIns="22860" anchor="t">
            <a:spAutoFit/>
          </a:bodyPr>
          <a:lstStyle/>
          <a:p>
            <a:pPr algn="l"/>
            <a:r>
              <a:rPr sz="980" b="0" i="0">
                <a:solidFill>
                  <a:srgbClr val="273D4E"/>
                </a:solidFill>
                <a:latin typeface="Aptos"/>
              </a:rPr>
              <a:t>Programming</a:t>
            </a:r>
          </a:p>
        </p:txBody>
      </p:sp>
      <p:sp>
        <p:nvSpPr>
          <p:cNvPr id="22" name="TextBox 21"/>
          <p:cNvSpPr txBox="1"/>
          <p:nvPr/>
        </p:nvSpPr>
        <p:spPr>
          <a:xfrm>
            <a:off x="4498848" y="2359152"/>
            <a:ext cx="658368" cy="182880"/>
          </a:xfrm>
          <a:prstGeom prst="rect">
            <a:avLst/>
          </a:prstGeom>
          <a:noFill/>
        </p:spPr>
        <p:txBody>
          <a:bodyPr wrap="square" lIns="41148" tIns="22860" rIns="41148" bIns="22860" anchor="t">
            <a:spAutoFit/>
          </a:bodyPr>
          <a:lstStyle/>
          <a:p>
            <a:pPr algn="r"/>
            <a:r>
              <a:rPr sz="880" b="0" i="0">
                <a:solidFill>
                  <a:srgbClr val="5D7684"/>
                </a:solidFill>
                <a:latin typeface="Aptos"/>
              </a:rPr>
              <a:t>4 credits</a:t>
            </a:r>
          </a:p>
        </p:txBody>
      </p:sp>
      <p:sp>
        <p:nvSpPr>
          <p:cNvPr id="23" name="Rounded Rectangle 22"/>
          <p:cNvSpPr/>
          <p:nvPr/>
        </p:nvSpPr>
        <p:spPr>
          <a:xfrm>
            <a:off x="914400" y="2834640"/>
            <a:ext cx="4462272" cy="438912"/>
          </a:xfrm>
          <a:prstGeom prst="roundRect">
            <a:avLst>
              <a:gd name="adj" fmla="val 0"/>
            </a:avLst>
          </a:prstGeom>
          <a:solidFill>
            <a:srgbClr val="F1FAFD"/>
          </a:solidFill>
          <a:ln>
            <a:solidFill>
              <a:srgbClr val="F1FA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078992" y="2926080"/>
            <a:ext cx="749808" cy="182880"/>
          </a:xfrm>
          <a:prstGeom prst="rect">
            <a:avLst/>
          </a:prstGeom>
          <a:noFill/>
        </p:spPr>
        <p:txBody>
          <a:bodyPr wrap="square" lIns="41148" tIns="22860" rIns="41148" bIns="22860" anchor="t">
            <a:spAutoFit/>
          </a:bodyPr>
          <a:lstStyle/>
          <a:p>
            <a:pPr algn="l"/>
            <a:r>
              <a:rPr sz="980" b="1" i="0">
                <a:solidFill>
                  <a:srgbClr val="10395C"/>
                </a:solidFill>
                <a:latin typeface="Aptos"/>
              </a:rPr>
              <a:t>MAT101</a:t>
            </a:r>
          </a:p>
        </p:txBody>
      </p:sp>
      <p:sp>
        <p:nvSpPr>
          <p:cNvPr id="25" name="TextBox 24"/>
          <p:cNvSpPr txBox="1"/>
          <p:nvPr/>
        </p:nvSpPr>
        <p:spPr>
          <a:xfrm>
            <a:off x="1856231" y="2926080"/>
            <a:ext cx="2331720" cy="182880"/>
          </a:xfrm>
          <a:prstGeom prst="rect">
            <a:avLst/>
          </a:prstGeom>
          <a:noFill/>
        </p:spPr>
        <p:txBody>
          <a:bodyPr wrap="square" lIns="41148" tIns="22860" rIns="41148" bIns="22860" anchor="t">
            <a:spAutoFit/>
          </a:bodyPr>
          <a:lstStyle/>
          <a:p>
            <a:pPr algn="l"/>
            <a:r>
              <a:rPr sz="980" b="0" i="0">
                <a:solidFill>
                  <a:srgbClr val="273D4E"/>
                </a:solidFill>
                <a:latin typeface="Aptos"/>
              </a:rPr>
              <a:t>Mathematics</a:t>
            </a:r>
          </a:p>
        </p:txBody>
      </p:sp>
      <p:sp>
        <p:nvSpPr>
          <p:cNvPr id="26" name="TextBox 25"/>
          <p:cNvSpPr txBox="1"/>
          <p:nvPr/>
        </p:nvSpPr>
        <p:spPr>
          <a:xfrm>
            <a:off x="4498848" y="2926080"/>
            <a:ext cx="658368" cy="182880"/>
          </a:xfrm>
          <a:prstGeom prst="rect">
            <a:avLst/>
          </a:prstGeom>
          <a:noFill/>
        </p:spPr>
        <p:txBody>
          <a:bodyPr wrap="square" lIns="41148" tIns="22860" rIns="41148" bIns="22860" anchor="t">
            <a:spAutoFit/>
          </a:bodyPr>
          <a:lstStyle/>
          <a:p>
            <a:pPr algn="r"/>
            <a:r>
              <a:rPr sz="880" b="0" i="0">
                <a:solidFill>
                  <a:srgbClr val="5D7684"/>
                </a:solidFill>
                <a:latin typeface="Aptos"/>
              </a:rPr>
              <a:t>3 credits</a:t>
            </a:r>
          </a:p>
        </p:txBody>
      </p:sp>
      <p:sp>
        <p:nvSpPr>
          <p:cNvPr id="27" name="Rounded Rectangle 26"/>
          <p:cNvSpPr/>
          <p:nvPr/>
        </p:nvSpPr>
        <p:spPr>
          <a:xfrm>
            <a:off x="914400" y="3401568"/>
            <a:ext cx="4462272" cy="438912"/>
          </a:xfrm>
          <a:prstGeom prst="roundRect">
            <a:avLst>
              <a:gd name="adj" fmla="val 0"/>
            </a:avLst>
          </a:prstGeom>
          <a:solidFill>
            <a:srgbClr val="F1FAFD"/>
          </a:solidFill>
          <a:ln>
            <a:solidFill>
              <a:srgbClr val="F1FA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1078992" y="3493008"/>
            <a:ext cx="749808" cy="182880"/>
          </a:xfrm>
          <a:prstGeom prst="rect">
            <a:avLst/>
          </a:prstGeom>
          <a:noFill/>
        </p:spPr>
        <p:txBody>
          <a:bodyPr wrap="square" lIns="41148" tIns="22860" rIns="41148" bIns="22860" anchor="t">
            <a:spAutoFit/>
          </a:bodyPr>
          <a:lstStyle/>
          <a:p>
            <a:pPr algn="l"/>
            <a:r>
              <a:rPr sz="980" b="1" i="0">
                <a:solidFill>
                  <a:srgbClr val="10395C"/>
                </a:solidFill>
                <a:latin typeface="Aptos"/>
              </a:rPr>
              <a:t>PHY101</a:t>
            </a:r>
          </a:p>
        </p:txBody>
      </p:sp>
      <p:sp>
        <p:nvSpPr>
          <p:cNvPr id="29" name="TextBox 28"/>
          <p:cNvSpPr txBox="1"/>
          <p:nvPr/>
        </p:nvSpPr>
        <p:spPr>
          <a:xfrm>
            <a:off x="1856231" y="3493008"/>
            <a:ext cx="2331720" cy="182880"/>
          </a:xfrm>
          <a:prstGeom prst="rect">
            <a:avLst/>
          </a:prstGeom>
          <a:noFill/>
        </p:spPr>
        <p:txBody>
          <a:bodyPr wrap="square" lIns="41148" tIns="22860" rIns="41148" bIns="22860" anchor="t">
            <a:spAutoFit/>
          </a:bodyPr>
          <a:lstStyle/>
          <a:p>
            <a:pPr algn="l"/>
            <a:r>
              <a:rPr sz="980" b="0" i="0">
                <a:solidFill>
                  <a:srgbClr val="273D4E"/>
                </a:solidFill>
                <a:latin typeface="Aptos"/>
              </a:rPr>
              <a:t>Physics</a:t>
            </a:r>
          </a:p>
        </p:txBody>
      </p:sp>
      <p:sp>
        <p:nvSpPr>
          <p:cNvPr id="30" name="TextBox 29"/>
          <p:cNvSpPr txBox="1"/>
          <p:nvPr/>
        </p:nvSpPr>
        <p:spPr>
          <a:xfrm>
            <a:off x="4498848" y="3493008"/>
            <a:ext cx="658368" cy="182880"/>
          </a:xfrm>
          <a:prstGeom prst="rect">
            <a:avLst/>
          </a:prstGeom>
          <a:noFill/>
        </p:spPr>
        <p:txBody>
          <a:bodyPr wrap="square" lIns="41148" tIns="22860" rIns="41148" bIns="22860" anchor="t">
            <a:spAutoFit/>
          </a:bodyPr>
          <a:lstStyle/>
          <a:p>
            <a:pPr algn="r"/>
            <a:r>
              <a:rPr sz="880" b="0" i="0">
                <a:solidFill>
                  <a:srgbClr val="5D7684"/>
                </a:solidFill>
                <a:latin typeface="Aptos"/>
              </a:rPr>
              <a:t>3 credits</a:t>
            </a:r>
          </a:p>
        </p:txBody>
      </p:sp>
      <p:sp>
        <p:nvSpPr>
          <p:cNvPr id="31" name="Rounded Rectangle 30"/>
          <p:cNvSpPr/>
          <p:nvPr/>
        </p:nvSpPr>
        <p:spPr>
          <a:xfrm>
            <a:off x="914400" y="3968496"/>
            <a:ext cx="4462272" cy="438912"/>
          </a:xfrm>
          <a:prstGeom prst="roundRect">
            <a:avLst>
              <a:gd name="adj" fmla="val 0"/>
            </a:avLst>
          </a:prstGeom>
          <a:solidFill>
            <a:srgbClr val="F1FAFD"/>
          </a:solidFill>
          <a:ln>
            <a:solidFill>
              <a:srgbClr val="F1FAF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078992" y="4059935"/>
            <a:ext cx="749808" cy="182880"/>
          </a:xfrm>
          <a:prstGeom prst="rect">
            <a:avLst/>
          </a:prstGeom>
          <a:noFill/>
        </p:spPr>
        <p:txBody>
          <a:bodyPr wrap="square" lIns="41148" tIns="22860" rIns="41148" bIns="22860" anchor="t">
            <a:spAutoFit/>
          </a:bodyPr>
          <a:lstStyle/>
          <a:p>
            <a:pPr algn="l"/>
            <a:r>
              <a:rPr sz="980" b="1" i="0">
                <a:solidFill>
                  <a:srgbClr val="10395C"/>
                </a:solidFill>
                <a:latin typeface="Aptos"/>
              </a:rPr>
              <a:t>ENG101</a:t>
            </a:r>
          </a:p>
        </p:txBody>
      </p:sp>
      <p:sp>
        <p:nvSpPr>
          <p:cNvPr id="33" name="TextBox 32"/>
          <p:cNvSpPr txBox="1"/>
          <p:nvPr/>
        </p:nvSpPr>
        <p:spPr>
          <a:xfrm>
            <a:off x="1856231" y="4059935"/>
            <a:ext cx="2331720" cy="182880"/>
          </a:xfrm>
          <a:prstGeom prst="rect">
            <a:avLst/>
          </a:prstGeom>
          <a:noFill/>
        </p:spPr>
        <p:txBody>
          <a:bodyPr wrap="square" lIns="41148" tIns="22860" rIns="41148" bIns="22860" anchor="t">
            <a:spAutoFit/>
          </a:bodyPr>
          <a:lstStyle/>
          <a:p>
            <a:pPr algn="l"/>
            <a:r>
              <a:rPr sz="980" b="0" i="0">
                <a:solidFill>
                  <a:srgbClr val="273D4E"/>
                </a:solidFill>
                <a:latin typeface="Aptos"/>
              </a:rPr>
              <a:t>English</a:t>
            </a:r>
          </a:p>
        </p:txBody>
      </p:sp>
      <p:sp>
        <p:nvSpPr>
          <p:cNvPr id="34" name="TextBox 33"/>
          <p:cNvSpPr txBox="1"/>
          <p:nvPr/>
        </p:nvSpPr>
        <p:spPr>
          <a:xfrm>
            <a:off x="4498848" y="4059935"/>
            <a:ext cx="658368" cy="182880"/>
          </a:xfrm>
          <a:prstGeom prst="rect">
            <a:avLst/>
          </a:prstGeom>
          <a:noFill/>
        </p:spPr>
        <p:txBody>
          <a:bodyPr wrap="square" lIns="41148" tIns="22860" rIns="41148" bIns="22860" anchor="t">
            <a:spAutoFit/>
          </a:bodyPr>
          <a:lstStyle/>
          <a:p>
            <a:pPr algn="r"/>
            <a:r>
              <a:rPr sz="880" b="0" i="0">
                <a:solidFill>
                  <a:srgbClr val="5D7684"/>
                </a:solidFill>
                <a:latin typeface="Aptos"/>
              </a:rPr>
              <a:t>2 credits</a:t>
            </a:r>
          </a:p>
        </p:txBody>
      </p:sp>
      <p:sp>
        <p:nvSpPr>
          <p:cNvPr id="35" name="Rounded Rectangle 34"/>
          <p:cNvSpPr/>
          <p:nvPr/>
        </p:nvSpPr>
        <p:spPr>
          <a:xfrm>
            <a:off x="1325880" y="4800600"/>
            <a:ext cx="2331720"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344168" y="4818888"/>
            <a:ext cx="2295144" cy="274320"/>
          </a:xfrm>
          <a:prstGeom prst="rect">
            <a:avLst/>
          </a:prstGeom>
          <a:noFill/>
        </p:spPr>
        <p:txBody>
          <a:bodyPr wrap="square" lIns="41148" tIns="22860" rIns="41148" bIns="22860" anchor="ctr">
            <a:spAutoFit/>
          </a:bodyPr>
          <a:lstStyle/>
          <a:p>
            <a:pPr algn="ctr"/>
            <a:r>
              <a:rPr sz="950" b="1" i="0">
                <a:solidFill>
                  <a:srgbClr val="10395C"/>
                </a:solidFill>
                <a:latin typeface="Aptos"/>
              </a:rPr>
              <a:t>TOTAL CREDITS: 12</a:t>
            </a:r>
          </a:p>
        </p:txBody>
      </p:sp>
      <p:sp>
        <p:nvSpPr>
          <p:cNvPr id="37" name="Rounded Rectangle 36"/>
          <p:cNvSpPr/>
          <p:nvPr/>
        </p:nvSpPr>
        <p:spPr>
          <a:xfrm>
            <a:off x="3822191" y="4800600"/>
            <a:ext cx="14173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3840479" y="4818888"/>
            <a:ext cx="1380744" cy="274320"/>
          </a:xfrm>
          <a:prstGeom prst="rect">
            <a:avLst/>
          </a:prstGeom>
          <a:noFill/>
        </p:spPr>
        <p:txBody>
          <a:bodyPr wrap="square" lIns="41148" tIns="22860" rIns="41148" bIns="22860" anchor="ctr">
            <a:spAutoFit/>
          </a:bodyPr>
          <a:lstStyle/>
          <a:p>
            <a:pPr algn="ctr"/>
            <a:r>
              <a:rPr sz="869" b="1" i="0">
                <a:solidFill>
                  <a:srgbClr val="10395C"/>
                </a:solidFill>
                <a:latin typeface="Aptos"/>
              </a:rPr>
              <a:t>REGISTER ALL</a:t>
            </a:r>
          </a:p>
        </p:txBody>
      </p:sp>
      <p:sp>
        <p:nvSpPr>
          <p:cNvPr id="39" name="Rounded Rectangle 38"/>
          <p:cNvSpPr/>
          <p:nvPr/>
        </p:nvSpPr>
        <p:spPr>
          <a:xfrm>
            <a:off x="6080760" y="1417320"/>
            <a:ext cx="5486400" cy="45537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ounded Rectangle 39"/>
          <p:cNvSpPr/>
          <p:nvPr/>
        </p:nvSpPr>
        <p:spPr>
          <a:xfrm>
            <a:off x="6446520" y="1719072"/>
            <a:ext cx="2286000"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464807" y="1737360"/>
            <a:ext cx="2249424" cy="274320"/>
          </a:xfrm>
          <a:prstGeom prst="rect">
            <a:avLst/>
          </a:prstGeom>
          <a:noFill/>
        </p:spPr>
        <p:txBody>
          <a:bodyPr wrap="square" lIns="41148" tIns="22860" rIns="41148" bIns="22860" anchor="ctr">
            <a:spAutoFit/>
          </a:bodyPr>
          <a:lstStyle/>
          <a:p>
            <a:pPr algn="ctr"/>
            <a:r>
              <a:t>WHY THESE CHECKS MATTER</a:t>
            </a:r>
          </a:p>
        </p:txBody>
      </p:sp>
      <p:sp>
        <p:nvSpPr>
          <p:cNvPr id="42" name="Oval 41"/>
          <p:cNvSpPr/>
          <p:nvPr/>
        </p:nvSpPr>
        <p:spPr>
          <a:xfrm>
            <a:off x="6537960" y="2331720"/>
            <a:ext cx="347472" cy="34747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537960" y="2331720"/>
            <a:ext cx="347472" cy="347472"/>
          </a:xfrm>
          <a:prstGeom prst="rect">
            <a:avLst/>
          </a:prstGeom>
          <a:noFill/>
        </p:spPr>
        <p:txBody>
          <a:bodyPr wrap="square" lIns="41148" tIns="22860" rIns="41148" bIns="22860" anchor="ctr">
            <a:spAutoFit/>
          </a:bodyPr>
          <a:lstStyle/>
          <a:p>
            <a:pPr algn="ctr"/>
            <a:r>
              <a:rPr sz="1100" b="1" i="0">
                <a:solidFill>
                  <a:srgbClr val="499D7E"/>
                </a:solidFill>
                <a:latin typeface="Aptos"/>
              </a:rPr>
              <a:t>✓</a:t>
            </a:r>
          </a:p>
        </p:txBody>
      </p:sp>
      <p:sp>
        <p:nvSpPr>
          <p:cNvPr id="44" name="TextBox 43"/>
          <p:cNvSpPr txBox="1"/>
          <p:nvPr/>
        </p:nvSpPr>
        <p:spPr>
          <a:xfrm>
            <a:off x="7059168" y="2359151"/>
            <a:ext cx="3840480" cy="256032"/>
          </a:xfrm>
          <a:prstGeom prst="rect">
            <a:avLst/>
          </a:prstGeom>
          <a:noFill/>
        </p:spPr>
        <p:txBody>
          <a:bodyPr wrap="square" lIns="41148" tIns="22860" rIns="41148" bIns="22860" anchor="t">
            <a:spAutoFit/>
          </a:bodyPr>
          <a:lstStyle/>
          <a:p>
            <a:pPr algn="l"/>
            <a:r>
              <a:rPr sz="1090" b="0" i="0">
                <a:solidFill>
                  <a:srgbClr val="273D4E"/>
                </a:solidFill>
                <a:latin typeface="Aptos"/>
              </a:rPr>
              <a:t>Seats are available</a:t>
            </a:r>
          </a:p>
        </p:txBody>
      </p:sp>
      <p:sp>
        <p:nvSpPr>
          <p:cNvPr id="45" name="Oval 44"/>
          <p:cNvSpPr/>
          <p:nvPr/>
        </p:nvSpPr>
        <p:spPr>
          <a:xfrm>
            <a:off x="6537960" y="2944368"/>
            <a:ext cx="347472" cy="34747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6537960" y="2944368"/>
            <a:ext cx="347472" cy="347472"/>
          </a:xfrm>
          <a:prstGeom prst="rect">
            <a:avLst/>
          </a:prstGeom>
          <a:noFill/>
        </p:spPr>
        <p:txBody>
          <a:bodyPr wrap="square" lIns="41148" tIns="22860" rIns="41148" bIns="22860" anchor="ctr">
            <a:spAutoFit/>
          </a:bodyPr>
          <a:lstStyle/>
          <a:p>
            <a:pPr algn="ctr"/>
            <a:r>
              <a:rPr sz="1100" b="1" i="0">
                <a:solidFill>
                  <a:srgbClr val="499D7E"/>
                </a:solidFill>
                <a:latin typeface="Aptos"/>
              </a:rPr>
              <a:t>✓</a:t>
            </a:r>
          </a:p>
        </p:txBody>
      </p:sp>
      <p:sp>
        <p:nvSpPr>
          <p:cNvPr id="47" name="TextBox 46"/>
          <p:cNvSpPr txBox="1"/>
          <p:nvPr/>
        </p:nvSpPr>
        <p:spPr>
          <a:xfrm>
            <a:off x="7059168" y="2971799"/>
            <a:ext cx="3840480" cy="256032"/>
          </a:xfrm>
          <a:prstGeom prst="rect">
            <a:avLst/>
          </a:prstGeom>
          <a:noFill/>
        </p:spPr>
        <p:txBody>
          <a:bodyPr wrap="square" lIns="41148" tIns="22860" rIns="41148" bIns="22860" anchor="t">
            <a:spAutoFit/>
          </a:bodyPr>
          <a:lstStyle/>
          <a:p>
            <a:pPr algn="l"/>
            <a:r>
              <a:rPr sz="1090" b="0" i="0">
                <a:solidFill>
                  <a:srgbClr val="273D4E"/>
                </a:solidFill>
                <a:latin typeface="Aptos"/>
              </a:rPr>
              <a:t>No timetable conflict</a:t>
            </a:r>
          </a:p>
        </p:txBody>
      </p:sp>
      <p:sp>
        <p:nvSpPr>
          <p:cNvPr id="48" name="Oval 47"/>
          <p:cNvSpPr/>
          <p:nvPr/>
        </p:nvSpPr>
        <p:spPr>
          <a:xfrm>
            <a:off x="6537960" y="3557015"/>
            <a:ext cx="347472" cy="34747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537960" y="3557015"/>
            <a:ext cx="347472" cy="347472"/>
          </a:xfrm>
          <a:prstGeom prst="rect">
            <a:avLst/>
          </a:prstGeom>
          <a:noFill/>
        </p:spPr>
        <p:txBody>
          <a:bodyPr wrap="square" lIns="41148" tIns="22860" rIns="41148" bIns="22860" anchor="ctr">
            <a:spAutoFit/>
          </a:bodyPr>
          <a:lstStyle/>
          <a:p>
            <a:pPr algn="ctr"/>
            <a:r>
              <a:rPr sz="1100" b="1" i="0">
                <a:solidFill>
                  <a:srgbClr val="499D7E"/>
                </a:solidFill>
                <a:latin typeface="Aptos"/>
              </a:rPr>
              <a:t>✓</a:t>
            </a:r>
          </a:p>
        </p:txBody>
      </p:sp>
      <p:sp>
        <p:nvSpPr>
          <p:cNvPr id="50" name="TextBox 49"/>
          <p:cNvSpPr txBox="1"/>
          <p:nvPr/>
        </p:nvSpPr>
        <p:spPr>
          <a:xfrm>
            <a:off x="7059168" y="3584447"/>
            <a:ext cx="3840480" cy="256032"/>
          </a:xfrm>
          <a:prstGeom prst="rect">
            <a:avLst/>
          </a:prstGeom>
          <a:noFill/>
        </p:spPr>
        <p:txBody>
          <a:bodyPr wrap="square" lIns="41148" tIns="22860" rIns="41148" bIns="22860" anchor="t">
            <a:spAutoFit/>
          </a:bodyPr>
          <a:lstStyle/>
          <a:p>
            <a:pPr algn="l"/>
            <a:r>
              <a:rPr sz="1090" b="0" i="0">
                <a:solidFill>
                  <a:srgbClr val="273D4E"/>
                </a:solidFill>
                <a:latin typeface="Aptos"/>
              </a:rPr>
              <a:t>Credit limit is not exceeded</a:t>
            </a:r>
          </a:p>
        </p:txBody>
      </p:sp>
      <p:sp>
        <p:nvSpPr>
          <p:cNvPr id="51" name="Oval 50"/>
          <p:cNvSpPr/>
          <p:nvPr/>
        </p:nvSpPr>
        <p:spPr>
          <a:xfrm>
            <a:off x="6537960" y="4169664"/>
            <a:ext cx="347472" cy="347472"/>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6537960" y="4169664"/>
            <a:ext cx="347472" cy="347472"/>
          </a:xfrm>
          <a:prstGeom prst="rect">
            <a:avLst/>
          </a:prstGeom>
          <a:noFill/>
        </p:spPr>
        <p:txBody>
          <a:bodyPr wrap="square" lIns="41148" tIns="22860" rIns="41148" bIns="22860" anchor="ctr">
            <a:spAutoFit/>
          </a:bodyPr>
          <a:lstStyle/>
          <a:p>
            <a:pPr algn="ctr"/>
            <a:r>
              <a:rPr sz="1100" b="1" i="0">
                <a:solidFill>
                  <a:srgbClr val="499D7E"/>
                </a:solidFill>
                <a:latin typeface="Aptos"/>
              </a:rPr>
              <a:t>✓</a:t>
            </a:r>
          </a:p>
        </p:txBody>
      </p:sp>
      <p:sp>
        <p:nvSpPr>
          <p:cNvPr id="53" name="TextBox 52"/>
          <p:cNvSpPr txBox="1"/>
          <p:nvPr/>
        </p:nvSpPr>
        <p:spPr>
          <a:xfrm>
            <a:off x="7059168" y="4197096"/>
            <a:ext cx="3840480" cy="256032"/>
          </a:xfrm>
          <a:prstGeom prst="rect">
            <a:avLst/>
          </a:prstGeom>
          <a:noFill/>
        </p:spPr>
        <p:txBody>
          <a:bodyPr wrap="square" lIns="41148" tIns="22860" rIns="41148" bIns="22860" anchor="t">
            <a:spAutoFit/>
          </a:bodyPr>
          <a:lstStyle/>
          <a:p>
            <a:pPr algn="l"/>
            <a:r>
              <a:rPr sz="1090" b="0" i="0">
                <a:solidFill>
                  <a:srgbClr val="273D4E"/>
                </a:solidFill>
                <a:latin typeface="Aptos"/>
              </a:rPr>
              <a:t>Prerequisites are satisfied</a:t>
            </a:r>
          </a:p>
        </p:txBody>
      </p:sp>
      <p:sp>
        <p:nvSpPr>
          <p:cNvPr id="54" name="Rounded Rectangle 53"/>
          <p:cNvSpPr/>
          <p:nvPr/>
        </p:nvSpPr>
        <p:spPr>
          <a:xfrm>
            <a:off x="7479792" y="5010912"/>
            <a:ext cx="1508760" cy="329184"/>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7498079" y="5029200"/>
            <a:ext cx="1472184" cy="274320"/>
          </a:xfrm>
          <a:prstGeom prst="rect">
            <a:avLst/>
          </a:prstGeom>
          <a:noFill/>
        </p:spPr>
        <p:txBody>
          <a:bodyPr wrap="square" lIns="41148" tIns="22860" rIns="41148" bIns="22860" anchor="ctr">
            <a:spAutoFit/>
          </a:bodyPr>
          <a:lstStyle/>
          <a:p>
            <a:pPr algn="ctr"/>
            <a:r>
              <a:rPr sz="869" b="1" i="0">
                <a:solidFill>
                  <a:srgbClr val="DA6873"/>
                </a:solidFill>
                <a:latin typeface="Aptos"/>
              </a:rPr>
              <a:t>DROP COURSE</a:t>
            </a:r>
          </a:p>
        </p:txBody>
      </p:sp>
      <p:sp>
        <p:nvSpPr>
          <p:cNvPr id="56" name="TextBox 55"/>
          <p:cNvSpPr txBox="1"/>
          <p:nvPr/>
        </p:nvSpPr>
        <p:spPr>
          <a:xfrm>
            <a:off x="6675120" y="5477256"/>
            <a:ext cx="4251960" cy="477054"/>
          </a:xfrm>
          <a:prstGeom prst="rect">
            <a:avLst/>
          </a:prstGeom>
          <a:noFill/>
        </p:spPr>
        <p:txBody>
          <a:bodyPr wrap="square" lIns="41148" tIns="22860" rIns="41148" bIns="22860" anchor="t">
            <a:spAutoFit/>
          </a:bodyPr>
          <a:lstStyle/>
          <a:p>
            <a:pPr algn="ctr"/>
            <a:r>
              <a:rPr sz="1400" dirty="0"/>
              <a:t>These checks stop an invalid plan from being saved. Confirmation also reduces accidental course removal.</a:t>
            </a:r>
          </a:p>
        </p:txBody>
      </p:sp>
      <p:sp>
        <p:nvSpPr>
          <p:cNvPr id="57" name="TextBox 56"/>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58" name="TextBox 57"/>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14</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4572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24688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00584"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55448"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210312"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6400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14</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Database Design &amp; ER Diagram</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A relational model connects students, courses and schedules</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572768"/>
            <a:ext cx="2514600" cy="141732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758952" y="1737360"/>
            <a:ext cx="2185416"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7240" y="1755648"/>
            <a:ext cx="2148840" cy="274320"/>
          </a:xfrm>
          <a:prstGeom prst="rect">
            <a:avLst/>
          </a:prstGeom>
          <a:noFill/>
        </p:spPr>
        <p:txBody>
          <a:bodyPr wrap="square" lIns="41148" tIns="22860" rIns="41148" bIns="22860" anchor="ctr">
            <a:spAutoFit/>
          </a:bodyPr>
          <a:lstStyle/>
          <a:p>
            <a:pPr algn="ctr"/>
            <a:r>
              <a:rPr sz="860" b="1" i="0">
                <a:solidFill>
                  <a:srgbClr val="10395C"/>
                </a:solidFill>
                <a:latin typeface="Aptos"/>
              </a:rPr>
              <a:t>STUDENT</a:t>
            </a:r>
          </a:p>
        </p:txBody>
      </p:sp>
      <p:sp>
        <p:nvSpPr>
          <p:cNvPr id="19" name="TextBox 18"/>
          <p:cNvSpPr txBox="1"/>
          <p:nvPr/>
        </p:nvSpPr>
        <p:spPr>
          <a:xfrm>
            <a:off x="813816" y="21579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student_id PK</a:t>
            </a:r>
          </a:p>
        </p:txBody>
      </p:sp>
      <p:sp>
        <p:nvSpPr>
          <p:cNvPr id="20" name="TextBox 19"/>
          <p:cNvSpPr txBox="1"/>
          <p:nvPr/>
        </p:nvSpPr>
        <p:spPr>
          <a:xfrm>
            <a:off x="813816" y="23865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name • email • password</a:t>
            </a:r>
          </a:p>
        </p:txBody>
      </p:sp>
      <p:sp>
        <p:nvSpPr>
          <p:cNvPr id="21" name="TextBox 20"/>
          <p:cNvSpPr txBox="1"/>
          <p:nvPr/>
        </p:nvSpPr>
        <p:spPr>
          <a:xfrm>
            <a:off x="813816" y="26151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department • semester</a:t>
            </a:r>
          </a:p>
        </p:txBody>
      </p:sp>
      <p:sp>
        <p:nvSpPr>
          <p:cNvPr id="22" name="Rounded Rectangle 21"/>
          <p:cNvSpPr/>
          <p:nvPr/>
        </p:nvSpPr>
        <p:spPr>
          <a:xfrm>
            <a:off x="3611880" y="1572768"/>
            <a:ext cx="2514600" cy="141732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3776472" y="1737360"/>
            <a:ext cx="2185416"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794759" y="1755648"/>
            <a:ext cx="2148840" cy="274320"/>
          </a:xfrm>
          <a:prstGeom prst="rect">
            <a:avLst/>
          </a:prstGeom>
          <a:noFill/>
        </p:spPr>
        <p:txBody>
          <a:bodyPr wrap="square" lIns="41148" tIns="22860" rIns="41148" bIns="22860" anchor="ctr">
            <a:spAutoFit/>
          </a:bodyPr>
          <a:lstStyle/>
          <a:p>
            <a:pPr algn="ctr"/>
            <a:r>
              <a:rPr sz="860" b="1" i="0">
                <a:solidFill>
                  <a:srgbClr val="10395C"/>
                </a:solidFill>
                <a:latin typeface="Aptos"/>
              </a:rPr>
              <a:t>REGISTRATION</a:t>
            </a:r>
          </a:p>
        </p:txBody>
      </p:sp>
      <p:sp>
        <p:nvSpPr>
          <p:cNvPr id="25" name="TextBox 24"/>
          <p:cNvSpPr txBox="1"/>
          <p:nvPr/>
        </p:nvSpPr>
        <p:spPr>
          <a:xfrm>
            <a:off x="3831336" y="21579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registration_id PK</a:t>
            </a:r>
          </a:p>
        </p:txBody>
      </p:sp>
      <p:sp>
        <p:nvSpPr>
          <p:cNvPr id="26" name="TextBox 25"/>
          <p:cNvSpPr txBox="1"/>
          <p:nvPr/>
        </p:nvSpPr>
        <p:spPr>
          <a:xfrm>
            <a:off x="3831336" y="23865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student_id FK</a:t>
            </a:r>
          </a:p>
        </p:txBody>
      </p:sp>
      <p:sp>
        <p:nvSpPr>
          <p:cNvPr id="27" name="TextBox 26"/>
          <p:cNvSpPr txBox="1"/>
          <p:nvPr/>
        </p:nvSpPr>
        <p:spPr>
          <a:xfrm>
            <a:off x="3831336" y="26151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course_id FK</a:t>
            </a:r>
          </a:p>
        </p:txBody>
      </p:sp>
      <p:sp>
        <p:nvSpPr>
          <p:cNvPr id="28" name="TextBox 27"/>
          <p:cNvSpPr txBox="1"/>
          <p:nvPr/>
        </p:nvSpPr>
        <p:spPr>
          <a:xfrm>
            <a:off x="3831336" y="28437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date • status</a:t>
            </a:r>
          </a:p>
        </p:txBody>
      </p:sp>
      <p:sp>
        <p:nvSpPr>
          <p:cNvPr id="29" name="Rounded Rectangle 28"/>
          <p:cNvSpPr/>
          <p:nvPr/>
        </p:nvSpPr>
        <p:spPr>
          <a:xfrm>
            <a:off x="6629400" y="1572768"/>
            <a:ext cx="2514600" cy="141732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6793992" y="1737360"/>
            <a:ext cx="2185416"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812279" y="1755648"/>
            <a:ext cx="2148840" cy="274320"/>
          </a:xfrm>
          <a:prstGeom prst="rect">
            <a:avLst/>
          </a:prstGeom>
          <a:noFill/>
        </p:spPr>
        <p:txBody>
          <a:bodyPr wrap="square" lIns="41148" tIns="22860" rIns="41148" bIns="22860" anchor="ctr">
            <a:spAutoFit/>
          </a:bodyPr>
          <a:lstStyle/>
          <a:p>
            <a:pPr algn="ctr"/>
            <a:r>
              <a:rPr sz="860" b="1" i="0">
                <a:solidFill>
                  <a:srgbClr val="10395C"/>
                </a:solidFill>
                <a:latin typeface="Aptos"/>
              </a:rPr>
              <a:t>COURSE</a:t>
            </a:r>
          </a:p>
        </p:txBody>
      </p:sp>
      <p:sp>
        <p:nvSpPr>
          <p:cNvPr id="32" name="TextBox 31"/>
          <p:cNvSpPr txBox="1"/>
          <p:nvPr/>
        </p:nvSpPr>
        <p:spPr>
          <a:xfrm>
            <a:off x="6848856" y="21579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course_id PK</a:t>
            </a:r>
          </a:p>
        </p:txBody>
      </p:sp>
      <p:sp>
        <p:nvSpPr>
          <p:cNvPr id="33" name="TextBox 32"/>
          <p:cNvSpPr txBox="1"/>
          <p:nvPr/>
        </p:nvSpPr>
        <p:spPr>
          <a:xfrm>
            <a:off x="6848856" y="23865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code • name • credits</a:t>
            </a:r>
          </a:p>
        </p:txBody>
      </p:sp>
      <p:sp>
        <p:nvSpPr>
          <p:cNvPr id="34" name="TextBox 33"/>
          <p:cNvSpPr txBox="1"/>
          <p:nvPr/>
        </p:nvSpPr>
        <p:spPr>
          <a:xfrm>
            <a:off x="6848856" y="2615184"/>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department • capacity</a:t>
            </a:r>
          </a:p>
        </p:txBody>
      </p:sp>
      <p:sp>
        <p:nvSpPr>
          <p:cNvPr id="35" name="Rounded Rectangle 34"/>
          <p:cNvSpPr/>
          <p:nvPr/>
        </p:nvSpPr>
        <p:spPr>
          <a:xfrm>
            <a:off x="3611880" y="3931920"/>
            <a:ext cx="2514600" cy="141732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ounded Rectangle 35"/>
          <p:cNvSpPr/>
          <p:nvPr/>
        </p:nvSpPr>
        <p:spPr>
          <a:xfrm>
            <a:off x="3776472" y="4096511"/>
            <a:ext cx="2185416"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794759" y="4114799"/>
            <a:ext cx="2148840" cy="274320"/>
          </a:xfrm>
          <a:prstGeom prst="rect">
            <a:avLst/>
          </a:prstGeom>
          <a:noFill/>
        </p:spPr>
        <p:txBody>
          <a:bodyPr wrap="square" lIns="41148" tIns="22860" rIns="41148" bIns="22860" anchor="ctr">
            <a:spAutoFit/>
          </a:bodyPr>
          <a:lstStyle/>
          <a:p>
            <a:pPr algn="ctr"/>
            <a:r>
              <a:rPr sz="860" b="1" i="0">
                <a:solidFill>
                  <a:srgbClr val="10395C"/>
                </a:solidFill>
                <a:latin typeface="Aptos"/>
              </a:rPr>
              <a:t>FACULTY</a:t>
            </a:r>
          </a:p>
        </p:txBody>
      </p:sp>
      <p:sp>
        <p:nvSpPr>
          <p:cNvPr id="38" name="TextBox 37"/>
          <p:cNvSpPr txBox="1"/>
          <p:nvPr/>
        </p:nvSpPr>
        <p:spPr>
          <a:xfrm>
            <a:off x="3831336" y="4517136"/>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faculty_id PK</a:t>
            </a:r>
          </a:p>
        </p:txBody>
      </p:sp>
      <p:sp>
        <p:nvSpPr>
          <p:cNvPr id="39" name="TextBox 38"/>
          <p:cNvSpPr txBox="1"/>
          <p:nvPr/>
        </p:nvSpPr>
        <p:spPr>
          <a:xfrm>
            <a:off x="3831336" y="4745736"/>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name • email</a:t>
            </a:r>
          </a:p>
        </p:txBody>
      </p:sp>
      <p:sp>
        <p:nvSpPr>
          <p:cNvPr id="40" name="TextBox 39"/>
          <p:cNvSpPr txBox="1"/>
          <p:nvPr/>
        </p:nvSpPr>
        <p:spPr>
          <a:xfrm>
            <a:off x="3831336" y="4974336"/>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department</a:t>
            </a:r>
          </a:p>
        </p:txBody>
      </p:sp>
      <p:sp>
        <p:nvSpPr>
          <p:cNvPr id="41" name="Rounded Rectangle 40"/>
          <p:cNvSpPr/>
          <p:nvPr/>
        </p:nvSpPr>
        <p:spPr>
          <a:xfrm>
            <a:off x="6629400" y="3931920"/>
            <a:ext cx="2514600" cy="141732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ounded Rectangle 41"/>
          <p:cNvSpPr/>
          <p:nvPr/>
        </p:nvSpPr>
        <p:spPr>
          <a:xfrm>
            <a:off x="6793992" y="4096511"/>
            <a:ext cx="2185416" cy="329184"/>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6812279" y="4114799"/>
            <a:ext cx="2148840" cy="274320"/>
          </a:xfrm>
          <a:prstGeom prst="rect">
            <a:avLst/>
          </a:prstGeom>
          <a:noFill/>
        </p:spPr>
        <p:txBody>
          <a:bodyPr wrap="square" lIns="41148" tIns="22860" rIns="41148" bIns="22860" anchor="ctr">
            <a:spAutoFit/>
          </a:bodyPr>
          <a:lstStyle/>
          <a:p>
            <a:pPr algn="ctr"/>
            <a:r>
              <a:rPr sz="860" b="1" i="0">
                <a:solidFill>
                  <a:srgbClr val="10395C"/>
                </a:solidFill>
                <a:latin typeface="Aptos"/>
              </a:rPr>
              <a:t>SCHEDULE</a:t>
            </a:r>
          </a:p>
        </p:txBody>
      </p:sp>
      <p:sp>
        <p:nvSpPr>
          <p:cNvPr id="44" name="TextBox 43"/>
          <p:cNvSpPr txBox="1"/>
          <p:nvPr/>
        </p:nvSpPr>
        <p:spPr>
          <a:xfrm>
            <a:off x="6848856" y="4517136"/>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schedule_id PK</a:t>
            </a:r>
          </a:p>
        </p:txBody>
      </p:sp>
      <p:sp>
        <p:nvSpPr>
          <p:cNvPr id="45" name="TextBox 44"/>
          <p:cNvSpPr txBox="1"/>
          <p:nvPr/>
        </p:nvSpPr>
        <p:spPr>
          <a:xfrm>
            <a:off x="6848856" y="4745736"/>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course_id FK • faculty_id FK</a:t>
            </a:r>
          </a:p>
        </p:txBody>
      </p:sp>
      <p:sp>
        <p:nvSpPr>
          <p:cNvPr id="46" name="TextBox 45"/>
          <p:cNvSpPr txBox="1"/>
          <p:nvPr/>
        </p:nvSpPr>
        <p:spPr>
          <a:xfrm>
            <a:off x="6848856" y="4974336"/>
            <a:ext cx="2057400" cy="182880"/>
          </a:xfrm>
          <a:prstGeom prst="rect">
            <a:avLst/>
          </a:prstGeom>
          <a:noFill/>
        </p:spPr>
        <p:txBody>
          <a:bodyPr wrap="square" lIns="41148" tIns="22860" rIns="41148" bIns="22860" anchor="t">
            <a:spAutoFit/>
          </a:bodyPr>
          <a:lstStyle/>
          <a:p>
            <a:pPr algn="l"/>
            <a:r>
              <a:rPr sz="830" b="0" i="0">
                <a:solidFill>
                  <a:srgbClr val="273D4E"/>
                </a:solidFill>
                <a:latin typeface="Aptos"/>
              </a:rPr>
              <a:t>day • start • end • room</a:t>
            </a:r>
          </a:p>
        </p:txBody>
      </p:sp>
      <p:cxnSp>
        <p:nvCxnSpPr>
          <p:cNvPr id="47" name="Connector 46"/>
          <p:cNvCxnSpPr/>
          <p:nvPr/>
        </p:nvCxnSpPr>
        <p:spPr>
          <a:xfrm>
            <a:off x="3108960" y="2267712"/>
            <a:ext cx="502920"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a:off x="6126480" y="2267712"/>
            <a:ext cx="502920"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V="1">
            <a:off x="4873752" y="3017520"/>
            <a:ext cx="0" cy="91440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a:off x="7818120" y="3017520"/>
            <a:ext cx="0" cy="91440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51" name="Rounded Rectangle 50"/>
          <p:cNvSpPr/>
          <p:nvPr/>
        </p:nvSpPr>
        <p:spPr>
          <a:xfrm>
            <a:off x="3090672" y="1993392"/>
            <a:ext cx="82296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3108960" y="2011680"/>
            <a:ext cx="786384" cy="274320"/>
          </a:xfrm>
          <a:prstGeom prst="rect">
            <a:avLst/>
          </a:prstGeom>
          <a:noFill/>
        </p:spPr>
        <p:txBody>
          <a:bodyPr wrap="square" lIns="41148" tIns="22860" rIns="41148" bIns="22860" anchor="ctr">
            <a:spAutoFit/>
          </a:bodyPr>
          <a:lstStyle/>
          <a:p>
            <a:pPr algn="ctr"/>
            <a:r>
              <a:rPr sz="720" b="1" i="0">
                <a:solidFill>
                  <a:srgbClr val="10395C"/>
                </a:solidFill>
                <a:latin typeface="Aptos"/>
              </a:rPr>
              <a:t>1 → MANY</a:t>
            </a:r>
          </a:p>
        </p:txBody>
      </p:sp>
      <p:sp>
        <p:nvSpPr>
          <p:cNvPr id="53" name="Rounded Rectangle 52"/>
          <p:cNvSpPr/>
          <p:nvPr/>
        </p:nvSpPr>
        <p:spPr>
          <a:xfrm>
            <a:off x="6108192" y="1993392"/>
            <a:ext cx="822960"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126479" y="2011680"/>
            <a:ext cx="786384" cy="274320"/>
          </a:xfrm>
          <a:prstGeom prst="rect">
            <a:avLst/>
          </a:prstGeom>
          <a:noFill/>
        </p:spPr>
        <p:txBody>
          <a:bodyPr wrap="square" lIns="41148" tIns="22860" rIns="41148" bIns="22860" anchor="ctr">
            <a:spAutoFit/>
          </a:bodyPr>
          <a:lstStyle/>
          <a:p>
            <a:pPr algn="ctr"/>
            <a:r>
              <a:rPr sz="720" b="1" i="0">
                <a:solidFill>
                  <a:srgbClr val="10395C"/>
                </a:solidFill>
                <a:latin typeface="Aptos"/>
              </a:rPr>
              <a:t>1 → MANY</a:t>
            </a:r>
          </a:p>
        </p:txBody>
      </p:sp>
      <p:sp>
        <p:nvSpPr>
          <p:cNvPr id="55" name="Rounded Rectangle 54"/>
          <p:cNvSpPr/>
          <p:nvPr/>
        </p:nvSpPr>
        <p:spPr>
          <a:xfrm>
            <a:off x="9464040" y="3931920"/>
            <a:ext cx="2103120" cy="1417320"/>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Rounded Rectangle 55"/>
          <p:cNvSpPr/>
          <p:nvPr/>
        </p:nvSpPr>
        <p:spPr>
          <a:xfrm>
            <a:off x="9308592" y="1508760"/>
            <a:ext cx="2482596" cy="3840480"/>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9537190" y="1831810"/>
            <a:ext cx="1828800" cy="323165"/>
          </a:xfrm>
          <a:prstGeom prst="rect">
            <a:avLst/>
          </a:prstGeom>
          <a:noFill/>
        </p:spPr>
        <p:txBody>
          <a:bodyPr wrap="square" lIns="41148" tIns="22860" rIns="41148" bIns="22860" anchor="ctr">
            <a:spAutoFit/>
          </a:bodyPr>
          <a:lstStyle/>
          <a:p>
            <a:pPr algn="ctr"/>
            <a:r>
              <a:rPr b="1" i="0" dirty="0">
                <a:solidFill>
                  <a:srgbClr val="10395C"/>
                </a:solidFill>
                <a:latin typeface="Aptos"/>
              </a:rPr>
              <a:t>KEY IDEA</a:t>
            </a:r>
          </a:p>
        </p:txBody>
      </p:sp>
      <p:sp>
        <p:nvSpPr>
          <p:cNvPr id="58" name="TextBox 57"/>
          <p:cNvSpPr txBox="1"/>
          <p:nvPr/>
        </p:nvSpPr>
        <p:spPr>
          <a:xfrm>
            <a:off x="9555480" y="2277025"/>
            <a:ext cx="1993392" cy="2754600"/>
          </a:xfrm>
          <a:prstGeom prst="rect">
            <a:avLst/>
          </a:prstGeom>
          <a:noFill/>
        </p:spPr>
        <p:txBody>
          <a:bodyPr wrap="square" lIns="41148" tIns="22860" rIns="41148" bIns="22860" anchor="t">
            <a:spAutoFit/>
          </a:bodyPr>
          <a:lstStyle/>
          <a:p>
            <a:pPr algn="ctr"/>
            <a:r>
              <a:rPr sz="1600" dirty="0"/>
              <a:t>Each table stores one type of academic data. Registration links a student to a course, while Schedule connects the course with faculty, time and room. Primary and foreign keys keep these relationships consistent.</a:t>
            </a:r>
          </a:p>
        </p:txBody>
      </p:sp>
      <p:sp>
        <p:nvSpPr>
          <p:cNvPr id="59" name="TextBox 58"/>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60" name="TextBox 59"/>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15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1129284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1149400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1146536"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1402567"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11036808"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1131112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02920" y="329184"/>
            <a:ext cx="502920"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21208" y="347472"/>
            <a:ext cx="466344" cy="274320"/>
          </a:xfrm>
          <a:prstGeom prst="rect">
            <a:avLst/>
          </a:prstGeom>
          <a:noFill/>
        </p:spPr>
        <p:txBody>
          <a:bodyPr wrap="square" lIns="41148" tIns="22860" rIns="41148" bIns="22860" anchor="ctr">
            <a:spAutoFit/>
          </a:bodyPr>
          <a:lstStyle/>
          <a:p>
            <a:pPr algn="ctr"/>
            <a:r>
              <a:rPr sz="1000" b="1" i="0">
                <a:solidFill>
                  <a:srgbClr val="10395C"/>
                </a:solidFill>
                <a:latin typeface="Aptos"/>
              </a:rPr>
              <a:t>15</a:t>
            </a:r>
          </a:p>
        </p:txBody>
      </p:sp>
      <p:sp>
        <p:nvSpPr>
          <p:cNvPr id="13" name="TextBox 12"/>
          <p:cNvSpPr txBox="1"/>
          <p:nvPr/>
        </p:nvSpPr>
        <p:spPr>
          <a:xfrm>
            <a:off x="1115568" y="274320"/>
            <a:ext cx="9875520" cy="438912"/>
          </a:xfrm>
          <a:prstGeom prst="rect">
            <a:avLst/>
          </a:prstGeom>
          <a:noFill/>
        </p:spPr>
        <p:txBody>
          <a:bodyPr wrap="square" lIns="41148" tIns="22860" rIns="41148" bIns="22860" anchor="t">
            <a:spAutoFit/>
          </a:bodyPr>
          <a:lstStyle/>
          <a:p>
            <a:pPr algn="l"/>
            <a:r>
              <a:rPr sz="2300" b="1" i="0">
                <a:solidFill>
                  <a:srgbClr val="10395C"/>
                </a:solidFill>
                <a:latin typeface="Aptos"/>
              </a:rPr>
              <a:t>Technology Stack &amp; Build Plan</a:t>
            </a:r>
          </a:p>
        </p:txBody>
      </p:sp>
      <p:sp>
        <p:nvSpPr>
          <p:cNvPr id="14" name="TextBox 13"/>
          <p:cNvSpPr txBox="1"/>
          <p:nvPr/>
        </p:nvSpPr>
        <p:spPr>
          <a:xfrm>
            <a:off x="1133856" y="758952"/>
            <a:ext cx="9418320" cy="274320"/>
          </a:xfrm>
          <a:prstGeom prst="rect">
            <a:avLst/>
          </a:prstGeom>
          <a:noFill/>
        </p:spPr>
        <p:txBody>
          <a:bodyPr wrap="square" lIns="41148" tIns="22860" rIns="41148" bIns="22860" anchor="t">
            <a:spAutoFit/>
          </a:bodyPr>
          <a:lstStyle/>
          <a:p>
            <a:pPr algn="l"/>
            <a:r>
              <a:rPr sz="1080" b="0" i="0">
                <a:solidFill>
                  <a:srgbClr val="5D7684"/>
                </a:solidFill>
                <a:latin typeface="Aptos"/>
              </a:rPr>
              <a:t>A practical student-friendly stack for the project</a:t>
            </a:r>
          </a:p>
        </p:txBody>
      </p:sp>
      <p:sp>
        <p:nvSpPr>
          <p:cNvPr id="15" name="Rectangle 14"/>
          <p:cNvSpPr/>
          <p:nvPr/>
        </p:nvSpPr>
        <p:spPr>
          <a:xfrm>
            <a:off x="1133856" y="1060704"/>
            <a:ext cx="1051560" cy="32004"/>
          </a:xfrm>
          <a:prstGeom prst="rect">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594360" y="1417320"/>
            <a:ext cx="3977639" cy="45537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932688" y="1719072"/>
            <a:ext cx="1874519"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50976" y="1737360"/>
            <a:ext cx="1837943" cy="274320"/>
          </a:xfrm>
          <a:prstGeom prst="rect">
            <a:avLst/>
          </a:prstGeom>
          <a:noFill/>
        </p:spPr>
        <p:txBody>
          <a:bodyPr wrap="square" lIns="41148" tIns="22860" rIns="41148" bIns="22860" anchor="ctr">
            <a:spAutoFit/>
          </a:bodyPr>
          <a:lstStyle/>
          <a:p>
            <a:pPr algn="ctr"/>
            <a:r>
              <a:rPr sz="869" b="1" i="0">
                <a:solidFill>
                  <a:srgbClr val="10395C"/>
                </a:solidFill>
                <a:latin typeface="Aptos"/>
              </a:rPr>
              <a:t>TECHNOLOGY STACK</a:t>
            </a:r>
          </a:p>
        </p:txBody>
      </p:sp>
      <p:sp>
        <p:nvSpPr>
          <p:cNvPr id="19" name="Rounded Rectangle 18"/>
          <p:cNvSpPr/>
          <p:nvPr/>
        </p:nvSpPr>
        <p:spPr>
          <a:xfrm>
            <a:off x="914400" y="2267712"/>
            <a:ext cx="1115568"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32688" y="2286000"/>
            <a:ext cx="1078992" cy="274320"/>
          </a:xfrm>
          <a:prstGeom prst="rect">
            <a:avLst/>
          </a:prstGeom>
          <a:noFill/>
        </p:spPr>
        <p:txBody>
          <a:bodyPr wrap="square" lIns="41148" tIns="22860" rIns="41148" bIns="22860" anchor="ctr">
            <a:spAutoFit/>
          </a:bodyPr>
          <a:lstStyle/>
          <a:p>
            <a:pPr algn="ctr"/>
            <a:r>
              <a:rPr sz="800" b="1" i="0">
                <a:solidFill>
                  <a:srgbClr val="10395C"/>
                </a:solidFill>
                <a:latin typeface="Aptos"/>
              </a:rPr>
              <a:t>FRONTEND</a:t>
            </a:r>
          </a:p>
        </p:txBody>
      </p:sp>
      <p:sp>
        <p:nvSpPr>
          <p:cNvPr id="21" name="TextBox 20"/>
          <p:cNvSpPr txBox="1"/>
          <p:nvPr/>
        </p:nvSpPr>
        <p:spPr>
          <a:xfrm>
            <a:off x="2212848" y="2258568"/>
            <a:ext cx="1965960" cy="237744"/>
          </a:xfrm>
          <a:prstGeom prst="rect">
            <a:avLst/>
          </a:prstGeom>
          <a:noFill/>
        </p:spPr>
        <p:txBody>
          <a:bodyPr wrap="square" lIns="41148" tIns="22860" rIns="41148" bIns="22860" anchor="t">
            <a:spAutoFit/>
          </a:bodyPr>
          <a:lstStyle/>
          <a:p>
            <a:pPr algn="l"/>
            <a:r>
              <a:rPr sz="1050" b="1" i="0">
                <a:solidFill>
                  <a:srgbClr val="10395C"/>
                </a:solidFill>
                <a:latin typeface="Aptos"/>
              </a:rPr>
              <a:t>HTML + CSS + JavaScript</a:t>
            </a:r>
          </a:p>
        </p:txBody>
      </p:sp>
      <p:sp>
        <p:nvSpPr>
          <p:cNvPr id="22" name="TextBox 21"/>
          <p:cNvSpPr txBox="1"/>
          <p:nvPr/>
        </p:nvSpPr>
        <p:spPr>
          <a:xfrm>
            <a:off x="2212848" y="2560320"/>
            <a:ext cx="1874519" cy="411480"/>
          </a:xfrm>
          <a:prstGeom prst="rect">
            <a:avLst/>
          </a:prstGeom>
          <a:noFill/>
        </p:spPr>
        <p:txBody>
          <a:bodyPr wrap="square" lIns="41148" tIns="22860" rIns="41148" bIns="22860" anchor="t">
            <a:spAutoFit/>
          </a:bodyPr>
          <a:lstStyle/>
          <a:p>
            <a:pPr algn="l"/>
            <a:r>
              <a:rPr sz="860" b="0" i="0">
                <a:solidFill>
                  <a:srgbClr val="5D7684"/>
                </a:solidFill>
                <a:latin typeface="Aptos"/>
              </a:rPr>
              <a:t>Pages, forms, filters, timetable UI</a:t>
            </a:r>
          </a:p>
        </p:txBody>
      </p:sp>
      <p:sp>
        <p:nvSpPr>
          <p:cNvPr id="23" name="Rounded Rectangle 22"/>
          <p:cNvSpPr/>
          <p:nvPr/>
        </p:nvSpPr>
        <p:spPr>
          <a:xfrm>
            <a:off x="914400" y="3291840"/>
            <a:ext cx="1115568"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32688" y="3310128"/>
            <a:ext cx="1078992" cy="274320"/>
          </a:xfrm>
          <a:prstGeom prst="rect">
            <a:avLst/>
          </a:prstGeom>
          <a:noFill/>
        </p:spPr>
        <p:txBody>
          <a:bodyPr wrap="square" lIns="41148" tIns="22860" rIns="41148" bIns="22860" anchor="ctr">
            <a:spAutoFit/>
          </a:bodyPr>
          <a:lstStyle/>
          <a:p>
            <a:pPr algn="ctr"/>
            <a:r>
              <a:rPr sz="800" b="1" i="0">
                <a:solidFill>
                  <a:srgbClr val="10395C"/>
                </a:solidFill>
                <a:latin typeface="Aptos"/>
              </a:rPr>
              <a:t>BACKEND</a:t>
            </a:r>
          </a:p>
        </p:txBody>
      </p:sp>
      <p:sp>
        <p:nvSpPr>
          <p:cNvPr id="25" name="TextBox 24"/>
          <p:cNvSpPr txBox="1"/>
          <p:nvPr/>
        </p:nvSpPr>
        <p:spPr>
          <a:xfrm>
            <a:off x="2212848" y="3282696"/>
            <a:ext cx="1965960" cy="237744"/>
          </a:xfrm>
          <a:prstGeom prst="rect">
            <a:avLst/>
          </a:prstGeom>
          <a:noFill/>
        </p:spPr>
        <p:txBody>
          <a:bodyPr wrap="square" lIns="41148" tIns="22860" rIns="41148" bIns="22860" anchor="t">
            <a:spAutoFit/>
          </a:bodyPr>
          <a:lstStyle/>
          <a:p>
            <a:pPr algn="l"/>
            <a:r>
              <a:rPr sz="1050" b="1" i="0">
                <a:solidFill>
                  <a:srgbClr val="10395C"/>
                </a:solidFill>
                <a:latin typeface="Aptos"/>
              </a:rPr>
              <a:t>PHP</a:t>
            </a:r>
          </a:p>
        </p:txBody>
      </p:sp>
      <p:sp>
        <p:nvSpPr>
          <p:cNvPr id="26" name="TextBox 25"/>
          <p:cNvSpPr txBox="1"/>
          <p:nvPr/>
        </p:nvSpPr>
        <p:spPr>
          <a:xfrm>
            <a:off x="2212848" y="3584448"/>
            <a:ext cx="1874519" cy="411480"/>
          </a:xfrm>
          <a:prstGeom prst="rect">
            <a:avLst/>
          </a:prstGeom>
          <a:noFill/>
        </p:spPr>
        <p:txBody>
          <a:bodyPr wrap="square" lIns="41148" tIns="22860" rIns="41148" bIns="22860" anchor="t">
            <a:spAutoFit/>
          </a:bodyPr>
          <a:lstStyle/>
          <a:p>
            <a:pPr algn="l"/>
            <a:r>
              <a:rPr sz="860" b="0" i="0">
                <a:solidFill>
                  <a:srgbClr val="5D7684"/>
                </a:solidFill>
                <a:latin typeface="Aptos"/>
              </a:rPr>
              <a:t>Login, business rules and database communication</a:t>
            </a:r>
          </a:p>
        </p:txBody>
      </p:sp>
      <p:sp>
        <p:nvSpPr>
          <p:cNvPr id="27" name="Rounded Rectangle 26"/>
          <p:cNvSpPr/>
          <p:nvPr/>
        </p:nvSpPr>
        <p:spPr>
          <a:xfrm>
            <a:off x="914400" y="4315968"/>
            <a:ext cx="1115568"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32688" y="4334256"/>
            <a:ext cx="1078992" cy="274320"/>
          </a:xfrm>
          <a:prstGeom prst="rect">
            <a:avLst/>
          </a:prstGeom>
          <a:noFill/>
        </p:spPr>
        <p:txBody>
          <a:bodyPr wrap="square" lIns="41148" tIns="22860" rIns="41148" bIns="22860" anchor="ctr">
            <a:spAutoFit/>
          </a:bodyPr>
          <a:lstStyle/>
          <a:p>
            <a:pPr algn="ctr"/>
            <a:r>
              <a:rPr sz="800" b="1" i="0">
                <a:solidFill>
                  <a:srgbClr val="10395C"/>
                </a:solidFill>
                <a:latin typeface="Aptos"/>
              </a:rPr>
              <a:t>DATABASE</a:t>
            </a:r>
          </a:p>
        </p:txBody>
      </p:sp>
      <p:sp>
        <p:nvSpPr>
          <p:cNvPr id="29" name="TextBox 28"/>
          <p:cNvSpPr txBox="1"/>
          <p:nvPr/>
        </p:nvSpPr>
        <p:spPr>
          <a:xfrm>
            <a:off x="2212848" y="4306824"/>
            <a:ext cx="1965960" cy="237744"/>
          </a:xfrm>
          <a:prstGeom prst="rect">
            <a:avLst/>
          </a:prstGeom>
          <a:noFill/>
        </p:spPr>
        <p:txBody>
          <a:bodyPr wrap="square" lIns="41148" tIns="22860" rIns="41148" bIns="22860" anchor="t">
            <a:spAutoFit/>
          </a:bodyPr>
          <a:lstStyle/>
          <a:p>
            <a:pPr algn="l"/>
            <a:r>
              <a:rPr sz="1050" b="1" i="0">
                <a:solidFill>
                  <a:srgbClr val="10395C"/>
                </a:solidFill>
                <a:latin typeface="Aptos"/>
              </a:rPr>
              <a:t>MySQL</a:t>
            </a:r>
          </a:p>
        </p:txBody>
      </p:sp>
      <p:sp>
        <p:nvSpPr>
          <p:cNvPr id="30" name="TextBox 29"/>
          <p:cNvSpPr txBox="1"/>
          <p:nvPr/>
        </p:nvSpPr>
        <p:spPr>
          <a:xfrm>
            <a:off x="2212848" y="4608576"/>
            <a:ext cx="1874519" cy="411480"/>
          </a:xfrm>
          <a:prstGeom prst="rect">
            <a:avLst/>
          </a:prstGeom>
          <a:noFill/>
        </p:spPr>
        <p:txBody>
          <a:bodyPr wrap="square" lIns="41148" tIns="22860" rIns="41148" bIns="22860" anchor="t">
            <a:spAutoFit/>
          </a:bodyPr>
          <a:lstStyle/>
          <a:p>
            <a:pPr algn="l"/>
            <a:r>
              <a:rPr sz="860" b="0" i="0">
                <a:solidFill>
                  <a:srgbClr val="5D7684"/>
                </a:solidFill>
                <a:latin typeface="Aptos"/>
              </a:rPr>
              <a:t>Students, courses, schedules and registrations</a:t>
            </a:r>
          </a:p>
        </p:txBody>
      </p:sp>
      <p:sp>
        <p:nvSpPr>
          <p:cNvPr id="31" name="Rounded Rectangle 30"/>
          <p:cNvSpPr/>
          <p:nvPr/>
        </p:nvSpPr>
        <p:spPr>
          <a:xfrm>
            <a:off x="1234440" y="5321808"/>
            <a:ext cx="2148840" cy="329184"/>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1252728" y="5340096"/>
            <a:ext cx="2112264" cy="274320"/>
          </a:xfrm>
          <a:prstGeom prst="rect">
            <a:avLst/>
          </a:prstGeom>
          <a:noFill/>
        </p:spPr>
        <p:txBody>
          <a:bodyPr wrap="square" lIns="41148" tIns="22860" rIns="41148" bIns="22860" anchor="ctr">
            <a:spAutoFit/>
          </a:bodyPr>
          <a:lstStyle/>
          <a:p>
            <a:pPr algn="ctr"/>
            <a:r>
              <a:rPr sz="850" b="1" i="0">
                <a:solidFill>
                  <a:srgbClr val="DA6873"/>
                </a:solidFill>
                <a:latin typeface="Aptos"/>
              </a:rPr>
              <a:t>MANAGEABLE MVP</a:t>
            </a:r>
          </a:p>
        </p:txBody>
      </p:sp>
      <p:sp>
        <p:nvSpPr>
          <p:cNvPr id="33" name="Rounded Rectangle 32"/>
          <p:cNvSpPr/>
          <p:nvPr/>
        </p:nvSpPr>
        <p:spPr>
          <a:xfrm>
            <a:off x="4800600" y="1417320"/>
            <a:ext cx="6766560" cy="4553712"/>
          </a:xfrm>
          <a:prstGeom prst="roundRect">
            <a:avLst>
              <a:gd name="adj" fmla="val 12000"/>
            </a:avLst>
          </a:prstGeom>
          <a:solidFill>
            <a:srgbClr val="FFFFFF"/>
          </a:solidFill>
          <a:ln>
            <a:solidFill>
              <a:srgbClr val="CCE5E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Rounded Rectangle 33"/>
          <p:cNvSpPr/>
          <p:nvPr/>
        </p:nvSpPr>
        <p:spPr>
          <a:xfrm>
            <a:off x="7479792" y="1719072"/>
            <a:ext cx="1417320"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7498079" y="1737360"/>
            <a:ext cx="1380744" cy="274320"/>
          </a:xfrm>
          <a:prstGeom prst="rect">
            <a:avLst/>
          </a:prstGeom>
          <a:noFill/>
        </p:spPr>
        <p:txBody>
          <a:bodyPr wrap="square" lIns="41148" tIns="22860" rIns="41148" bIns="22860" anchor="ctr">
            <a:spAutoFit/>
          </a:bodyPr>
          <a:lstStyle/>
          <a:p>
            <a:pPr algn="ctr"/>
            <a:r>
              <a:rPr sz="1200" b="1"/>
              <a:t>BUILD PLAN</a:t>
            </a:r>
          </a:p>
        </p:txBody>
      </p:sp>
      <p:sp>
        <p:nvSpPr>
          <p:cNvPr id="36" name="Oval 35"/>
          <p:cNvSpPr/>
          <p:nvPr/>
        </p:nvSpPr>
        <p:spPr>
          <a:xfrm>
            <a:off x="5074920" y="2240280"/>
            <a:ext cx="329184" cy="329184"/>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5074920" y="2240280"/>
            <a:ext cx="329184" cy="329184"/>
          </a:xfrm>
          <a:prstGeom prst="rect">
            <a:avLst/>
          </a:prstGeom>
          <a:noFill/>
        </p:spPr>
        <p:txBody>
          <a:bodyPr wrap="square" lIns="41148" tIns="22860" rIns="41148" bIns="22860" anchor="ctr">
            <a:spAutoFit/>
          </a:bodyPr>
          <a:lstStyle/>
          <a:p>
            <a:pPr algn="ctr"/>
            <a:r>
              <a:rPr sz="800" b="1" i="0">
                <a:solidFill>
                  <a:srgbClr val="2A79A3"/>
                </a:solidFill>
                <a:latin typeface="Aptos"/>
              </a:rPr>
              <a:t>1</a:t>
            </a:r>
          </a:p>
        </p:txBody>
      </p:sp>
      <p:sp>
        <p:nvSpPr>
          <p:cNvPr id="38" name="TextBox 37"/>
          <p:cNvSpPr txBox="1"/>
          <p:nvPr/>
        </p:nvSpPr>
        <p:spPr>
          <a:xfrm>
            <a:off x="5532120" y="2258568"/>
            <a:ext cx="2423160" cy="274320"/>
          </a:xfrm>
          <a:prstGeom prst="rect">
            <a:avLst/>
          </a:prstGeom>
          <a:noFill/>
        </p:spPr>
        <p:txBody>
          <a:bodyPr wrap="square" lIns="41148" tIns="22860" rIns="41148" bIns="22860" anchor="t">
            <a:spAutoFit/>
          </a:bodyPr>
          <a:lstStyle/>
          <a:p>
            <a:pPr algn="l"/>
            <a:r>
              <a:rPr sz="969" b="0" i="0">
                <a:solidFill>
                  <a:srgbClr val="273D4E"/>
                </a:solidFill>
                <a:latin typeface="Aptos"/>
              </a:rPr>
              <a:t>Design database tables</a:t>
            </a:r>
          </a:p>
        </p:txBody>
      </p:sp>
      <p:sp>
        <p:nvSpPr>
          <p:cNvPr id="39" name="Oval 38"/>
          <p:cNvSpPr/>
          <p:nvPr/>
        </p:nvSpPr>
        <p:spPr>
          <a:xfrm>
            <a:off x="8183879" y="2240280"/>
            <a:ext cx="329184" cy="329184"/>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183879" y="2240280"/>
            <a:ext cx="329184" cy="329184"/>
          </a:xfrm>
          <a:prstGeom prst="rect">
            <a:avLst/>
          </a:prstGeom>
          <a:noFill/>
        </p:spPr>
        <p:txBody>
          <a:bodyPr wrap="square" lIns="41148" tIns="22860" rIns="41148" bIns="22860" anchor="ctr">
            <a:spAutoFit/>
          </a:bodyPr>
          <a:lstStyle/>
          <a:p>
            <a:pPr algn="ctr"/>
            <a:r>
              <a:rPr sz="800" b="1" i="0">
                <a:solidFill>
                  <a:srgbClr val="499D7E"/>
                </a:solidFill>
                <a:latin typeface="Aptos"/>
              </a:rPr>
              <a:t>2</a:t>
            </a:r>
          </a:p>
        </p:txBody>
      </p:sp>
      <p:sp>
        <p:nvSpPr>
          <p:cNvPr id="41" name="TextBox 40"/>
          <p:cNvSpPr txBox="1"/>
          <p:nvPr/>
        </p:nvSpPr>
        <p:spPr>
          <a:xfrm>
            <a:off x="8641080" y="2258568"/>
            <a:ext cx="2423160" cy="274320"/>
          </a:xfrm>
          <a:prstGeom prst="rect">
            <a:avLst/>
          </a:prstGeom>
          <a:noFill/>
        </p:spPr>
        <p:txBody>
          <a:bodyPr wrap="square" lIns="41148" tIns="22860" rIns="41148" bIns="22860" anchor="t">
            <a:spAutoFit/>
          </a:bodyPr>
          <a:lstStyle/>
          <a:p>
            <a:pPr algn="l"/>
            <a:r>
              <a:rPr sz="969" b="0" i="0">
                <a:solidFill>
                  <a:srgbClr val="273D4E"/>
                </a:solidFill>
                <a:latin typeface="Aptos"/>
              </a:rPr>
              <a:t>Create login + role access</a:t>
            </a:r>
          </a:p>
        </p:txBody>
      </p:sp>
      <p:sp>
        <p:nvSpPr>
          <p:cNvPr id="42" name="Oval 41"/>
          <p:cNvSpPr/>
          <p:nvPr/>
        </p:nvSpPr>
        <p:spPr>
          <a:xfrm>
            <a:off x="5074920" y="2990088"/>
            <a:ext cx="329184" cy="329184"/>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5074920" y="2990088"/>
            <a:ext cx="329184" cy="329184"/>
          </a:xfrm>
          <a:prstGeom prst="rect">
            <a:avLst/>
          </a:prstGeom>
          <a:noFill/>
        </p:spPr>
        <p:txBody>
          <a:bodyPr wrap="square" lIns="41148" tIns="22860" rIns="41148" bIns="22860" anchor="ctr">
            <a:spAutoFit/>
          </a:bodyPr>
          <a:lstStyle/>
          <a:p>
            <a:pPr algn="ctr"/>
            <a:r>
              <a:rPr sz="800" b="1" i="0">
                <a:solidFill>
                  <a:srgbClr val="2A79A3"/>
                </a:solidFill>
                <a:latin typeface="Aptos"/>
              </a:rPr>
              <a:t>3</a:t>
            </a:r>
          </a:p>
        </p:txBody>
      </p:sp>
      <p:sp>
        <p:nvSpPr>
          <p:cNvPr id="44" name="TextBox 43"/>
          <p:cNvSpPr txBox="1"/>
          <p:nvPr/>
        </p:nvSpPr>
        <p:spPr>
          <a:xfrm>
            <a:off x="5532120" y="3008376"/>
            <a:ext cx="2423160" cy="274320"/>
          </a:xfrm>
          <a:prstGeom prst="rect">
            <a:avLst/>
          </a:prstGeom>
          <a:noFill/>
        </p:spPr>
        <p:txBody>
          <a:bodyPr wrap="square" lIns="41148" tIns="22860" rIns="41148" bIns="22860" anchor="t">
            <a:spAutoFit/>
          </a:bodyPr>
          <a:lstStyle/>
          <a:p>
            <a:pPr algn="l"/>
            <a:r>
              <a:rPr sz="969" b="0" i="0">
                <a:solidFill>
                  <a:srgbClr val="273D4E"/>
                </a:solidFill>
                <a:latin typeface="Aptos"/>
              </a:rPr>
              <a:t>Build course catalog</a:t>
            </a:r>
          </a:p>
        </p:txBody>
      </p:sp>
      <p:sp>
        <p:nvSpPr>
          <p:cNvPr id="45" name="Oval 44"/>
          <p:cNvSpPr/>
          <p:nvPr/>
        </p:nvSpPr>
        <p:spPr>
          <a:xfrm>
            <a:off x="8183879" y="2990088"/>
            <a:ext cx="329184" cy="329184"/>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183879" y="2990088"/>
            <a:ext cx="329184" cy="329184"/>
          </a:xfrm>
          <a:prstGeom prst="rect">
            <a:avLst/>
          </a:prstGeom>
          <a:noFill/>
        </p:spPr>
        <p:txBody>
          <a:bodyPr wrap="square" lIns="41148" tIns="22860" rIns="41148" bIns="22860" anchor="ctr">
            <a:spAutoFit/>
          </a:bodyPr>
          <a:lstStyle/>
          <a:p>
            <a:pPr algn="ctr"/>
            <a:r>
              <a:rPr sz="800" b="1" i="0">
                <a:solidFill>
                  <a:srgbClr val="499D7E"/>
                </a:solidFill>
                <a:latin typeface="Aptos"/>
              </a:rPr>
              <a:t>4</a:t>
            </a:r>
          </a:p>
        </p:txBody>
      </p:sp>
      <p:sp>
        <p:nvSpPr>
          <p:cNvPr id="47" name="TextBox 46"/>
          <p:cNvSpPr txBox="1"/>
          <p:nvPr/>
        </p:nvSpPr>
        <p:spPr>
          <a:xfrm>
            <a:off x="8641080" y="3008376"/>
            <a:ext cx="2423160" cy="274320"/>
          </a:xfrm>
          <a:prstGeom prst="rect">
            <a:avLst/>
          </a:prstGeom>
          <a:noFill/>
        </p:spPr>
        <p:txBody>
          <a:bodyPr wrap="square" lIns="41148" tIns="22860" rIns="41148" bIns="22860" anchor="t">
            <a:spAutoFit/>
          </a:bodyPr>
          <a:lstStyle/>
          <a:p>
            <a:pPr algn="l"/>
            <a:r>
              <a:rPr sz="980"/>
              <a:t>Add registration rules</a:t>
            </a:r>
          </a:p>
        </p:txBody>
      </p:sp>
      <p:sp>
        <p:nvSpPr>
          <p:cNvPr id="48" name="Oval 47"/>
          <p:cNvSpPr/>
          <p:nvPr/>
        </p:nvSpPr>
        <p:spPr>
          <a:xfrm>
            <a:off x="5074920" y="3739896"/>
            <a:ext cx="329184" cy="329184"/>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5074920" y="3739896"/>
            <a:ext cx="329184" cy="329184"/>
          </a:xfrm>
          <a:prstGeom prst="rect">
            <a:avLst/>
          </a:prstGeom>
          <a:noFill/>
        </p:spPr>
        <p:txBody>
          <a:bodyPr wrap="square" lIns="41148" tIns="22860" rIns="41148" bIns="22860" anchor="ctr">
            <a:spAutoFit/>
          </a:bodyPr>
          <a:lstStyle/>
          <a:p>
            <a:pPr algn="ctr"/>
            <a:r>
              <a:rPr sz="800" b="1" i="0">
                <a:solidFill>
                  <a:srgbClr val="2A79A3"/>
                </a:solidFill>
                <a:latin typeface="Aptos"/>
              </a:rPr>
              <a:t>5</a:t>
            </a:r>
          </a:p>
        </p:txBody>
      </p:sp>
      <p:sp>
        <p:nvSpPr>
          <p:cNvPr id="50" name="TextBox 49"/>
          <p:cNvSpPr txBox="1"/>
          <p:nvPr/>
        </p:nvSpPr>
        <p:spPr>
          <a:xfrm>
            <a:off x="5532120" y="3758183"/>
            <a:ext cx="2423160" cy="274320"/>
          </a:xfrm>
          <a:prstGeom prst="rect">
            <a:avLst/>
          </a:prstGeom>
          <a:noFill/>
        </p:spPr>
        <p:txBody>
          <a:bodyPr wrap="square" lIns="41148" tIns="22860" rIns="41148" bIns="22860" anchor="t">
            <a:spAutoFit/>
          </a:bodyPr>
          <a:lstStyle/>
          <a:p>
            <a:pPr algn="l"/>
            <a:r>
              <a:rPr sz="980"/>
              <a:t>Add clash detection + timetable</a:t>
            </a:r>
          </a:p>
        </p:txBody>
      </p:sp>
      <p:sp>
        <p:nvSpPr>
          <p:cNvPr id="51" name="Oval 50"/>
          <p:cNvSpPr/>
          <p:nvPr/>
        </p:nvSpPr>
        <p:spPr>
          <a:xfrm>
            <a:off x="8183879" y="3739896"/>
            <a:ext cx="329184" cy="329184"/>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8183879" y="3739896"/>
            <a:ext cx="329184" cy="329184"/>
          </a:xfrm>
          <a:prstGeom prst="rect">
            <a:avLst/>
          </a:prstGeom>
          <a:noFill/>
        </p:spPr>
        <p:txBody>
          <a:bodyPr wrap="square" lIns="41148" tIns="22860" rIns="41148" bIns="22860" anchor="ctr">
            <a:spAutoFit/>
          </a:bodyPr>
          <a:lstStyle/>
          <a:p>
            <a:pPr algn="ctr"/>
            <a:r>
              <a:rPr sz="800" b="1" i="0">
                <a:solidFill>
                  <a:srgbClr val="499D7E"/>
                </a:solidFill>
                <a:latin typeface="Aptos"/>
              </a:rPr>
              <a:t>6</a:t>
            </a:r>
          </a:p>
        </p:txBody>
      </p:sp>
      <p:sp>
        <p:nvSpPr>
          <p:cNvPr id="53" name="TextBox 52"/>
          <p:cNvSpPr txBox="1"/>
          <p:nvPr/>
        </p:nvSpPr>
        <p:spPr>
          <a:xfrm>
            <a:off x="8641080" y="3758183"/>
            <a:ext cx="2423160" cy="274320"/>
          </a:xfrm>
          <a:prstGeom prst="rect">
            <a:avLst/>
          </a:prstGeom>
          <a:noFill/>
        </p:spPr>
        <p:txBody>
          <a:bodyPr wrap="square" lIns="41148" tIns="22860" rIns="41148" bIns="22860" anchor="t">
            <a:spAutoFit/>
          </a:bodyPr>
          <a:lstStyle/>
          <a:p>
            <a:pPr algn="l"/>
            <a:r>
              <a:rPr sz="980"/>
              <a:t>Test with sample cases</a:t>
            </a:r>
          </a:p>
        </p:txBody>
      </p:sp>
      <p:sp>
        <p:nvSpPr>
          <p:cNvPr id="54" name="Oval 53"/>
          <p:cNvSpPr/>
          <p:nvPr/>
        </p:nvSpPr>
        <p:spPr>
          <a:xfrm>
            <a:off x="5074920" y="4489704"/>
            <a:ext cx="329184" cy="329184"/>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5074920" y="4489704"/>
            <a:ext cx="329184" cy="329184"/>
          </a:xfrm>
          <a:prstGeom prst="rect">
            <a:avLst/>
          </a:prstGeom>
          <a:noFill/>
        </p:spPr>
        <p:txBody>
          <a:bodyPr wrap="square" lIns="41148" tIns="22860" rIns="41148" bIns="22860" anchor="ctr">
            <a:spAutoFit/>
          </a:bodyPr>
          <a:lstStyle/>
          <a:p>
            <a:pPr algn="ctr"/>
            <a:r>
              <a:rPr sz="800" b="1" i="0">
                <a:solidFill>
                  <a:srgbClr val="2A79A3"/>
                </a:solidFill>
                <a:latin typeface="Aptos"/>
              </a:rPr>
              <a:t>7</a:t>
            </a:r>
          </a:p>
        </p:txBody>
      </p:sp>
      <p:sp>
        <p:nvSpPr>
          <p:cNvPr id="56" name="TextBox 55"/>
          <p:cNvSpPr txBox="1"/>
          <p:nvPr/>
        </p:nvSpPr>
        <p:spPr>
          <a:xfrm>
            <a:off x="5532120" y="4507992"/>
            <a:ext cx="2423160" cy="274320"/>
          </a:xfrm>
          <a:prstGeom prst="rect">
            <a:avLst/>
          </a:prstGeom>
          <a:noFill/>
        </p:spPr>
        <p:txBody>
          <a:bodyPr wrap="square" lIns="41148" tIns="22860" rIns="41148" bIns="22860" anchor="t">
            <a:spAutoFit/>
          </a:bodyPr>
          <a:lstStyle/>
          <a:p>
            <a:pPr algn="l"/>
            <a:r>
              <a:rPr sz="980"/>
              <a:t>Validate invalid cases</a:t>
            </a:r>
          </a:p>
        </p:txBody>
      </p:sp>
      <p:sp>
        <p:nvSpPr>
          <p:cNvPr id="57" name="Oval 56"/>
          <p:cNvSpPr/>
          <p:nvPr/>
        </p:nvSpPr>
        <p:spPr>
          <a:xfrm>
            <a:off x="8183879" y="4489704"/>
            <a:ext cx="329184" cy="329184"/>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8183879" y="4489704"/>
            <a:ext cx="329184" cy="329184"/>
          </a:xfrm>
          <a:prstGeom prst="rect">
            <a:avLst/>
          </a:prstGeom>
          <a:noFill/>
        </p:spPr>
        <p:txBody>
          <a:bodyPr wrap="square" lIns="41148" tIns="22860" rIns="41148" bIns="22860" anchor="ctr">
            <a:spAutoFit/>
          </a:bodyPr>
          <a:lstStyle/>
          <a:p>
            <a:pPr algn="ctr"/>
            <a:r>
              <a:rPr sz="800" b="1" i="0">
                <a:solidFill>
                  <a:srgbClr val="499D7E"/>
                </a:solidFill>
                <a:latin typeface="Aptos"/>
              </a:rPr>
              <a:t>8</a:t>
            </a:r>
          </a:p>
        </p:txBody>
      </p:sp>
      <p:sp>
        <p:nvSpPr>
          <p:cNvPr id="59" name="TextBox 58"/>
          <p:cNvSpPr txBox="1"/>
          <p:nvPr/>
        </p:nvSpPr>
        <p:spPr>
          <a:xfrm>
            <a:off x="8641080" y="4507992"/>
            <a:ext cx="2423160" cy="274320"/>
          </a:xfrm>
          <a:prstGeom prst="rect">
            <a:avLst/>
          </a:prstGeom>
          <a:noFill/>
        </p:spPr>
        <p:txBody>
          <a:bodyPr wrap="square" lIns="41148" tIns="22860" rIns="41148" bIns="22860" anchor="t">
            <a:spAutoFit/>
          </a:bodyPr>
          <a:lstStyle/>
          <a:p>
            <a:pPr algn="l"/>
            <a:r>
              <a:rPr sz="980"/>
              <a:t>Deploy and demonstrate</a:t>
            </a:r>
          </a:p>
        </p:txBody>
      </p:sp>
      <p:sp>
        <p:nvSpPr>
          <p:cNvPr id="60" name="Rounded Rectangle 59"/>
          <p:cNvSpPr/>
          <p:nvPr/>
        </p:nvSpPr>
        <p:spPr>
          <a:xfrm>
            <a:off x="6565392" y="5440680"/>
            <a:ext cx="3182112"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TextBox 60"/>
          <p:cNvSpPr txBox="1"/>
          <p:nvPr/>
        </p:nvSpPr>
        <p:spPr>
          <a:xfrm>
            <a:off x="6583679" y="5458968"/>
            <a:ext cx="3145536" cy="274320"/>
          </a:xfrm>
          <a:prstGeom prst="rect">
            <a:avLst/>
          </a:prstGeom>
          <a:noFill/>
        </p:spPr>
        <p:txBody>
          <a:bodyPr wrap="square" lIns="41148" tIns="22860" rIns="41148" bIns="22860" anchor="ctr">
            <a:spAutoFit/>
          </a:bodyPr>
          <a:lstStyle/>
          <a:p>
            <a:pPr algn="ctr"/>
            <a:r>
              <a:rPr sz="830" b="1" i="0">
                <a:solidFill>
                  <a:srgbClr val="10395C"/>
                </a:solidFill>
                <a:latin typeface="Aptos"/>
              </a:rPr>
              <a:t>CORE FIRST → ADVANCED FEATURES LATER</a:t>
            </a:r>
          </a:p>
        </p:txBody>
      </p:sp>
      <p:sp>
        <p:nvSpPr>
          <p:cNvPr id="62" name="TextBox 61"/>
          <p:cNvSpPr txBox="1"/>
          <p:nvPr/>
        </p:nvSpPr>
        <p:spPr>
          <a:xfrm>
            <a:off x="530352" y="6547104"/>
            <a:ext cx="4572000" cy="146304"/>
          </a:xfrm>
          <a:prstGeom prst="rect">
            <a:avLst/>
          </a:prstGeom>
          <a:noFill/>
        </p:spPr>
        <p:txBody>
          <a:bodyPr wrap="square" lIns="41148" tIns="22860" rIns="41148" bIns="22860" anchor="t">
            <a:spAutoFit/>
          </a:bodyPr>
          <a:lstStyle/>
          <a:p>
            <a:pPr algn="l"/>
            <a:r>
              <a:rPr sz="720" b="1" i="0">
                <a:solidFill>
                  <a:srgbClr val="5D7684"/>
                </a:solidFill>
                <a:latin typeface="Aptos"/>
              </a:rPr>
              <a:t>COURSE REGISTRATION &amp; TIMETABLE BUILDER</a:t>
            </a:r>
          </a:p>
        </p:txBody>
      </p:sp>
      <p:sp>
        <p:nvSpPr>
          <p:cNvPr id="63" name="TextBox 62"/>
          <p:cNvSpPr txBox="1"/>
          <p:nvPr/>
        </p:nvSpPr>
        <p:spPr>
          <a:xfrm>
            <a:off x="11201400" y="6510528"/>
            <a:ext cx="384048" cy="182880"/>
          </a:xfrm>
          <a:prstGeom prst="rect">
            <a:avLst/>
          </a:prstGeom>
          <a:noFill/>
        </p:spPr>
        <p:txBody>
          <a:bodyPr wrap="square" lIns="41148" tIns="22860" rIns="41148" bIns="22860" anchor="t">
            <a:spAutoFit/>
          </a:bodyPr>
          <a:lstStyle/>
          <a:p>
            <a:pPr algn="r"/>
            <a:r>
              <a:rPr sz="750" b="1" i="0">
                <a:solidFill>
                  <a:srgbClr val="5D7684"/>
                </a:solidFill>
                <a:latin typeface="Aptos"/>
              </a:rPr>
              <a:t>16</a:t>
            </a:r>
          </a:p>
        </p:txBody>
      </p:sp>
      <p:sp>
        <p:nvSpPr>
          <p:cNvPr id="64" name="Rounded Rectangle 63"/>
          <p:cNvSpPr/>
          <p:nvPr/>
        </p:nvSpPr>
        <p:spPr>
          <a:xfrm>
            <a:off x="4777740" y="6098709"/>
            <a:ext cx="4434840" cy="603504"/>
          </a:xfrm>
          <a:prstGeom prst="roundRect">
            <a:avLst/>
          </a:prstGeom>
          <a:solidFill>
            <a:srgbClr val="EEF7F2"/>
          </a:solidFill>
          <a:ln>
            <a:noFill/>
          </a:ln>
        </p:spPr>
        <p:style>
          <a:lnRef idx="1">
            <a:schemeClr val="accent1"/>
          </a:lnRef>
          <a:fillRef idx="3">
            <a:schemeClr val="accent1"/>
          </a:fillRef>
          <a:effectRef idx="2">
            <a:schemeClr val="accent1"/>
          </a:effectRef>
          <a:fontRef idx="minor">
            <a:schemeClr val="lt1"/>
          </a:fontRef>
        </p:style>
        <p:txBody>
          <a:bodyPr lIns="146304" tIns="91440" rIns="128016" bIns="54864" rtlCol="0" anchor="ctr"/>
          <a:lstStyle/>
          <a:p>
            <a:pPr algn="ctr">
              <a:defRPr sz="1300" b="1">
                <a:solidFill>
                  <a:srgbClr val="1E3F5A"/>
                </a:solidFill>
              </a:defRPr>
            </a:pPr>
            <a:r>
              <a:rPr sz="1400" dirty="0"/>
              <a:t>BUILD PRINCIPLE</a:t>
            </a:r>
          </a:p>
          <a:p>
            <a:pPr>
              <a:spcAft>
                <a:spcPts val="300"/>
              </a:spcAft>
              <a:defRPr sz="1070">
                <a:solidFill>
                  <a:srgbClr val="262B30"/>
                </a:solidFill>
              </a:defRPr>
            </a:pPr>
            <a:r>
              <a:rPr sz="1400" dirty="0"/>
              <a:t>Core validation first; advanced features can be added later.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p:cNvSpPr/>
          <p:nvPr/>
        </p:nvSpPr>
        <p:spPr>
          <a:xfrm>
            <a:off x="10652760" y="-411480"/>
            <a:ext cx="1920240" cy="1920240"/>
          </a:xfrm>
          <a:prstGeom prst="ellipse">
            <a:avLst/>
          </a:prstGeom>
          <a:solidFill>
            <a:srgbClr val="D7F0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9875520" y="5623560"/>
            <a:ext cx="2011680" cy="2011680"/>
          </a:xfrm>
          <a:prstGeom prst="ellipse">
            <a:avLst/>
          </a:prstGeom>
          <a:solidFill>
            <a:srgbClr val="E1F8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Oval 3"/>
          <p:cNvSpPr/>
          <p:nvPr/>
        </p:nvSpPr>
        <p:spPr>
          <a:xfrm>
            <a:off x="-411480" y="5715000"/>
            <a:ext cx="1554480" cy="1554480"/>
          </a:xfrm>
          <a:prstGeom prst="ellipse">
            <a:avLst/>
          </a:prstGeom>
          <a:solidFill>
            <a:srgbClr val="EDEC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Oval 4"/>
          <p:cNvSpPr/>
          <p:nvPr/>
        </p:nvSpPr>
        <p:spPr>
          <a:xfrm rot="20100000">
            <a:off x="4572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rot="1500000">
            <a:off x="24688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rot="19500000">
            <a:off x="-100584"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rot="1500000">
            <a:off x="155448"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Oval 8"/>
          <p:cNvSpPr/>
          <p:nvPr/>
        </p:nvSpPr>
        <p:spPr>
          <a:xfrm rot="19500000">
            <a:off x="-210312"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0" name="Connector 9"/>
          <p:cNvCxnSpPr/>
          <p:nvPr/>
        </p:nvCxnSpPr>
        <p:spPr>
          <a:xfrm flipH="1">
            <a:off x="6400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1" name="Oval 10"/>
          <p:cNvSpPr/>
          <p:nvPr/>
        </p:nvSpPr>
        <p:spPr>
          <a:xfrm rot="20100000">
            <a:off x="11292840" y="91440"/>
            <a:ext cx="228600" cy="96012"/>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rot="1500000">
            <a:off x="11494008" y="256032"/>
            <a:ext cx="256032" cy="107533"/>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rot="19500000">
            <a:off x="11146536" y="411479"/>
            <a:ext cx="219456" cy="92171"/>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rot="1500000">
            <a:off x="11402567" y="566928"/>
            <a:ext cx="201168" cy="84490"/>
          </a:xfrm>
          <a:prstGeom prst="ellipse">
            <a:avLst/>
          </a:prstGeom>
          <a:solidFill>
            <a:srgbClr val="2A79A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Oval 14"/>
          <p:cNvSpPr/>
          <p:nvPr/>
        </p:nvSpPr>
        <p:spPr>
          <a:xfrm rot="19500000">
            <a:off x="11036808" y="685800"/>
            <a:ext cx="201168" cy="84490"/>
          </a:xfrm>
          <a:prstGeom prst="ellipse">
            <a:avLst/>
          </a:prstGeom>
          <a:solidFill>
            <a:srgbClr val="5BBF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16" name="Connector 15"/>
          <p:cNvCxnSpPr/>
          <p:nvPr/>
        </p:nvCxnSpPr>
        <p:spPr>
          <a:xfrm flipH="1">
            <a:off x="11311128" y="109728"/>
            <a:ext cx="73152" cy="758952"/>
          </a:xfrm>
          <a:prstGeom prst="line">
            <a:avLst/>
          </a:prstGeom>
          <a:ln w="13970">
            <a:solidFill>
              <a:srgbClr val="2A79A3"/>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31520" y="640080"/>
            <a:ext cx="10716768" cy="5623560"/>
          </a:xfrm>
          <a:prstGeom prst="roundRect">
            <a:avLst>
              <a:gd name="adj" fmla="val 12000"/>
            </a:avLst>
          </a:prstGeom>
          <a:solidFill>
            <a:srgbClr val="FFFFFF"/>
          </a:solidFill>
          <a:ln>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4892040" y="1051560"/>
            <a:ext cx="2395728"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910327" y="1069848"/>
            <a:ext cx="2359152" cy="274320"/>
          </a:xfrm>
          <a:prstGeom prst="rect">
            <a:avLst/>
          </a:prstGeom>
          <a:noFill/>
        </p:spPr>
        <p:txBody>
          <a:bodyPr wrap="square" lIns="41148" tIns="22860" rIns="41148" bIns="22860" anchor="ctr">
            <a:spAutoFit/>
          </a:bodyPr>
          <a:lstStyle/>
          <a:p>
            <a:pPr algn="ctr"/>
            <a:r>
              <a:rPr sz="900" b="1" i="0">
                <a:solidFill>
                  <a:srgbClr val="10395C"/>
                </a:solidFill>
                <a:latin typeface="Aptos"/>
              </a:rPr>
              <a:t>CONCLUSION</a:t>
            </a:r>
          </a:p>
        </p:txBody>
      </p:sp>
      <p:sp>
        <p:nvSpPr>
          <p:cNvPr id="20" name="TextBox 19"/>
          <p:cNvSpPr txBox="1"/>
          <p:nvPr/>
        </p:nvSpPr>
        <p:spPr>
          <a:xfrm>
            <a:off x="1143000" y="1792224"/>
            <a:ext cx="9921240" cy="566928"/>
          </a:xfrm>
          <a:prstGeom prst="rect">
            <a:avLst/>
          </a:prstGeom>
          <a:noFill/>
        </p:spPr>
        <p:txBody>
          <a:bodyPr wrap="square" lIns="41148" tIns="22860" rIns="41148" bIns="22860" anchor="t">
            <a:spAutoFit/>
          </a:bodyPr>
          <a:lstStyle/>
          <a:p>
            <a:pPr algn="ctr"/>
            <a:r>
              <a:rPr sz="2500" b="1" i="0">
                <a:solidFill>
                  <a:srgbClr val="10395C"/>
                </a:solidFill>
                <a:latin typeface="Aptos"/>
              </a:rPr>
              <a:t>A smarter way to plan the academic journey</a:t>
            </a:r>
          </a:p>
        </p:txBody>
      </p:sp>
      <p:sp>
        <p:nvSpPr>
          <p:cNvPr id="21" name="TextBox 20"/>
          <p:cNvSpPr txBox="1"/>
          <p:nvPr/>
        </p:nvSpPr>
        <p:spPr>
          <a:xfrm>
            <a:off x="1828800" y="2651760"/>
            <a:ext cx="8549640" cy="530352"/>
          </a:xfrm>
          <a:prstGeom prst="rect">
            <a:avLst/>
          </a:prstGeom>
          <a:noFill/>
        </p:spPr>
        <p:txBody>
          <a:bodyPr wrap="square" lIns="41148" tIns="22860" rIns="41148" bIns="22860" anchor="t">
            <a:spAutoFit/>
          </a:bodyPr>
          <a:lstStyle/>
          <a:p>
            <a:pPr algn="ctr"/>
            <a:r>
              <a:rPr sz="1070"/>
              <a:t>The Course Registration &amp; Timetable Builder combines course discovery, rule-based validation, timetable planning and registration in one connected workflow. It can begin as a manageable MVP and later expand with waitlists, notifications, calendar sync and university-system integration.</a:t>
            </a:r>
          </a:p>
        </p:txBody>
      </p:sp>
      <p:sp>
        <p:nvSpPr>
          <p:cNvPr id="22" name="TextBox 21"/>
          <p:cNvSpPr txBox="1"/>
          <p:nvPr/>
        </p:nvSpPr>
        <p:spPr>
          <a:xfrm>
            <a:off x="1783080" y="3383280"/>
            <a:ext cx="8641080" cy="713232"/>
          </a:xfrm>
          <a:prstGeom prst="rect">
            <a:avLst/>
          </a:prstGeom>
          <a:noFill/>
        </p:spPr>
        <p:txBody>
          <a:bodyPr wrap="square" lIns="41148" tIns="22860" rIns="41148" bIns="22860" anchor="t">
            <a:spAutoFit/>
          </a:bodyPr>
          <a:lstStyle/>
          <a:p>
            <a:pPr algn="ctr"/>
            <a:r>
              <a:rPr sz="1250" b="0" i="0">
                <a:solidFill>
                  <a:srgbClr val="5D7684"/>
                </a:solidFill>
                <a:latin typeface="Aptos"/>
              </a:rPr>
              <a:t>It helps students save time, avoid timetable conflicts and understand their academic plan, while giving faculty and administrators a clearer way to manage academic information.</a:t>
            </a:r>
          </a:p>
        </p:txBody>
      </p:sp>
      <p:sp>
        <p:nvSpPr>
          <p:cNvPr id="23" name="Rounded Rectangle 22"/>
          <p:cNvSpPr/>
          <p:nvPr/>
        </p:nvSpPr>
        <p:spPr>
          <a:xfrm>
            <a:off x="2121408" y="4572000"/>
            <a:ext cx="1572768" cy="329184"/>
          </a:xfrm>
          <a:prstGeom prst="roundRect">
            <a:avLst>
              <a:gd name="adj" fmla="val 12000"/>
            </a:avLst>
          </a:prstGeom>
          <a:solidFill>
            <a:srgbClr val="D7F0F8"/>
          </a:solidFill>
          <a:ln>
            <a:solidFill>
              <a:srgbClr val="D7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2139696" y="4590288"/>
            <a:ext cx="1536192" cy="274320"/>
          </a:xfrm>
          <a:prstGeom prst="rect">
            <a:avLst/>
          </a:prstGeom>
          <a:noFill/>
        </p:spPr>
        <p:txBody>
          <a:bodyPr wrap="square" lIns="41148" tIns="22860" rIns="41148" bIns="22860" anchor="ctr">
            <a:spAutoFit/>
          </a:bodyPr>
          <a:lstStyle/>
          <a:p>
            <a:pPr algn="ctr"/>
            <a:r>
              <a:rPr sz="880" b="1" i="0">
                <a:solidFill>
                  <a:srgbClr val="10395C"/>
                </a:solidFill>
                <a:latin typeface="Aptos"/>
              </a:rPr>
              <a:t>SELECT</a:t>
            </a:r>
          </a:p>
        </p:txBody>
      </p:sp>
      <p:cxnSp>
        <p:nvCxnSpPr>
          <p:cNvPr id="25" name="Connector 24"/>
          <p:cNvCxnSpPr/>
          <p:nvPr/>
        </p:nvCxnSpPr>
        <p:spPr>
          <a:xfrm>
            <a:off x="3712463" y="4736592"/>
            <a:ext cx="310897"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4114800" y="4572000"/>
            <a:ext cx="1572768" cy="329184"/>
          </a:xfrm>
          <a:prstGeom prst="roundRect">
            <a:avLst>
              <a:gd name="adj" fmla="val 12000"/>
            </a:avLst>
          </a:prstGeom>
          <a:solidFill>
            <a:srgbClr val="E1F8F1"/>
          </a:solidFill>
          <a:ln>
            <a:solidFill>
              <a:srgbClr val="E1F8F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33087" y="4590288"/>
            <a:ext cx="1536192" cy="274320"/>
          </a:xfrm>
          <a:prstGeom prst="rect">
            <a:avLst/>
          </a:prstGeom>
          <a:noFill/>
        </p:spPr>
        <p:txBody>
          <a:bodyPr wrap="square" lIns="41148" tIns="22860" rIns="41148" bIns="22860" anchor="ctr">
            <a:spAutoFit/>
          </a:bodyPr>
          <a:lstStyle/>
          <a:p>
            <a:pPr algn="ctr"/>
            <a:r>
              <a:rPr sz="880" b="1" i="0">
                <a:solidFill>
                  <a:srgbClr val="10395C"/>
                </a:solidFill>
                <a:latin typeface="Aptos"/>
              </a:rPr>
              <a:t>VALIDATE</a:t>
            </a:r>
          </a:p>
        </p:txBody>
      </p:sp>
      <p:cxnSp>
        <p:nvCxnSpPr>
          <p:cNvPr id="28" name="Connector 27"/>
          <p:cNvCxnSpPr/>
          <p:nvPr/>
        </p:nvCxnSpPr>
        <p:spPr>
          <a:xfrm>
            <a:off x="5705856" y="4736592"/>
            <a:ext cx="310896"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6108192" y="4572000"/>
            <a:ext cx="1572768" cy="329184"/>
          </a:xfrm>
          <a:prstGeom prst="roundRect">
            <a:avLst>
              <a:gd name="adj" fmla="val 12000"/>
            </a:avLst>
          </a:prstGeom>
          <a:solidFill>
            <a:srgbClr val="EDECFC"/>
          </a:solidFill>
          <a:ln>
            <a:solidFill>
              <a:srgbClr val="EDEC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126479" y="4590288"/>
            <a:ext cx="1536192" cy="274320"/>
          </a:xfrm>
          <a:prstGeom prst="rect">
            <a:avLst/>
          </a:prstGeom>
          <a:noFill/>
        </p:spPr>
        <p:txBody>
          <a:bodyPr wrap="square" lIns="41148" tIns="22860" rIns="41148" bIns="22860" anchor="ctr">
            <a:spAutoFit/>
          </a:bodyPr>
          <a:lstStyle/>
          <a:p>
            <a:pPr algn="ctr"/>
            <a:r>
              <a:rPr sz="880" b="1" i="0">
                <a:solidFill>
                  <a:srgbClr val="10395C"/>
                </a:solidFill>
                <a:latin typeface="Aptos"/>
              </a:rPr>
              <a:t>VISUALIZE</a:t>
            </a:r>
          </a:p>
        </p:txBody>
      </p:sp>
      <p:cxnSp>
        <p:nvCxnSpPr>
          <p:cNvPr id="31" name="Connector 30"/>
          <p:cNvCxnSpPr/>
          <p:nvPr/>
        </p:nvCxnSpPr>
        <p:spPr>
          <a:xfrm>
            <a:off x="7699248" y="4736592"/>
            <a:ext cx="310896" cy="0"/>
          </a:xfrm>
          <a:prstGeom prst="line">
            <a:avLst/>
          </a:prstGeom>
          <a:ln w="21590">
            <a:solidFill>
              <a:srgbClr val="5BBFCC"/>
            </a:solidFill>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101584" y="4572000"/>
            <a:ext cx="1572768" cy="329184"/>
          </a:xfrm>
          <a:prstGeom prst="roundRect">
            <a:avLst>
              <a:gd name="adj" fmla="val 12000"/>
            </a:avLst>
          </a:prstGeom>
          <a:solidFill>
            <a:srgbClr val="FDEDE5"/>
          </a:solidFill>
          <a:ln>
            <a:solidFill>
              <a:srgbClr val="FDEDE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119872" y="4590288"/>
            <a:ext cx="1536192" cy="274320"/>
          </a:xfrm>
          <a:prstGeom prst="rect">
            <a:avLst/>
          </a:prstGeom>
          <a:noFill/>
        </p:spPr>
        <p:txBody>
          <a:bodyPr wrap="square" lIns="41148" tIns="22860" rIns="41148" bIns="22860" anchor="ctr">
            <a:spAutoFit/>
          </a:bodyPr>
          <a:lstStyle/>
          <a:p>
            <a:pPr algn="ctr"/>
            <a:r>
              <a:rPr sz="880" b="1" i="0">
                <a:solidFill>
                  <a:srgbClr val="10395C"/>
                </a:solidFill>
                <a:latin typeface="Aptos"/>
              </a:rPr>
              <a:t>REGISTER</a:t>
            </a:r>
          </a:p>
        </p:txBody>
      </p:sp>
      <p:sp>
        <p:nvSpPr>
          <p:cNvPr id="34" name="TextBox 33"/>
          <p:cNvSpPr txBox="1"/>
          <p:nvPr/>
        </p:nvSpPr>
        <p:spPr>
          <a:xfrm>
            <a:off x="1828800" y="5358384"/>
            <a:ext cx="8549640" cy="384048"/>
          </a:xfrm>
          <a:prstGeom prst="rect">
            <a:avLst/>
          </a:prstGeom>
          <a:noFill/>
        </p:spPr>
        <p:txBody>
          <a:bodyPr wrap="square" lIns="41148" tIns="22860" rIns="41148" bIns="22860" anchor="t">
            <a:spAutoFit/>
          </a:bodyPr>
          <a:lstStyle/>
          <a:p>
            <a:pPr algn="ctr"/>
            <a:r>
              <a:rPr sz="1000"/>
              <a:t>A clear academic workflow today, with room to grow into a broader scheduling platform.</a:t>
            </a:r>
          </a:p>
        </p:txBody>
      </p:sp>
      <p:sp>
        <p:nvSpPr>
          <p:cNvPr id="35" name="TextBox 34"/>
          <p:cNvSpPr txBox="1"/>
          <p:nvPr/>
        </p:nvSpPr>
        <p:spPr>
          <a:xfrm>
            <a:off x="4754880" y="5897880"/>
            <a:ext cx="2697480" cy="329184"/>
          </a:xfrm>
          <a:prstGeom prst="rect">
            <a:avLst/>
          </a:prstGeom>
          <a:noFill/>
        </p:spPr>
        <p:txBody>
          <a:bodyPr wrap="square" lIns="41148" tIns="22860" rIns="41148" bIns="22860" anchor="t">
            <a:spAutoFit/>
          </a:bodyPr>
          <a:lstStyle/>
          <a:p>
            <a:pPr algn="ctr"/>
            <a:r>
              <a:rPr sz="1700" b="1" i="0">
                <a:solidFill>
                  <a:srgbClr val="2A79A3"/>
                </a:solidFill>
                <a:latin typeface="Apto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TotalTime>
  <Words>1251</Words>
  <Application>Microsoft Office PowerPoint</Application>
  <PresentationFormat>Widescreen</PresentationFormat>
  <Paragraphs>318</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Aptos</vt: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Nitya Sri</dc:creator>
  <cp:keywords/>
  <dc:description>generated using python-pptx</dc:description>
  <cp:lastModifiedBy>tnityasri20@outlook.com</cp:lastModifiedBy>
  <cp:revision>2</cp:revision>
  <dcterms:created xsi:type="dcterms:W3CDTF">2013-01-27T09:14:16Z</dcterms:created>
  <dcterms:modified xsi:type="dcterms:W3CDTF">2026-09-21T16:02:27Z</dcterms:modified>
  <cp:category/>
</cp:coreProperties>
</file>