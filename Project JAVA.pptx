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2" d="100"/>
          <a:sy n="102" d="100"/>
        </p:scale>
        <p:origin x="364" y="7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1F8F1"/>
        </a:solidFill>
        <a:effectLst/>
      </p:bgPr>
    </p:bg>
    <p:spTree>
      <p:nvGrpSpPr>
        <p:cNvPr id="1" name=""/>
        <p:cNvGrpSpPr/>
        <p:nvPr/>
      </p:nvGrpSpPr>
      <p:grpSpPr>
        <a:xfrm>
          <a:off x="0" y="0"/>
          <a:ext cx="0" cy="0"/>
          <a:chOff x="0" y="0"/>
          <a:chExt cx="0" cy="0"/>
        </a:xfrm>
      </p:grpSpPr>
      <p:sp>
        <p:nvSpPr>
          <p:cNvPr id="2" name="Oval 1"/>
          <p:cNvSpPr/>
          <p:nvPr/>
        </p:nvSpPr>
        <p:spPr>
          <a:xfrm>
            <a:off x="10652760" y="-411480"/>
            <a:ext cx="1920240" cy="1920240"/>
          </a:xfrm>
          <a:prstGeom prst="ellipse">
            <a:avLst/>
          </a:prstGeom>
          <a:solidFill>
            <a:srgbClr val="D7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9875520" y="5623560"/>
            <a:ext cx="2011680" cy="2011680"/>
          </a:xfrm>
          <a:prstGeom prst="ellipse">
            <a:avLst/>
          </a:prstGeom>
          <a:solidFill>
            <a:srgbClr val="E1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411480" y="5715000"/>
            <a:ext cx="1554480" cy="1554480"/>
          </a:xfrm>
          <a:prstGeom prst="ellipse">
            <a:avLst/>
          </a:prstGeom>
          <a:solidFill>
            <a:srgbClr val="EDE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rot="20100000">
            <a:off x="45720" y="91440"/>
            <a:ext cx="228600" cy="96012"/>
          </a:xfrm>
          <a:prstGeom prst="ellipse">
            <a:avLst/>
          </a:prstGeom>
          <a:solidFill>
            <a:srgbClr val="5BB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rot="1500000">
            <a:off x="246888" y="256032"/>
            <a:ext cx="256032" cy="107533"/>
          </a:xfrm>
          <a:prstGeom prst="ellipse">
            <a:avLst/>
          </a:prstGeom>
          <a:solidFill>
            <a:srgbClr val="2A79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rot="19500000">
            <a:off x="-100584" y="411479"/>
            <a:ext cx="219456" cy="92171"/>
          </a:xfrm>
          <a:prstGeom prst="ellipse">
            <a:avLst/>
          </a:prstGeom>
          <a:solidFill>
            <a:srgbClr val="5BB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rot="1500000">
            <a:off x="155448" y="566928"/>
            <a:ext cx="201168" cy="84490"/>
          </a:xfrm>
          <a:prstGeom prst="ellipse">
            <a:avLst/>
          </a:prstGeom>
          <a:solidFill>
            <a:srgbClr val="2A79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rot="19500000">
            <a:off x="-210312" y="685800"/>
            <a:ext cx="201168" cy="84490"/>
          </a:xfrm>
          <a:prstGeom prst="ellipse">
            <a:avLst/>
          </a:prstGeom>
          <a:solidFill>
            <a:srgbClr val="5BB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0" name="Connector 9"/>
          <p:cNvCxnSpPr/>
          <p:nvPr/>
        </p:nvCxnSpPr>
        <p:spPr>
          <a:xfrm flipH="1">
            <a:off x="64008" y="109728"/>
            <a:ext cx="73152" cy="758952"/>
          </a:xfrm>
          <a:prstGeom prst="line">
            <a:avLst/>
          </a:prstGeom>
          <a:ln w="13970">
            <a:solidFill>
              <a:srgbClr val="2A79A3"/>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rot="20100000">
            <a:off x="11292840" y="91440"/>
            <a:ext cx="228600" cy="96012"/>
          </a:xfrm>
          <a:prstGeom prst="ellipse">
            <a:avLst/>
          </a:prstGeom>
          <a:solidFill>
            <a:srgbClr val="5BB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rot="1500000">
            <a:off x="11494008" y="256032"/>
            <a:ext cx="256032" cy="107533"/>
          </a:xfrm>
          <a:prstGeom prst="ellipse">
            <a:avLst/>
          </a:prstGeom>
          <a:solidFill>
            <a:srgbClr val="2A79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rot="19500000">
            <a:off x="11146536" y="411479"/>
            <a:ext cx="219456" cy="92171"/>
          </a:xfrm>
          <a:prstGeom prst="ellipse">
            <a:avLst/>
          </a:prstGeom>
          <a:solidFill>
            <a:srgbClr val="5BB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rot="1500000">
            <a:off x="11402567" y="566928"/>
            <a:ext cx="201168" cy="84490"/>
          </a:xfrm>
          <a:prstGeom prst="ellipse">
            <a:avLst/>
          </a:prstGeom>
          <a:solidFill>
            <a:srgbClr val="2A79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rot="19500000">
            <a:off x="11036808" y="685800"/>
            <a:ext cx="201168" cy="84490"/>
          </a:xfrm>
          <a:prstGeom prst="ellipse">
            <a:avLst/>
          </a:prstGeom>
          <a:solidFill>
            <a:srgbClr val="5BB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6" name="Connector 15"/>
          <p:cNvCxnSpPr/>
          <p:nvPr/>
        </p:nvCxnSpPr>
        <p:spPr>
          <a:xfrm flipH="1">
            <a:off x="11311128" y="109728"/>
            <a:ext cx="73152" cy="758952"/>
          </a:xfrm>
          <a:prstGeom prst="line">
            <a:avLst/>
          </a:prstGeom>
          <a:ln w="13970">
            <a:solidFill>
              <a:srgbClr val="2A79A3"/>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594360" y="530352"/>
            <a:ext cx="11000232" cy="5715000"/>
          </a:xfrm>
          <a:prstGeom prst="roundRect">
            <a:avLst>
              <a:gd name="adj" fmla="val 12000"/>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4590288" y="932688"/>
            <a:ext cx="3017520" cy="329184"/>
          </a:xfrm>
          <a:prstGeom prst="roundRect">
            <a:avLst>
              <a:gd name="adj" fmla="val 12000"/>
            </a:avLst>
          </a:prstGeom>
          <a:solidFill>
            <a:srgbClr val="D7F0F8"/>
          </a:solidFill>
          <a:ln>
            <a:solidFill>
              <a:srgbClr val="D7F0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608575" y="950976"/>
            <a:ext cx="2980944" cy="274320"/>
          </a:xfrm>
          <a:prstGeom prst="rect">
            <a:avLst/>
          </a:prstGeom>
          <a:noFill/>
        </p:spPr>
        <p:txBody>
          <a:bodyPr wrap="square" lIns="41148" tIns="22860" rIns="41148" bIns="22860" anchor="ctr">
            <a:spAutoFit/>
          </a:bodyPr>
          <a:lstStyle/>
          <a:p>
            <a:pPr algn="ctr"/>
            <a:r>
              <a:rPr sz="950" b="1" i="0">
                <a:solidFill>
                  <a:srgbClr val="10395C"/>
                </a:solidFill>
                <a:latin typeface="Aptos"/>
              </a:rPr>
              <a:t>PROJECT PRESENTATION</a:t>
            </a:r>
          </a:p>
        </p:txBody>
      </p:sp>
      <p:sp>
        <p:nvSpPr>
          <p:cNvPr id="20" name="TextBox 19"/>
          <p:cNvSpPr txBox="1"/>
          <p:nvPr/>
        </p:nvSpPr>
        <p:spPr>
          <a:xfrm>
            <a:off x="1143000" y="1600200"/>
            <a:ext cx="9921240" cy="566928"/>
          </a:xfrm>
          <a:prstGeom prst="rect">
            <a:avLst/>
          </a:prstGeom>
          <a:noFill/>
        </p:spPr>
        <p:txBody>
          <a:bodyPr wrap="square" lIns="41148" tIns="22860" rIns="41148" bIns="22860" anchor="t">
            <a:spAutoFit/>
          </a:bodyPr>
          <a:lstStyle/>
          <a:p>
            <a:pPr algn="ctr"/>
            <a:r>
              <a:rPr sz="3100" b="1" i="0">
                <a:solidFill>
                  <a:srgbClr val="10395C"/>
                </a:solidFill>
                <a:latin typeface="Aptos"/>
              </a:rPr>
              <a:t>COURSE REGISTRATION &amp;</a:t>
            </a:r>
          </a:p>
        </p:txBody>
      </p:sp>
      <p:sp>
        <p:nvSpPr>
          <p:cNvPr id="21" name="TextBox 20"/>
          <p:cNvSpPr txBox="1"/>
          <p:nvPr/>
        </p:nvSpPr>
        <p:spPr>
          <a:xfrm>
            <a:off x="1143000" y="2176272"/>
            <a:ext cx="9921240" cy="566928"/>
          </a:xfrm>
          <a:prstGeom prst="rect">
            <a:avLst/>
          </a:prstGeom>
          <a:noFill/>
        </p:spPr>
        <p:txBody>
          <a:bodyPr wrap="square" lIns="41148" tIns="22860" rIns="41148" bIns="22860" anchor="t">
            <a:spAutoFit/>
          </a:bodyPr>
          <a:lstStyle/>
          <a:p>
            <a:pPr algn="ctr"/>
            <a:r>
              <a:rPr sz="3100" b="1" i="0">
                <a:solidFill>
                  <a:srgbClr val="2A79A3"/>
                </a:solidFill>
                <a:latin typeface="Aptos"/>
              </a:rPr>
              <a:t>TIMETABLE BUILDER</a:t>
            </a:r>
          </a:p>
        </p:txBody>
      </p:sp>
      <p:sp>
        <p:nvSpPr>
          <p:cNvPr id="22" name="TextBox 21"/>
          <p:cNvSpPr txBox="1"/>
          <p:nvPr/>
        </p:nvSpPr>
        <p:spPr>
          <a:xfrm>
            <a:off x="1828800" y="2907792"/>
            <a:ext cx="8503920" cy="320040"/>
          </a:xfrm>
          <a:prstGeom prst="rect">
            <a:avLst/>
          </a:prstGeom>
          <a:noFill/>
        </p:spPr>
        <p:txBody>
          <a:bodyPr wrap="square" lIns="41148" tIns="22860" rIns="41148" bIns="22860" anchor="t">
            <a:spAutoFit/>
          </a:bodyPr>
          <a:lstStyle/>
          <a:p>
            <a:pPr algn="ctr"/>
            <a:r>
              <a:rPr sz="1400" b="0" i="0">
                <a:solidFill>
                  <a:srgbClr val="5D7684"/>
                </a:solidFill>
                <a:latin typeface="Aptos"/>
              </a:rPr>
              <a:t>A smart web-based academic management system</a:t>
            </a:r>
          </a:p>
        </p:txBody>
      </p:sp>
      <p:sp>
        <p:nvSpPr>
          <p:cNvPr id="23" name="Rounded Rectangle 22"/>
          <p:cNvSpPr/>
          <p:nvPr/>
        </p:nvSpPr>
        <p:spPr>
          <a:xfrm>
            <a:off x="1993392" y="3675887"/>
            <a:ext cx="2057400" cy="329184"/>
          </a:xfrm>
          <a:prstGeom prst="roundRect">
            <a:avLst>
              <a:gd name="adj" fmla="val 12000"/>
            </a:avLst>
          </a:prstGeom>
          <a:solidFill>
            <a:srgbClr val="E1F8F1"/>
          </a:solidFill>
          <a:ln>
            <a:solidFill>
              <a:srgbClr val="E1F8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011680" y="3694175"/>
            <a:ext cx="2020824" cy="274320"/>
          </a:xfrm>
          <a:prstGeom prst="rect">
            <a:avLst/>
          </a:prstGeom>
          <a:noFill/>
        </p:spPr>
        <p:txBody>
          <a:bodyPr wrap="square" lIns="41148" tIns="22860" rIns="41148" bIns="22860" anchor="ctr">
            <a:spAutoFit/>
          </a:bodyPr>
          <a:lstStyle/>
          <a:p>
            <a:pPr algn="ctr"/>
            <a:r>
              <a:rPr sz="950" b="1" i="0">
                <a:solidFill>
                  <a:srgbClr val="10395C"/>
                </a:solidFill>
                <a:latin typeface="Aptos"/>
              </a:rPr>
              <a:t>Register smarter</a:t>
            </a:r>
          </a:p>
        </p:txBody>
      </p:sp>
      <p:sp>
        <p:nvSpPr>
          <p:cNvPr id="25" name="Rounded Rectangle 24"/>
          <p:cNvSpPr/>
          <p:nvPr/>
        </p:nvSpPr>
        <p:spPr>
          <a:xfrm>
            <a:off x="4773168" y="3675887"/>
            <a:ext cx="2057400" cy="329184"/>
          </a:xfrm>
          <a:prstGeom prst="roundRect">
            <a:avLst>
              <a:gd name="adj" fmla="val 12000"/>
            </a:avLst>
          </a:prstGeom>
          <a:solidFill>
            <a:srgbClr val="D7F0F8"/>
          </a:solidFill>
          <a:ln>
            <a:solidFill>
              <a:srgbClr val="D7F0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791455" y="3694175"/>
            <a:ext cx="2020824" cy="274320"/>
          </a:xfrm>
          <a:prstGeom prst="rect">
            <a:avLst/>
          </a:prstGeom>
          <a:noFill/>
        </p:spPr>
        <p:txBody>
          <a:bodyPr wrap="square" lIns="41148" tIns="22860" rIns="41148" bIns="22860" anchor="ctr">
            <a:spAutoFit/>
          </a:bodyPr>
          <a:lstStyle/>
          <a:p>
            <a:pPr algn="ctr"/>
            <a:r>
              <a:rPr sz="950" b="1" i="0">
                <a:solidFill>
                  <a:srgbClr val="10395C"/>
                </a:solidFill>
                <a:latin typeface="Aptos"/>
              </a:rPr>
              <a:t>Detect clashes</a:t>
            </a:r>
          </a:p>
        </p:txBody>
      </p:sp>
      <p:sp>
        <p:nvSpPr>
          <p:cNvPr id="27" name="Rounded Rectangle 26"/>
          <p:cNvSpPr/>
          <p:nvPr/>
        </p:nvSpPr>
        <p:spPr>
          <a:xfrm>
            <a:off x="7360920" y="3675887"/>
            <a:ext cx="2423160" cy="329184"/>
          </a:xfrm>
          <a:prstGeom prst="roundRect">
            <a:avLst>
              <a:gd name="adj" fmla="val 12000"/>
            </a:avLst>
          </a:prstGeom>
          <a:solidFill>
            <a:srgbClr val="EDECFC"/>
          </a:solidFill>
          <a:ln>
            <a:solidFill>
              <a:srgbClr val="EDEC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379208" y="3694175"/>
            <a:ext cx="2386584" cy="274320"/>
          </a:xfrm>
          <a:prstGeom prst="rect">
            <a:avLst/>
          </a:prstGeom>
          <a:noFill/>
        </p:spPr>
        <p:txBody>
          <a:bodyPr wrap="square" lIns="41148" tIns="22860" rIns="41148" bIns="22860" anchor="ctr">
            <a:spAutoFit/>
          </a:bodyPr>
          <a:lstStyle/>
          <a:p>
            <a:pPr algn="ctr"/>
            <a:r>
              <a:rPr sz="950" b="1" i="0">
                <a:solidFill>
                  <a:srgbClr val="10395C"/>
                </a:solidFill>
                <a:latin typeface="Aptos"/>
              </a:rPr>
              <a:t>Build better schedules</a:t>
            </a:r>
          </a:p>
        </p:txBody>
      </p:sp>
      <p:sp>
        <p:nvSpPr>
          <p:cNvPr id="29" name="Rounded Rectangle 28"/>
          <p:cNvSpPr/>
          <p:nvPr/>
        </p:nvSpPr>
        <p:spPr>
          <a:xfrm>
            <a:off x="4160520" y="4407408"/>
            <a:ext cx="3886200" cy="932688"/>
          </a:xfrm>
          <a:prstGeom prst="roundRect">
            <a:avLst>
              <a:gd name="adj" fmla="val 12000"/>
            </a:avLst>
          </a:prstGeom>
          <a:solidFill>
            <a:srgbClr val="F1FAFD"/>
          </a:solidFill>
          <a:ln>
            <a:solidFill>
              <a:srgbClr val="C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4370832" y="4590288"/>
            <a:ext cx="530352" cy="329184"/>
          </a:xfrm>
          <a:prstGeom prst="roundRect">
            <a:avLst>
              <a:gd name="adj" fmla="val 12000"/>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389120" y="4608575"/>
            <a:ext cx="493775" cy="274320"/>
          </a:xfrm>
          <a:prstGeom prst="rect">
            <a:avLst/>
          </a:prstGeom>
          <a:noFill/>
        </p:spPr>
        <p:txBody>
          <a:bodyPr wrap="square" lIns="41148" tIns="22860" rIns="41148" bIns="22860" anchor="ctr">
            <a:spAutoFit/>
          </a:bodyPr>
          <a:lstStyle/>
          <a:p>
            <a:pPr algn="ctr"/>
            <a:r>
              <a:rPr sz="720" b="1" i="0">
                <a:solidFill>
                  <a:srgbClr val="10395C"/>
                </a:solidFill>
                <a:latin typeface="Aptos"/>
              </a:rPr>
              <a:t>MON</a:t>
            </a:r>
          </a:p>
        </p:txBody>
      </p:sp>
      <p:sp>
        <p:nvSpPr>
          <p:cNvPr id="32" name="Rounded Rectangle 31"/>
          <p:cNvSpPr/>
          <p:nvPr/>
        </p:nvSpPr>
        <p:spPr>
          <a:xfrm>
            <a:off x="5010912" y="4590288"/>
            <a:ext cx="530352" cy="329184"/>
          </a:xfrm>
          <a:prstGeom prst="roundRect">
            <a:avLst>
              <a:gd name="adj" fmla="val 12000"/>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5029200" y="4608575"/>
            <a:ext cx="493775" cy="274320"/>
          </a:xfrm>
          <a:prstGeom prst="rect">
            <a:avLst/>
          </a:prstGeom>
          <a:noFill/>
        </p:spPr>
        <p:txBody>
          <a:bodyPr wrap="square" lIns="41148" tIns="22860" rIns="41148" bIns="22860" anchor="ctr">
            <a:spAutoFit/>
          </a:bodyPr>
          <a:lstStyle/>
          <a:p>
            <a:pPr algn="ctr"/>
            <a:r>
              <a:rPr sz="720" b="1" i="0">
                <a:solidFill>
                  <a:srgbClr val="10395C"/>
                </a:solidFill>
                <a:latin typeface="Aptos"/>
              </a:rPr>
              <a:t>TUE</a:t>
            </a:r>
          </a:p>
        </p:txBody>
      </p:sp>
      <p:sp>
        <p:nvSpPr>
          <p:cNvPr id="34" name="Rounded Rectangle 33"/>
          <p:cNvSpPr/>
          <p:nvPr/>
        </p:nvSpPr>
        <p:spPr>
          <a:xfrm>
            <a:off x="5650992" y="4590288"/>
            <a:ext cx="530352" cy="329184"/>
          </a:xfrm>
          <a:prstGeom prst="roundRect">
            <a:avLst>
              <a:gd name="adj" fmla="val 12000"/>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669279" y="4608575"/>
            <a:ext cx="493775" cy="274320"/>
          </a:xfrm>
          <a:prstGeom prst="rect">
            <a:avLst/>
          </a:prstGeom>
          <a:noFill/>
        </p:spPr>
        <p:txBody>
          <a:bodyPr wrap="square" lIns="41148" tIns="22860" rIns="41148" bIns="22860" anchor="ctr">
            <a:spAutoFit/>
          </a:bodyPr>
          <a:lstStyle/>
          <a:p>
            <a:pPr algn="ctr"/>
            <a:r>
              <a:rPr sz="720" b="1" i="0">
                <a:solidFill>
                  <a:srgbClr val="10395C"/>
                </a:solidFill>
                <a:latin typeface="Aptos"/>
              </a:rPr>
              <a:t>WED</a:t>
            </a:r>
          </a:p>
        </p:txBody>
      </p:sp>
      <p:sp>
        <p:nvSpPr>
          <p:cNvPr id="36" name="Rounded Rectangle 35"/>
          <p:cNvSpPr/>
          <p:nvPr/>
        </p:nvSpPr>
        <p:spPr>
          <a:xfrm>
            <a:off x="6291072" y="4590288"/>
            <a:ext cx="530352" cy="329184"/>
          </a:xfrm>
          <a:prstGeom prst="roundRect">
            <a:avLst>
              <a:gd name="adj" fmla="val 12000"/>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309359" y="4608575"/>
            <a:ext cx="493775" cy="274320"/>
          </a:xfrm>
          <a:prstGeom prst="rect">
            <a:avLst/>
          </a:prstGeom>
          <a:noFill/>
        </p:spPr>
        <p:txBody>
          <a:bodyPr wrap="square" lIns="41148" tIns="22860" rIns="41148" bIns="22860" anchor="ctr">
            <a:spAutoFit/>
          </a:bodyPr>
          <a:lstStyle/>
          <a:p>
            <a:pPr algn="ctr"/>
            <a:r>
              <a:rPr sz="720" b="1" i="0">
                <a:solidFill>
                  <a:srgbClr val="10395C"/>
                </a:solidFill>
                <a:latin typeface="Aptos"/>
              </a:rPr>
              <a:t>THU</a:t>
            </a:r>
          </a:p>
        </p:txBody>
      </p:sp>
      <p:sp>
        <p:nvSpPr>
          <p:cNvPr id="38" name="Rounded Rectangle 37"/>
          <p:cNvSpPr/>
          <p:nvPr/>
        </p:nvSpPr>
        <p:spPr>
          <a:xfrm>
            <a:off x="6931152" y="4590288"/>
            <a:ext cx="530352" cy="329184"/>
          </a:xfrm>
          <a:prstGeom prst="roundRect">
            <a:avLst>
              <a:gd name="adj" fmla="val 12000"/>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949440" y="4608575"/>
            <a:ext cx="493775" cy="274320"/>
          </a:xfrm>
          <a:prstGeom prst="rect">
            <a:avLst/>
          </a:prstGeom>
          <a:noFill/>
        </p:spPr>
        <p:txBody>
          <a:bodyPr wrap="square" lIns="41148" tIns="22860" rIns="41148" bIns="22860" anchor="ctr">
            <a:spAutoFit/>
          </a:bodyPr>
          <a:lstStyle/>
          <a:p>
            <a:pPr algn="ctr"/>
            <a:r>
              <a:rPr sz="720" b="1" i="0">
                <a:solidFill>
                  <a:srgbClr val="10395C"/>
                </a:solidFill>
                <a:latin typeface="Aptos"/>
              </a:rPr>
              <a:t>FRI</a:t>
            </a:r>
          </a:p>
        </p:txBody>
      </p:sp>
      <p:sp>
        <p:nvSpPr>
          <p:cNvPr id="40" name="Rounded Rectangle 39"/>
          <p:cNvSpPr/>
          <p:nvPr/>
        </p:nvSpPr>
        <p:spPr>
          <a:xfrm>
            <a:off x="4370832" y="4965192"/>
            <a:ext cx="530352" cy="182880"/>
          </a:xfrm>
          <a:prstGeom prst="roundRect">
            <a:avLst>
              <a:gd name="adj" fmla="val 0"/>
            </a:avLst>
          </a:prstGeom>
          <a:solidFill>
            <a:srgbClr val="5BBFCC"/>
          </a:solidFill>
          <a:ln>
            <a:solidFill>
              <a:srgbClr val="5BBF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ounded Rectangle 40"/>
          <p:cNvSpPr/>
          <p:nvPr/>
        </p:nvSpPr>
        <p:spPr>
          <a:xfrm>
            <a:off x="5010912" y="4965192"/>
            <a:ext cx="530352" cy="182880"/>
          </a:xfrm>
          <a:prstGeom prst="roundRect">
            <a:avLst>
              <a:gd name="adj" fmla="val 0"/>
            </a:avLst>
          </a:prstGeom>
          <a:solidFill>
            <a:srgbClr val="8FD8C6"/>
          </a:solidFill>
          <a:ln>
            <a:solidFill>
              <a:srgbClr val="8FD8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ounded Rectangle 41"/>
          <p:cNvSpPr/>
          <p:nvPr/>
        </p:nvSpPr>
        <p:spPr>
          <a:xfrm>
            <a:off x="5650992" y="4965192"/>
            <a:ext cx="530352" cy="182880"/>
          </a:xfrm>
          <a:prstGeom prst="roundRect">
            <a:avLst>
              <a:gd name="adj" fmla="val 0"/>
            </a:avLst>
          </a:prstGeom>
          <a:solidFill>
            <a:srgbClr val="F1B19F"/>
          </a:solidFill>
          <a:ln>
            <a:solidFill>
              <a:srgbClr val="F1B19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ounded Rectangle 42"/>
          <p:cNvSpPr/>
          <p:nvPr/>
        </p:nvSpPr>
        <p:spPr>
          <a:xfrm>
            <a:off x="6291072" y="4965192"/>
            <a:ext cx="530352" cy="182880"/>
          </a:xfrm>
          <a:prstGeom prst="roundRect">
            <a:avLst>
              <a:gd name="adj" fmla="val 0"/>
            </a:avLst>
          </a:prstGeom>
          <a:solidFill>
            <a:srgbClr val="B3B5E8"/>
          </a:solidFill>
          <a:ln>
            <a:solidFill>
              <a:srgbClr val="B3B5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ounded Rectangle 43"/>
          <p:cNvSpPr/>
          <p:nvPr/>
        </p:nvSpPr>
        <p:spPr>
          <a:xfrm>
            <a:off x="6931152" y="4965192"/>
            <a:ext cx="530352" cy="182880"/>
          </a:xfrm>
          <a:prstGeom prst="roundRect">
            <a:avLst>
              <a:gd name="adj" fmla="val 0"/>
            </a:avLst>
          </a:prstGeom>
          <a:solidFill>
            <a:srgbClr val="F6DE9A"/>
          </a:solidFill>
          <a:ln>
            <a:solidFill>
              <a:srgbClr val="F6DE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2331720" y="5559552"/>
            <a:ext cx="7589520" cy="256032"/>
          </a:xfrm>
          <a:prstGeom prst="rect">
            <a:avLst/>
          </a:prstGeom>
          <a:noFill/>
        </p:spPr>
        <p:txBody>
          <a:bodyPr wrap="square" lIns="41148" tIns="22860" rIns="41148" bIns="22860" anchor="t">
            <a:spAutoFit/>
          </a:bodyPr>
          <a:lstStyle/>
          <a:p>
            <a:pPr algn="ctr"/>
            <a:r>
              <a:rPr sz="1080" b="1" i="0">
                <a:solidFill>
                  <a:srgbClr val="10395C"/>
                </a:solidFill>
                <a:latin typeface="Aptos"/>
              </a:rPr>
              <a:t>SELECT  →  VALIDATE  →  VISUALIZE  →  REGISTER</a:t>
            </a:r>
          </a:p>
        </p:txBody>
      </p:sp>
      <p:sp>
        <p:nvSpPr>
          <p:cNvPr id="46" name="TextBox 45"/>
          <p:cNvSpPr txBox="1"/>
          <p:nvPr/>
        </p:nvSpPr>
        <p:spPr>
          <a:xfrm>
            <a:off x="3383280" y="5916168"/>
            <a:ext cx="5394960" cy="323165"/>
          </a:xfrm>
          <a:prstGeom prst="rect">
            <a:avLst/>
          </a:prstGeom>
          <a:noFill/>
        </p:spPr>
        <p:txBody>
          <a:bodyPr wrap="square" lIns="41148" tIns="22860" rIns="41148" bIns="22860" anchor="t">
            <a:spAutoFit/>
          </a:bodyPr>
          <a:lstStyle/>
          <a:p>
            <a:pPr algn="ctr"/>
            <a:r>
              <a:rPr b="0" i="0" dirty="0">
                <a:solidFill>
                  <a:srgbClr val="5D7684"/>
                </a:solidFill>
                <a:latin typeface="Aptos"/>
              </a:rPr>
              <a:t>Student / Team Name: </a:t>
            </a:r>
            <a:r>
              <a:rPr lang="en-CA" b="0" i="0" dirty="0">
                <a:solidFill>
                  <a:srgbClr val="5D7684"/>
                </a:solidFill>
                <a:latin typeface="Aptos"/>
              </a:rPr>
              <a:t>Nitya, Mihika, Samyuktha</a:t>
            </a:r>
            <a:endParaRPr b="0" i="0" dirty="0">
              <a:solidFill>
                <a:srgbClr val="5D7684"/>
              </a:solidFill>
              <a:latin typeface="Apto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1FAFD"/>
        </a:solidFill>
        <a:effectLst/>
      </p:bgPr>
    </p:bg>
    <p:spTree>
      <p:nvGrpSpPr>
        <p:cNvPr id="1" name=""/>
        <p:cNvGrpSpPr/>
        <p:nvPr/>
      </p:nvGrpSpPr>
      <p:grpSpPr>
        <a:xfrm>
          <a:off x="0" y="0"/>
          <a:ext cx="0" cy="0"/>
          <a:chOff x="0" y="0"/>
          <a:chExt cx="0" cy="0"/>
        </a:xfrm>
      </p:grpSpPr>
      <p:sp>
        <p:nvSpPr>
          <p:cNvPr id="2" name="Oval 1"/>
          <p:cNvSpPr/>
          <p:nvPr/>
        </p:nvSpPr>
        <p:spPr>
          <a:xfrm>
            <a:off x="10652760" y="-411480"/>
            <a:ext cx="1920240" cy="1920240"/>
          </a:xfrm>
          <a:prstGeom prst="ellipse">
            <a:avLst/>
          </a:prstGeom>
          <a:solidFill>
            <a:srgbClr val="D7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9875520" y="5623560"/>
            <a:ext cx="2011680" cy="2011680"/>
          </a:xfrm>
          <a:prstGeom prst="ellipse">
            <a:avLst/>
          </a:prstGeom>
          <a:solidFill>
            <a:srgbClr val="E1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411480" y="5715000"/>
            <a:ext cx="1554480" cy="1554480"/>
          </a:xfrm>
          <a:prstGeom prst="ellipse">
            <a:avLst/>
          </a:prstGeom>
          <a:solidFill>
            <a:srgbClr val="EDE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rot="20100000">
            <a:off x="11292840" y="91440"/>
            <a:ext cx="228600" cy="96012"/>
          </a:xfrm>
          <a:prstGeom prst="ellipse">
            <a:avLst/>
          </a:prstGeom>
          <a:solidFill>
            <a:srgbClr val="5BB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rot="1500000">
            <a:off x="11494008" y="256032"/>
            <a:ext cx="256032" cy="107533"/>
          </a:xfrm>
          <a:prstGeom prst="ellipse">
            <a:avLst/>
          </a:prstGeom>
          <a:solidFill>
            <a:srgbClr val="2A79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rot="19500000">
            <a:off x="11146536" y="411479"/>
            <a:ext cx="219456" cy="92171"/>
          </a:xfrm>
          <a:prstGeom prst="ellipse">
            <a:avLst/>
          </a:prstGeom>
          <a:solidFill>
            <a:srgbClr val="5BB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rot="1500000">
            <a:off x="11402567" y="566928"/>
            <a:ext cx="201168" cy="84490"/>
          </a:xfrm>
          <a:prstGeom prst="ellipse">
            <a:avLst/>
          </a:prstGeom>
          <a:solidFill>
            <a:srgbClr val="2A79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rot="19500000">
            <a:off x="11036808" y="685800"/>
            <a:ext cx="201168" cy="84490"/>
          </a:xfrm>
          <a:prstGeom prst="ellipse">
            <a:avLst/>
          </a:prstGeom>
          <a:solidFill>
            <a:srgbClr val="5BB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0" name="Connector 9"/>
          <p:cNvCxnSpPr/>
          <p:nvPr/>
        </p:nvCxnSpPr>
        <p:spPr>
          <a:xfrm flipH="1">
            <a:off x="11311128" y="109728"/>
            <a:ext cx="73152" cy="758952"/>
          </a:xfrm>
          <a:prstGeom prst="line">
            <a:avLst/>
          </a:prstGeom>
          <a:ln w="13970">
            <a:solidFill>
              <a:srgbClr val="2A79A3"/>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502920" y="329184"/>
            <a:ext cx="502920" cy="329184"/>
          </a:xfrm>
          <a:prstGeom prst="roundRect">
            <a:avLst>
              <a:gd name="adj" fmla="val 12000"/>
            </a:avLst>
          </a:prstGeom>
          <a:solidFill>
            <a:srgbClr val="D7F0F8"/>
          </a:solidFill>
          <a:ln>
            <a:solidFill>
              <a:srgbClr val="D7F0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21208" y="347472"/>
            <a:ext cx="466344" cy="274320"/>
          </a:xfrm>
          <a:prstGeom prst="rect">
            <a:avLst/>
          </a:prstGeom>
          <a:noFill/>
        </p:spPr>
        <p:txBody>
          <a:bodyPr wrap="square" lIns="41148" tIns="22860" rIns="41148" bIns="22860" anchor="ctr">
            <a:spAutoFit/>
          </a:bodyPr>
          <a:lstStyle/>
          <a:p>
            <a:pPr algn="ctr"/>
            <a:r>
              <a:rPr sz="1000" b="1" i="0">
                <a:solidFill>
                  <a:srgbClr val="10395C"/>
                </a:solidFill>
                <a:latin typeface="Aptos"/>
              </a:rPr>
              <a:t>1</a:t>
            </a:r>
          </a:p>
        </p:txBody>
      </p:sp>
      <p:sp>
        <p:nvSpPr>
          <p:cNvPr id="13" name="TextBox 12"/>
          <p:cNvSpPr txBox="1"/>
          <p:nvPr/>
        </p:nvSpPr>
        <p:spPr>
          <a:xfrm>
            <a:off x="1115568" y="274320"/>
            <a:ext cx="9875520" cy="438912"/>
          </a:xfrm>
          <a:prstGeom prst="rect">
            <a:avLst/>
          </a:prstGeom>
          <a:noFill/>
        </p:spPr>
        <p:txBody>
          <a:bodyPr wrap="square" lIns="41148" tIns="22860" rIns="41148" bIns="22860" anchor="t">
            <a:spAutoFit/>
          </a:bodyPr>
          <a:lstStyle/>
          <a:p>
            <a:pPr algn="l"/>
            <a:r>
              <a:rPr sz="2300" b="1" i="0">
                <a:solidFill>
                  <a:srgbClr val="10395C"/>
                </a:solidFill>
                <a:latin typeface="Aptos"/>
              </a:rPr>
              <a:t>Abstract</a:t>
            </a:r>
          </a:p>
        </p:txBody>
      </p:sp>
      <p:sp>
        <p:nvSpPr>
          <p:cNvPr id="14" name="TextBox 13"/>
          <p:cNvSpPr txBox="1"/>
          <p:nvPr/>
        </p:nvSpPr>
        <p:spPr>
          <a:xfrm>
            <a:off x="1133856" y="758952"/>
            <a:ext cx="9418320" cy="274320"/>
          </a:xfrm>
          <a:prstGeom prst="rect">
            <a:avLst/>
          </a:prstGeom>
          <a:noFill/>
        </p:spPr>
        <p:txBody>
          <a:bodyPr wrap="square" lIns="41148" tIns="22860" rIns="41148" bIns="22860" anchor="t">
            <a:spAutoFit/>
          </a:bodyPr>
          <a:lstStyle/>
          <a:p>
            <a:pPr algn="l"/>
            <a:r>
              <a:rPr sz="1080" b="0" i="0">
                <a:solidFill>
                  <a:srgbClr val="5D7684"/>
                </a:solidFill>
                <a:latin typeface="Aptos"/>
              </a:rPr>
              <a:t>A concise summary of the proposed system</a:t>
            </a:r>
          </a:p>
        </p:txBody>
      </p:sp>
      <p:sp>
        <p:nvSpPr>
          <p:cNvPr id="15" name="Rectangle 14"/>
          <p:cNvSpPr/>
          <p:nvPr/>
        </p:nvSpPr>
        <p:spPr>
          <a:xfrm>
            <a:off x="1133856" y="1060704"/>
            <a:ext cx="1051560" cy="32004"/>
          </a:xfrm>
          <a:prstGeom prst="rect">
            <a:avLst/>
          </a:prstGeom>
          <a:solidFill>
            <a:srgbClr val="5BB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594360" y="1417320"/>
            <a:ext cx="6812280" cy="4526280"/>
          </a:xfrm>
          <a:prstGeom prst="roundRect">
            <a:avLst>
              <a:gd name="adj" fmla="val 12000"/>
            </a:avLst>
          </a:prstGeom>
          <a:solidFill>
            <a:srgbClr val="FFFFFF"/>
          </a:solidFill>
          <a:ln>
            <a:solidFill>
              <a:srgbClr val="C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758952" y="1581912"/>
            <a:ext cx="2377440" cy="329184"/>
          </a:xfrm>
          <a:prstGeom prst="roundRect">
            <a:avLst>
              <a:gd name="adj" fmla="val 12000"/>
            </a:avLst>
          </a:prstGeom>
          <a:solidFill>
            <a:srgbClr val="D7F0F8"/>
          </a:solidFill>
          <a:ln>
            <a:solidFill>
              <a:srgbClr val="D7F0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77240" y="1600200"/>
            <a:ext cx="2340864" cy="274320"/>
          </a:xfrm>
          <a:prstGeom prst="rect">
            <a:avLst/>
          </a:prstGeom>
          <a:noFill/>
        </p:spPr>
        <p:txBody>
          <a:bodyPr wrap="square" lIns="41148" tIns="22860" rIns="41148" bIns="22860" anchor="ctr">
            <a:spAutoFit/>
          </a:bodyPr>
          <a:lstStyle/>
          <a:p>
            <a:pPr algn="ctr"/>
            <a:r>
              <a:rPr sz="919" b="1" i="0">
                <a:solidFill>
                  <a:srgbClr val="10395C"/>
                </a:solidFill>
                <a:latin typeface="Aptos"/>
              </a:rPr>
              <a:t>PROJECT SUMMARY</a:t>
            </a:r>
          </a:p>
        </p:txBody>
      </p:sp>
      <p:sp>
        <p:nvSpPr>
          <p:cNvPr id="19" name="Oval 18"/>
          <p:cNvSpPr/>
          <p:nvPr/>
        </p:nvSpPr>
        <p:spPr>
          <a:xfrm>
            <a:off x="7095744" y="1645920"/>
            <a:ext cx="91440" cy="91440"/>
          </a:xfrm>
          <a:prstGeom prst="ellipse">
            <a:avLst/>
          </a:prstGeom>
          <a:solidFill>
            <a:srgbClr val="5BB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095744" y="1645920"/>
            <a:ext cx="91440" cy="91440"/>
          </a:xfrm>
          <a:prstGeom prst="rect">
            <a:avLst/>
          </a:prstGeom>
          <a:noFill/>
        </p:spPr>
        <p:txBody>
          <a:bodyPr wrap="square" lIns="41148" tIns="22860" rIns="41148" bIns="22860" anchor="ctr">
            <a:spAutoFit/>
          </a:bodyPr>
          <a:lstStyle/>
          <a:p>
            <a:pPr algn="ctr"/>
            <a:endParaRPr/>
          </a:p>
        </p:txBody>
      </p:sp>
      <p:sp>
        <p:nvSpPr>
          <p:cNvPr id="21" name="TextBox 20"/>
          <p:cNvSpPr txBox="1"/>
          <p:nvPr/>
        </p:nvSpPr>
        <p:spPr>
          <a:xfrm>
            <a:off x="896112" y="1938528"/>
            <a:ext cx="6172200" cy="1078992"/>
          </a:xfrm>
          <a:prstGeom prst="rect">
            <a:avLst/>
          </a:prstGeom>
          <a:noFill/>
        </p:spPr>
        <p:txBody>
          <a:bodyPr wrap="square" lIns="41148" tIns="22860" rIns="41148" bIns="22860" anchor="t">
            <a:spAutoFit/>
          </a:bodyPr>
          <a:lstStyle/>
          <a:p>
            <a:pPr algn="l"/>
            <a:r>
              <a:rPr sz="1330" b="0" i="0">
                <a:solidFill>
                  <a:srgbClr val="273D4E"/>
                </a:solidFill>
                <a:latin typeface="Aptos"/>
              </a:rPr>
              <a:t>The Course Registration &amp; Timetable Builder is a web-based academic management system designed to simplify course selection and timetable planning. Instead of making students manually compare course availability, timings, credits, seats and clashes, the system brings these tasks together in one platform.</a:t>
            </a:r>
          </a:p>
        </p:txBody>
      </p:sp>
      <p:sp>
        <p:nvSpPr>
          <p:cNvPr id="22" name="TextBox 21"/>
          <p:cNvSpPr txBox="1"/>
          <p:nvPr/>
        </p:nvSpPr>
        <p:spPr>
          <a:xfrm>
            <a:off x="896112" y="3182112"/>
            <a:ext cx="6172200" cy="1353312"/>
          </a:xfrm>
          <a:prstGeom prst="rect">
            <a:avLst/>
          </a:prstGeom>
          <a:noFill/>
        </p:spPr>
        <p:txBody>
          <a:bodyPr wrap="square" lIns="41148" tIns="22860" rIns="41148" bIns="22860" anchor="t">
            <a:spAutoFit/>
          </a:bodyPr>
          <a:lstStyle/>
          <a:p>
            <a:pPr algn="l"/>
            <a:r>
              <a:rPr sz="1300" b="0" i="0">
                <a:solidFill>
                  <a:srgbClr val="273D4E"/>
                </a:solidFill>
                <a:latin typeface="Aptos"/>
              </a:rPr>
              <a:t>Students can browse courses, view detailed information, select subjects and generate a weekly timetable. Before registration, the system checks seat availability, credit limits, prerequisites and timetable conflicts. Faculty can view assigned courses and schedules, while administrators can manage students, courses, faculty, rooms, schedules and registration records.</a:t>
            </a:r>
          </a:p>
        </p:txBody>
      </p:sp>
      <p:sp>
        <p:nvSpPr>
          <p:cNvPr id="23" name="Rounded Rectangle 22"/>
          <p:cNvSpPr/>
          <p:nvPr/>
        </p:nvSpPr>
        <p:spPr>
          <a:xfrm>
            <a:off x="1024128" y="4919472"/>
            <a:ext cx="1207008" cy="329184"/>
          </a:xfrm>
          <a:prstGeom prst="roundRect">
            <a:avLst>
              <a:gd name="adj" fmla="val 12000"/>
            </a:avLst>
          </a:prstGeom>
          <a:solidFill>
            <a:srgbClr val="D7F0F8"/>
          </a:solidFill>
          <a:ln>
            <a:solidFill>
              <a:srgbClr val="D7F0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042416" y="4937759"/>
            <a:ext cx="1170432" cy="274320"/>
          </a:xfrm>
          <a:prstGeom prst="rect">
            <a:avLst/>
          </a:prstGeom>
          <a:noFill/>
        </p:spPr>
        <p:txBody>
          <a:bodyPr wrap="square" lIns="41148" tIns="22860" rIns="41148" bIns="22860" anchor="ctr">
            <a:spAutoFit/>
          </a:bodyPr>
          <a:lstStyle/>
          <a:p>
            <a:pPr algn="ctr"/>
            <a:r>
              <a:rPr sz="900" b="1" i="0">
                <a:solidFill>
                  <a:srgbClr val="10395C"/>
                </a:solidFill>
                <a:latin typeface="Aptos"/>
              </a:rPr>
              <a:t>SELECT</a:t>
            </a:r>
          </a:p>
        </p:txBody>
      </p:sp>
      <p:cxnSp>
        <p:nvCxnSpPr>
          <p:cNvPr id="25" name="Connector 24"/>
          <p:cNvCxnSpPr/>
          <p:nvPr/>
        </p:nvCxnSpPr>
        <p:spPr>
          <a:xfrm>
            <a:off x="2267712" y="5084064"/>
            <a:ext cx="310896" cy="0"/>
          </a:xfrm>
          <a:prstGeom prst="line">
            <a:avLst/>
          </a:prstGeom>
          <a:ln w="21590">
            <a:solidFill>
              <a:srgbClr val="5BBFCC"/>
            </a:solidFill>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2606040" y="4919472"/>
            <a:ext cx="1353312" cy="329184"/>
          </a:xfrm>
          <a:prstGeom prst="roundRect">
            <a:avLst>
              <a:gd name="adj" fmla="val 12000"/>
            </a:avLst>
          </a:prstGeom>
          <a:solidFill>
            <a:srgbClr val="E1F8F1"/>
          </a:solidFill>
          <a:ln>
            <a:solidFill>
              <a:srgbClr val="E1F8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8" name="Connector 27"/>
          <p:cNvCxnSpPr/>
          <p:nvPr/>
        </p:nvCxnSpPr>
        <p:spPr>
          <a:xfrm>
            <a:off x="3995928" y="5084064"/>
            <a:ext cx="301752" cy="0"/>
          </a:xfrm>
          <a:prstGeom prst="line">
            <a:avLst/>
          </a:prstGeom>
          <a:ln w="21590">
            <a:solidFill>
              <a:srgbClr val="5BBFCC"/>
            </a:solidFill>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4334256" y="4910328"/>
            <a:ext cx="1143000" cy="329184"/>
          </a:xfrm>
          <a:prstGeom prst="roundRect">
            <a:avLst>
              <a:gd name="adj" fmla="val 12000"/>
            </a:avLst>
          </a:prstGeom>
          <a:solidFill>
            <a:srgbClr val="EDECFC"/>
          </a:solidFill>
          <a:ln>
            <a:solidFill>
              <a:srgbClr val="EDECF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b="1" dirty="0">
                <a:solidFill>
                  <a:srgbClr val="10395C"/>
                </a:solidFill>
                <a:latin typeface="Aptos"/>
              </a:rPr>
              <a:t>VALIDATE</a:t>
            </a:r>
          </a:p>
        </p:txBody>
      </p:sp>
      <p:sp>
        <p:nvSpPr>
          <p:cNvPr id="30" name="TextBox 29"/>
          <p:cNvSpPr txBox="1"/>
          <p:nvPr/>
        </p:nvSpPr>
        <p:spPr>
          <a:xfrm>
            <a:off x="2700528" y="4948258"/>
            <a:ext cx="1106424" cy="274320"/>
          </a:xfrm>
          <a:prstGeom prst="rect">
            <a:avLst/>
          </a:prstGeom>
          <a:noFill/>
        </p:spPr>
        <p:txBody>
          <a:bodyPr wrap="square" lIns="41148" tIns="22860" rIns="41148" bIns="22860" anchor="ctr">
            <a:spAutoFit/>
          </a:bodyPr>
          <a:lstStyle/>
          <a:p>
            <a:pPr algn="ctr"/>
            <a:r>
              <a:rPr sz="900" b="1" i="0" dirty="0">
                <a:solidFill>
                  <a:srgbClr val="10395C"/>
                </a:solidFill>
                <a:latin typeface="Aptos"/>
              </a:rPr>
              <a:t>PLAN</a:t>
            </a:r>
          </a:p>
        </p:txBody>
      </p:sp>
      <p:cxnSp>
        <p:nvCxnSpPr>
          <p:cNvPr id="31" name="Connector 30"/>
          <p:cNvCxnSpPr/>
          <p:nvPr/>
        </p:nvCxnSpPr>
        <p:spPr>
          <a:xfrm>
            <a:off x="5513832" y="5084064"/>
            <a:ext cx="301752" cy="0"/>
          </a:xfrm>
          <a:prstGeom prst="line">
            <a:avLst/>
          </a:prstGeom>
          <a:ln w="21590">
            <a:solidFill>
              <a:srgbClr val="5BBFCC"/>
            </a:solidFill>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5852160" y="4919472"/>
            <a:ext cx="1298448" cy="329184"/>
          </a:xfrm>
          <a:prstGeom prst="roundRect">
            <a:avLst>
              <a:gd name="adj" fmla="val 12000"/>
            </a:avLst>
          </a:prstGeom>
          <a:solidFill>
            <a:srgbClr val="FDEDE5"/>
          </a:solidFill>
          <a:ln>
            <a:solidFill>
              <a:srgbClr val="FDED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5870448" y="4937759"/>
            <a:ext cx="1261872" cy="274320"/>
          </a:xfrm>
          <a:prstGeom prst="rect">
            <a:avLst/>
          </a:prstGeom>
          <a:noFill/>
        </p:spPr>
        <p:txBody>
          <a:bodyPr wrap="square" lIns="41148" tIns="22860" rIns="41148" bIns="22860" anchor="ctr">
            <a:spAutoFit/>
          </a:bodyPr>
          <a:lstStyle/>
          <a:p>
            <a:pPr algn="ctr"/>
            <a:r>
              <a:rPr sz="900" b="1" i="0">
                <a:solidFill>
                  <a:srgbClr val="10395C"/>
                </a:solidFill>
                <a:latin typeface="Aptos"/>
              </a:rPr>
              <a:t>REGISTER</a:t>
            </a:r>
          </a:p>
        </p:txBody>
      </p:sp>
      <p:sp>
        <p:nvSpPr>
          <p:cNvPr id="34" name="Rounded Rectangle 33"/>
          <p:cNvSpPr/>
          <p:nvPr/>
        </p:nvSpPr>
        <p:spPr>
          <a:xfrm>
            <a:off x="7662672" y="1417320"/>
            <a:ext cx="3904487" cy="4526280"/>
          </a:xfrm>
          <a:prstGeom prst="roundRect">
            <a:avLst>
              <a:gd name="adj" fmla="val 12000"/>
            </a:avLst>
          </a:prstGeom>
          <a:solidFill>
            <a:srgbClr val="FFFFFF"/>
          </a:solidFill>
          <a:ln>
            <a:solidFill>
              <a:srgbClr val="C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7973568" y="1764792"/>
            <a:ext cx="3246120" cy="274320"/>
          </a:xfrm>
          <a:prstGeom prst="rect">
            <a:avLst/>
          </a:prstGeom>
          <a:noFill/>
        </p:spPr>
        <p:txBody>
          <a:bodyPr wrap="square" lIns="41148" tIns="22860" rIns="41148" bIns="22860" anchor="t">
            <a:spAutoFit/>
          </a:bodyPr>
          <a:lstStyle/>
          <a:p>
            <a:pPr algn="ctr"/>
            <a:r>
              <a:rPr sz="1300" b="1" i="0">
                <a:solidFill>
                  <a:srgbClr val="10395C"/>
                </a:solidFill>
                <a:latin typeface="Aptos"/>
              </a:rPr>
              <a:t>IN ONE VIEW</a:t>
            </a:r>
          </a:p>
        </p:txBody>
      </p:sp>
      <p:sp>
        <p:nvSpPr>
          <p:cNvPr id="36" name="Oval 35"/>
          <p:cNvSpPr/>
          <p:nvPr/>
        </p:nvSpPr>
        <p:spPr>
          <a:xfrm>
            <a:off x="8001000" y="2267712"/>
            <a:ext cx="347472" cy="347472"/>
          </a:xfrm>
          <a:prstGeom prst="ellipse">
            <a:avLst/>
          </a:prstGeom>
          <a:solidFill>
            <a:srgbClr val="D7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8001000" y="2267712"/>
            <a:ext cx="347472" cy="347472"/>
          </a:xfrm>
          <a:prstGeom prst="rect">
            <a:avLst/>
          </a:prstGeom>
          <a:noFill/>
        </p:spPr>
        <p:txBody>
          <a:bodyPr wrap="square" lIns="41148" tIns="22860" rIns="41148" bIns="22860" anchor="ctr">
            <a:spAutoFit/>
          </a:bodyPr>
          <a:lstStyle/>
          <a:p>
            <a:pPr algn="ctr"/>
            <a:r>
              <a:rPr sz="900" b="1" i="0">
                <a:solidFill>
                  <a:srgbClr val="2A79A3"/>
                </a:solidFill>
                <a:latin typeface="Aptos"/>
              </a:rPr>
              <a:t>1</a:t>
            </a:r>
          </a:p>
        </p:txBody>
      </p:sp>
      <p:sp>
        <p:nvSpPr>
          <p:cNvPr id="38" name="TextBox 37"/>
          <p:cNvSpPr txBox="1"/>
          <p:nvPr/>
        </p:nvSpPr>
        <p:spPr>
          <a:xfrm>
            <a:off x="8485632" y="2258568"/>
            <a:ext cx="1005840" cy="210312"/>
          </a:xfrm>
          <a:prstGeom prst="rect">
            <a:avLst/>
          </a:prstGeom>
          <a:noFill/>
        </p:spPr>
        <p:txBody>
          <a:bodyPr wrap="square" lIns="41148" tIns="22860" rIns="41148" bIns="22860" anchor="t">
            <a:spAutoFit/>
          </a:bodyPr>
          <a:lstStyle/>
          <a:p>
            <a:pPr algn="l"/>
            <a:r>
              <a:rPr sz="950" b="1" i="0">
                <a:solidFill>
                  <a:srgbClr val="10395C"/>
                </a:solidFill>
                <a:latin typeface="Aptos"/>
              </a:rPr>
              <a:t>Purpose</a:t>
            </a:r>
          </a:p>
        </p:txBody>
      </p:sp>
      <p:sp>
        <p:nvSpPr>
          <p:cNvPr id="39" name="TextBox 38"/>
          <p:cNvSpPr txBox="1"/>
          <p:nvPr/>
        </p:nvSpPr>
        <p:spPr>
          <a:xfrm>
            <a:off x="9464040" y="2258568"/>
            <a:ext cx="1783080" cy="329184"/>
          </a:xfrm>
          <a:prstGeom prst="rect">
            <a:avLst/>
          </a:prstGeom>
          <a:noFill/>
        </p:spPr>
        <p:txBody>
          <a:bodyPr wrap="square" lIns="41148" tIns="22860" rIns="41148" bIns="22860" anchor="t">
            <a:spAutoFit/>
          </a:bodyPr>
          <a:lstStyle/>
          <a:p>
            <a:pPr algn="l"/>
            <a:r>
              <a:rPr sz="940" b="0" i="0">
                <a:solidFill>
                  <a:srgbClr val="273D4E"/>
                </a:solidFill>
                <a:latin typeface="Aptos"/>
              </a:rPr>
              <a:t>Reduce manual checking</a:t>
            </a:r>
          </a:p>
        </p:txBody>
      </p:sp>
      <p:sp>
        <p:nvSpPr>
          <p:cNvPr id="40" name="Oval 39"/>
          <p:cNvSpPr/>
          <p:nvPr/>
        </p:nvSpPr>
        <p:spPr>
          <a:xfrm>
            <a:off x="8001000" y="2889504"/>
            <a:ext cx="347472" cy="347472"/>
          </a:xfrm>
          <a:prstGeom prst="ellipse">
            <a:avLst/>
          </a:prstGeom>
          <a:solidFill>
            <a:srgbClr val="E1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8001000" y="2889504"/>
            <a:ext cx="347472" cy="347472"/>
          </a:xfrm>
          <a:prstGeom prst="rect">
            <a:avLst/>
          </a:prstGeom>
          <a:noFill/>
        </p:spPr>
        <p:txBody>
          <a:bodyPr wrap="square" lIns="41148" tIns="22860" rIns="41148" bIns="22860" anchor="ctr">
            <a:spAutoFit/>
          </a:bodyPr>
          <a:lstStyle/>
          <a:p>
            <a:pPr algn="ctr"/>
            <a:r>
              <a:rPr sz="900" b="1" i="0">
                <a:solidFill>
                  <a:srgbClr val="499D7E"/>
                </a:solidFill>
                <a:latin typeface="Aptos"/>
              </a:rPr>
              <a:t>2</a:t>
            </a:r>
          </a:p>
        </p:txBody>
      </p:sp>
      <p:sp>
        <p:nvSpPr>
          <p:cNvPr id="42" name="TextBox 41"/>
          <p:cNvSpPr txBox="1"/>
          <p:nvPr/>
        </p:nvSpPr>
        <p:spPr>
          <a:xfrm>
            <a:off x="8485632" y="2880360"/>
            <a:ext cx="1005840" cy="210312"/>
          </a:xfrm>
          <a:prstGeom prst="rect">
            <a:avLst/>
          </a:prstGeom>
          <a:noFill/>
        </p:spPr>
        <p:txBody>
          <a:bodyPr wrap="square" lIns="41148" tIns="22860" rIns="41148" bIns="22860" anchor="t">
            <a:spAutoFit/>
          </a:bodyPr>
          <a:lstStyle/>
          <a:p>
            <a:pPr algn="l"/>
            <a:r>
              <a:rPr sz="950" b="1" i="0">
                <a:solidFill>
                  <a:srgbClr val="10395C"/>
                </a:solidFill>
                <a:latin typeface="Aptos"/>
              </a:rPr>
              <a:t>Users</a:t>
            </a:r>
          </a:p>
        </p:txBody>
      </p:sp>
      <p:sp>
        <p:nvSpPr>
          <p:cNvPr id="43" name="TextBox 42"/>
          <p:cNvSpPr txBox="1"/>
          <p:nvPr/>
        </p:nvSpPr>
        <p:spPr>
          <a:xfrm>
            <a:off x="9464040" y="2880360"/>
            <a:ext cx="1783080" cy="329184"/>
          </a:xfrm>
          <a:prstGeom prst="rect">
            <a:avLst/>
          </a:prstGeom>
          <a:noFill/>
        </p:spPr>
        <p:txBody>
          <a:bodyPr wrap="square" lIns="41148" tIns="22860" rIns="41148" bIns="22860" anchor="t">
            <a:spAutoFit/>
          </a:bodyPr>
          <a:lstStyle/>
          <a:p>
            <a:pPr algn="l"/>
            <a:r>
              <a:rPr sz="940" b="0" i="0">
                <a:solidFill>
                  <a:srgbClr val="273D4E"/>
                </a:solidFill>
                <a:latin typeface="Aptos"/>
              </a:rPr>
              <a:t>Students • Faculty • Admin</a:t>
            </a:r>
          </a:p>
        </p:txBody>
      </p:sp>
      <p:sp>
        <p:nvSpPr>
          <p:cNvPr id="44" name="Oval 43"/>
          <p:cNvSpPr/>
          <p:nvPr/>
        </p:nvSpPr>
        <p:spPr>
          <a:xfrm>
            <a:off x="8001000" y="3511296"/>
            <a:ext cx="347472" cy="347472"/>
          </a:xfrm>
          <a:prstGeom prst="ellipse">
            <a:avLst/>
          </a:prstGeom>
          <a:solidFill>
            <a:srgbClr val="D7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8001000" y="3511296"/>
            <a:ext cx="347472" cy="347472"/>
          </a:xfrm>
          <a:prstGeom prst="rect">
            <a:avLst/>
          </a:prstGeom>
          <a:noFill/>
        </p:spPr>
        <p:txBody>
          <a:bodyPr wrap="square" lIns="41148" tIns="22860" rIns="41148" bIns="22860" anchor="ctr">
            <a:spAutoFit/>
          </a:bodyPr>
          <a:lstStyle/>
          <a:p>
            <a:pPr algn="ctr"/>
            <a:r>
              <a:rPr sz="900" b="1" i="0">
                <a:solidFill>
                  <a:srgbClr val="2A79A3"/>
                </a:solidFill>
                <a:latin typeface="Aptos"/>
              </a:rPr>
              <a:t>3</a:t>
            </a:r>
          </a:p>
        </p:txBody>
      </p:sp>
      <p:sp>
        <p:nvSpPr>
          <p:cNvPr id="46" name="TextBox 45"/>
          <p:cNvSpPr txBox="1"/>
          <p:nvPr/>
        </p:nvSpPr>
        <p:spPr>
          <a:xfrm>
            <a:off x="8485632" y="3502152"/>
            <a:ext cx="1005840" cy="210312"/>
          </a:xfrm>
          <a:prstGeom prst="rect">
            <a:avLst/>
          </a:prstGeom>
          <a:noFill/>
        </p:spPr>
        <p:txBody>
          <a:bodyPr wrap="square" lIns="41148" tIns="22860" rIns="41148" bIns="22860" anchor="t">
            <a:spAutoFit/>
          </a:bodyPr>
          <a:lstStyle/>
          <a:p>
            <a:pPr algn="l"/>
            <a:r>
              <a:rPr sz="950" b="1" i="0">
                <a:solidFill>
                  <a:srgbClr val="10395C"/>
                </a:solidFill>
                <a:latin typeface="Aptos"/>
              </a:rPr>
              <a:t>Core engine</a:t>
            </a:r>
          </a:p>
        </p:txBody>
      </p:sp>
      <p:sp>
        <p:nvSpPr>
          <p:cNvPr id="47" name="TextBox 46"/>
          <p:cNvSpPr txBox="1"/>
          <p:nvPr/>
        </p:nvSpPr>
        <p:spPr>
          <a:xfrm>
            <a:off x="9464040" y="3502152"/>
            <a:ext cx="1783080" cy="329184"/>
          </a:xfrm>
          <a:prstGeom prst="rect">
            <a:avLst/>
          </a:prstGeom>
          <a:noFill/>
        </p:spPr>
        <p:txBody>
          <a:bodyPr wrap="square" lIns="41148" tIns="22860" rIns="41148" bIns="22860" anchor="t">
            <a:spAutoFit/>
          </a:bodyPr>
          <a:lstStyle/>
          <a:p>
            <a:pPr algn="l"/>
            <a:r>
              <a:rPr sz="940" b="0" i="0">
                <a:solidFill>
                  <a:srgbClr val="273D4E"/>
                </a:solidFill>
                <a:latin typeface="Aptos"/>
              </a:rPr>
              <a:t>Rules + clash detection</a:t>
            </a:r>
          </a:p>
        </p:txBody>
      </p:sp>
      <p:sp>
        <p:nvSpPr>
          <p:cNvPr id="48" name="Oval 47"/>
          <p:cNvSpPr/>
          <p:nvPr/>
        </p:nvSpPr>
        <p:spPr>
          <a:xfrm>
            <a:off x="8001000" y="4133087"/>
            <a:ext cx="347472" cy="347472"/>
          </a:xfrm>
          <a:prstGeom prst="ellipse">
            <a:avLst/>
          </a:prstGeom>
          <a:solidFill>
            <a:srgbClr val="E1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8001000" y="4133087"/>
            <a:ext cx="347472" cy="347472"/>
          </a:xfrm>
          <a:prstGeom prst="rect">
            <a:avLst/>
          </a:prstGeom>
          <a:noFill/>
        </p:spPr>
        <p:txBody>
          <a:bodyPr wrap="square" lIns="41148" tIns="22860" rIns="41148" bIns="22860" anchor="ctr">
            <a:spAutoFit/>
          </a:bodyPr>
          <a:lstStyle/>
          <a:p>
            <a:pPr algn="ctr"/>
            <a:r>
              <a:rPr sz="900" b="1" i="0">
                <a:solidFill>
                  <a:srgbClr val="499D7E"/>
                </a:solidFill>
                <a:latin typeface="Aptos"/>
              </a:rPr>
              <a:t>4</a:t>
            </a:r>
          </a:p>
        </p:txBody>
      </p:sp>
      <p:sp>
        <p:nvSpPr>
          <p:cNvPr id="50" name="TextBox 49"/>
          <p:cNvSpPr txBox="1"/>
          <p:nvPr/>
        </p:nvSpPr>
        <p:spPr>
          <a:xfrm>
            <a:off x="8485632" y="4123944"/>
            <a:ext cx="1005840" cy="210312"/>
          </a:xfrm>
          <a:prstGeom prst="rect">
            <a:avLst/>
          </a:prstGeom>
          <a:noFill/>
        </p:spPr>
        <p:txBody>
          <a:bodyPr wrap="square" lIns="41148" tIns="22860" rIns="41148" bIns="22860" anchor="t">
            <a:spAutoFit/>
          </a:bodyPr>
          <a:lstStyle/>
          <a:p>
            <a:pPr algn="l"/>
            <a:r>
              <a:rPr sz="950" b="1" i="0">
                <a:solidFill>
                  <a:srgbClr val="10395C"/>
                </a:solidFill>
                <a:latin typeface="Aptos"/>
              </a:rPr>
              <a:t>Data</a:t>
            </a:r>
          </a:p>
        </p:txBody>
      </p:sp>
      <p:sp>
        <p:nvSpPr>
          <p:cNvPr id="51" name="TextBox 50"/>
          <p:cNvSpPr txBox="1"/>
          <p:nvPr/>
        </p:nvSpPr>
        <p:spPr>
          <a:xfrm>
            <a:off x="9464040" y="4123944"/>
            <a:ext cx="1783080" cy="329184"/>
          </a:xfrm>
          <a:prstGeom prst="rect">
            <a:avLst/>
          </a:prstGeom>
          <a:noFill/>
        </p:spPr>
        <p:txBody>
          <a:bodyPr wrap="square" lIns="41148" tIns="22860" rIns="41148" bIns="22860" anchor="t">
            <a:spAutoFit/>
          </a:bodyPr>
          <a:lstStyle/>
          <a:p>
            <a:pPr algn="l"/>
            <a:r>
              <a:rPr sz="940" b="0" i="0">
                <a:solidFill>
                  <a:srgbClr val="273D4E"/>
                </a:solidFill>
                <a:latin typeface="Aptos"/>
              </a:rPr>
              <a:t>Relational MySQL database</a:t>
            </a:r>
          </a:p>
        </p:txBody>
      </p:sp>
      <p:sp>
        <p:nvSpPr>
          <p:cNvPr id="52" name="Oval 51"/>
          <p:cNvSpPr/>
          <p:nvPr/>
        </p:nvSpPr>
        <p:spPr>
          <a:xfrm>
            <a:off x="8001000" y="4754880"/>
            <a:ext cx="347472" cy="347472"/>
          </a:xfrm>
          <a:prstGeom prst="ellipse">
            <a:avLst/>
          </a:prstGeom>
          <a:solidFill>
            <a:srgbClr val="D7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8001000" y="4754880"/>
            <a:ext cx="347472" cy="347472"/>
          </a:xfrm>
          <a:prstGeom prst="rect">
            <a:avLst/>
          </a:prstGeom>
          <a:noFill/>
        </p:spPr>
        <p:txBody>
          <a:bodyPr wrap="square" lIns="41148" tIns="22860" rIns="41148" bIns="22860" anchor="ctr">
            <a:spAutoFit/>
          </a:bodyPr>
          <a:lstStyle/>
          <a:p>
            <a:pPr algn="ctr"/>
            <a:r>
              <a:rPr sz="900" b="1" i="0">
                <a:solidFill>
                  <a:srgbClr val="2A79A3"/>
                </a:solidFill>
                <a:latin typeface="Aptos"/>
              </a:rPr>
              <a:t>5</a:t>
            </a:r>
          </a:p>
        </p:txBody>
      </p:sp>
      <p:sp>
        <p:nvSpPr>
          <p:cNvPr id="54" name="TextBox 53"/>
          <p:cNvSpPr txBox="1"/>
          <p:nvPr/>
        </p:nvSpPr>
        <p:spPr>
          <a:xfrm>
            <a:off x="8485632" y="4745736"/>
            <a:ext cx="1005840" cy="210312"/>
          </a:xfrm>
          <a:prstGeom prst="rect">
            <a:avLst/>
          </a:prstGeom>
          <a:noFill/>
        </p:spPr>
        <p:txBody>
          <a:bodyPr wrap="square" lIns="41148" tIns="22860" rIns="41148" bIns="22860" anchor="t">
            <a:spAutoFit/>
          </a:bodyPr>
          <a:lstStyle/>
          <a:p>
            <a:pPr algn="l"/>
            <a:r>
              <a:rPr sz="950" b="1" i="0">
                <a:solidFill>
                  <a:srgbClr val="10395C"/>
                </a:solidFill>
                <a:latin typeface="Aptos"/>
              </a:rPr>
              <a:t>Outcome</a:t>
            </a:r>
          </a:p>
        </p:txBody>
      </p:sp>
      <p:sp>
        <p:nvSpPr>
          <p:cNvPr id="55" name="TextBox 54"/>
          <p:cNvSpPr txBox="1"/>
          <p:nvPr/>
        </p:nvSpPr>
        <p:spPr>
          <a:xfrm>
            <a:off x="9464040" y="4745736"/>
            <a:ext cx="1783080" cy="329184"/>
          </a:xfrm>
          <a:prstGeom prst="rect">
            <a:avLst/>
          </a:prstGeom>
          <a:noFill/>
        </p:spPr>
        <p:txBody>
          <a:bodyPr wrap="square" lIns="41148" tIns="22860" rIns="41148" bIns="22860" anchor="t">
            <a:spAutoFit/>
          </a:bodyPr>
          <a:lstStyle/>
          <a:p>
            <a:pPr algn="l"/>
            <a:r>
              <a:rPr sz="940" b="0" i="0">
                <a:solidFill>
                  <a:srgbClr val="273D4E"/>
                </a:solidFill>
                <a:latin typeface="Aptos"/>
              </a:rPr>
              <a:t>Faster, safer registration</a:t>
            </a:r>
          </a:p>
        </p:txBody>
      </p:sp>
      <p:sp>
        <p:nvSpPr>
          <p:cNvPr id="56" name="Rounded Rectangle 55"/>
          <p:cNvSpPr/>
          <p:nvPr/>
        </p:nvSpPr>
        <p:spPr>
          <a:xfrm>
            <a:off x="8028431" y="5285232"/>
            <a:ext cx="3182112" cy="329184"/>
          </a:xfrm>
          <a:prstGeom prst="roundRect">
            <a:avLst>
              <a:gd name="adj" fmla="val 12000"/>
            </a:avLst>
          </a:prstGeom>
          <a:solidFill>
            <a:srgbClr val="EDECFC"/>
          </a:solidFill>
          <a:ln>
            <a:solidFill>
              <a:srgbClr val="EDEC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8046719" y="5303520"/>
            <a:ext cx="3145536" cy="274320"/>
          </a:xfrm>
          <a:prstGeom prst="rect">
            <a:avLst/>
          </a:prstGeom>
          <a:noFill/>
        </p:spPr>
        <p:txBody>
          <a:bodyPr wrap="square" lIns="41148" tIns="22860" rIns="41148" bIns="22860" anchor="ctr">
            <a:spAutoFit/>
          </a:bodyPr>
          <a:lstStyle/>
          <a:p>
            <a:pPr algn="ctr"/>
            <a:r>
              <a:rPr sz="850" b="1" i="0">
                <a:solidFill>
                  <a:srgbClr val="10395C"/>
                </a:solidFill>
                <a:latin typeface="Aptos"/>
              </a:rPr>
              <a:t>WEB-BASED • CENTRALIZED • RULE-DRIVEN</a:t>
            </a:r>
          </a:p>
        </p:txBody>
      </p:sp>
      <p:sp>
        <p:nvSpPr>
          <p:cNvPr id="58" name="TextBox 57"/>
          <p:cNvSpPr txBox="1"/>
          <p:nvPr/>
        </p:nvSpPr>
        <p:spPr>
          <a:xfrm>
            <a:off x="530352" y="6547104"/>
            <a:ext cx="4572000" cy="146304"/>
          </a:xfrm>
          <a:prstGeom prst="rect">
            <a:avLst/>
          </a:prstGeom>
          <a:noFill/>
        </p:spPr>
        <p:txBody>
          <a:bodyPr wrap="square" lIns="41148" tIns="22860" rIns="41148" bIns="22860" anchor="t">
            <a:spAutoFit/>
          </a:bodyPr>
          <a:lstStyle/>
          <a:p>
            <a:pPr algn="l"/>
            <a:r>
              <a:rPr sz="720" b="1" i="0">
                <a:solidFill>
                  <a:srgbClr val="5D7684"/>
                </a:solidFill>
                <a:latin typeface="Aptos"/>
              </a:rPr>
              <a:t>COURSE REGISTRATION &amp; TIMETABLE BUILDER</a:t>
            </a:r>
          </a:p>
        </p:txBody>
      </p:sp>
      <p:sp>
        <p:nvSpPr>
          <p:cNvPr id="59" name="TextBox 58"/>
          <p:cNvSpPr txBox="1"/>
          <p:nvPr/>
        </p:nvSpPr>
        <p:spPr>
          <a:xfrm>
            <a:off x="11201400" y="6510528"/>
            <a:ext cx="384048" cy="182880"/>
          </a:xfrm>
          <a:prstGeom prst="rect">
            <a:avLst/>
          </a:prstGeom>
          <a:noFill/>
        </p:spPr>
        <p:txBody>
          <a:bodyPr wrap="square" lIns="41148" tIns="22860" rIns="41148" bIns="22860" anchor="t">
            <a:spAutoFit/>
          </a:bodyPr>
          <a:lstStyle/>
          <a:p>
            <a:pPr algn="r"/>
            <a:r>
              <a:rPr sz="750" b="1" i="0">
                <a:solidFill>
                  <a:srgbClr val="5D7684"/>
                </a:solidFill>
                <a:latin typeface="Aptos"/>
              </a:rPr>
              <a:t>02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1FAFD"/>
        </a:solidFill>
        <a:effectLst/>
      </p:bgPr>
    </p:bg>
    <p:spTree>
      <p:nvGrpSpPr>
        <p:cNvPr id="1" name=""/>
        <p:cNvGrpSpPr/>
        <p:nvPr/>
      </p:nvGrpSpPr>
      <p:grpSpPr>
        <a:xfrm>
          <a:off x="0" y="0"/>
          <a:ext cx="0" cy="0"/>
          <a:chOff x="0" y="0"/>
          <a:chExt cx="0" cy="0"/>
        </a:xfrm>
      </p:grpSpPr>
      <p:sp>
        <p:nvSpPr>
          <p:cNvPr id="2" name="Oval 1"/>
          <p:cNvSpPr/>
          <p:nvPr/>
        </p:nvSpPr>
        <p:spPr>
          <a:xfrm>
            <a:off x="10652760" y="-411480"/>
            <a:ext cx="1920240" cy="1920240"/>
          </a:xfrm>
          <a:prstGeom prst="ellipse">
            <a:avLst/>
          </a:prstGeom>
          <a:solidFill>
            <a:srgbClr val="D7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9875520" y="5623560"/>
            <a:ext cx="2011680" cy="2011680"/>
          </a:xfrm>
          <a:prstGeom prst="ellipse">
            <a:avLst/>
          </a:prstGeom>
          <a:solidFill>
            <a:srgbClr val="E1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411480" y="5715000"/>
            <a:ext cx="1554480" cy="1554480"/>
          </a:xfrm>
          <a:prstGeom prst="ellipse">
            <a:avLst/>
          </a:prstGeom>
          <a:solidFill>
            <a:srgbClr val="EDE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rot="20100000">
            <a:off x="45720" y="91440"/>
            <a:ext cx="228600" cy="96012"/>
          </a:xfrm>
          <a:prstGeom prst="ellipse">
            <a:avLst/>
          </a:prstGeom>
          <a:solidFill>
            <a:srgbClr val="5BB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rot="1500000">
            <a:off x="246888" y="256032"/>
            <a:ext cx="256032" cy="107533"/>
          </a:xfrm>
          <a:prstGeom prst="ellipse">
            <a:avLst/>
          </a:prstGeom>
          <a:solidFill>
            <a:srgbClr val="2A79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rot="19500000">
            <a:off x="-100584" y="411479"/>
            <a:ext cx="219456" cy="92171"/>
          </a:xfrm>
          <a:prstGeom prst="ellipse">
            <a:avLst/>
          </a:prstGeom>
          <a:solidFill>
            <a:srgbClr val="5BB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rot="1500000">
            <a:off x="155448" y="566928"/>
            <a:ext cx="201168" cy="84490"/>
          </a:xfrm>
          <a:prstGeom prst="ellipse">
            <a:avLst/>
          </a:prstGeom>
          <a:solidFill>
            <a:srgbClr val="2A79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rot="19500000">
            <a:off x="-210312" y="685800"/>
            <a:ext cx="201168" cy="84490"/>
          </a:xfrm>
          <a:prstGeom prst="ellipse">
            <a:avLst/>
          </a:prstGeom>
          <a:solidFill>
            <a:srgbClr val="5BB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0" name="Connector 9"/>
          <p:cNvCxnSpPr/>
          <p:nvPr/>
        </p:nvCxnSpPr>
        <p:spPr>
          <a:xfrm flipH="1">
            <a:off x="64008" y="109728"/>
            <a:ext cx="73152" cy="758952"/>
          </a:xfrm>
          <a:prstGeom prst="line">
            <a:avLst/>
          </a:prstGeom>
          <a:ln w="13970">
            <a:solidFill>
              <a:srgbClr val="2A79A3"/>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502920" y="329184"/>
            <a:ext cx="502920" cy="329184"/>
          </a:xfrm>
          <a:prstGeom prst="roundRect">
            <a:avLst>
              <a:gd name="adj" fmla="val 12000"/>
            </a:avLst>
          </a:prstGeom>
          <a:solidFill>
            <a:srgbClr val="D7F0F8"/>
          </a:solidFill>
          <a:ln>
            <a:solidFill>
              <a:srgbClr val="D7F0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21208" y="347472"/>
            <a:ext cx="466344" cy="274320"/>
          </a:xfrm>
          <a:prstGeom prst="rect">
            <a:avLst/>
          </a:prstGeom>
          <a:noFill/>
        </p:spPr>
        <p:txBody>
          <a:bodyPr wrap="square" lIns="41148" tIns="22860" rIns="41148" bIns="22860" anchor="ctr">
            <a:spAutoFit/>
          </a:bodyPr>
          <a:lstStyle/>
          <a:p>
            <a:pPr algn="ctr"/>
            <a:r>
              <a:rPr sz="1000" b="1" i="0">
                <a:solidFill>
                  <a:srgbClr val="10395C"/>
                </a:solidFill>
                <a:latin typeface="Aptos"/>
              </a:rPr>
              <a:t>2</a:t>
            </a:r>
          </a:p>
        </p:txBody>
      </p:sp>
      <p:sp>
        <p:nvSpPr>
          <p:cNvPr id="13" name="TextBox 12"/>
          <p:cNvSpPr txBox="1"/>
          <p:nvPr/>
        </p:nvSpPr>
        <p:spPr>
          <a:xfrm>
            <a:off x="1115568" y="274320"/>
            <a:ext cx="9875520" cy="438912"/>
          </a:xfrm>
          <a:prstGeom prst="rect">
            <a:avLst/>
          </a:prstGeom>
          <a:noFill/>
        </p:spPr>
        <p:txBody>
          <a:bodyPr wrap="square" lIns="41148" tIns="22860" rIns="41148" bIns="22860" anchor="t">
            <a:spAutoFit/>
          </a:bodyPr>
          <a:lstStyle/>
          <a:p>
            <a:pPr algn="l"/>
            <a:r>
              <a:rPr sz="2300" b="1" i="0">
                <a:solidFill>
                  <a:srgbClr val="10395C"/>
                </a:solidFill>
                <a:latin typeface="Aptos"/>
              </a:rPr>
              <a:t>Problem Statement</a:t>
            </a:r>
          </a:p>
        </p:txBody>
      </p:sp>
      <p:sp>
        <p:nvSpPr>
          <p:cNvPr id="14" name="TextBox 13"/>
          <p:cNvSpPr txBox="1"/>
          <p:nvPr/>
        </p:nvSpPr>
        <p:spPr>
          <a:xfrm>
            <a:off x="1133856" y="758952"/>
            <a:ext cx="9418320" cy="274320"/>
          </a:xfrm>
          <a:prstGeom prst="rect">
            <a:avLst/>
          </a:prstGeom>
          <a:noFill/>
        </p:spPr>
        <p:txBody>
          <a:bodyPr wrap="square" lIns="41148" tIns="22860" rIns="41148" bIns="22860" anchor="t">
            <a:spAutoFit/>
          </a:bodyPr>
          <a:lstStyle/>
          <a:p>
            <a:pPr algn="l"/>
            <a:r>
              <a:rPr sz="1080" b="0" i="0">
                <a:solidFill>
                  <a:srgbClr val="5D7684"/>
                </a:solidFill>
                <a:latin typeface="Aptos"/>
              </a:rPr>
              <a:t>Why the existing manual process can become difficult</a:t>
            </a:r>
          </a:p>
        </p:txBody>
      </p:sp>
      <p:sp>
        <p:nvSpPr>
          <p:cNvPr id="15" name="Rectangle 14"/>
          <p:cNvSpPr/>
          <p:nvPr/>
        </p:nvSpPr>
        <p:spPr>
          <a:xfrm>
            <a:off x="1133856" y="1060704"/>
            <a:ext cx="1051560" cy="32004"/>
          </a:xfrm>
          <a:prstGeom prst="rect">
            <a:avLst/>
          </a:prstGeom>
          <a:solidFill>
            <a:srgbClr val="5BB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594360" y="1389888"/>
            <a:ext cx="5257800" cy="4617720"/>
          </a:xfrm>
          <a:prstGeom prst="roundRect">
            <a:avLst>
              <a:gd name="adj" fmla="val 12000"/>
            </a:avLst>
          </a:prstGeom>
          <a:solidFill>
            <a:srgbClr val="FFFFFF"/>
          </a:solidFill>
          <a:ln>
            <a:solidFill>
              <a:srgbClr val="C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758952" y="1554480"/>
            <a:ext cx="2377440" cy="329184"/>
          </a:xfrm>
          <a:prstGeom prst="roundRect">
            <a:avLst>
              <a:gd name="adj" fmla="val 12000"/>
            </a:avLst>
          </a:prstGeom>
          <a:solidFill>
            <a:srgbClr val="D7F0F8"/>
          </a:solidFill>
          <a:ln>
            <a:solidFill>
              <a:srgbClr val="D7F0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77240" y="1572768"/>
            <a:ext cx="2340864" cy="274320"/>
          </a:xfrm>
          <a:prstGeom prst="rect">
            <a:avLst/>
          </a:prstGeom>
          <a:noFill/>
        </p:spPr>
        <p:txBody>
          <a:bodyPr wrap="square" lIns="41148" tIns="22860" rIns="41148" bIns="22860" anchor="ctr">
            <a:spAutoFit/>
          </a:bodyPr>
          <a:lstStyle/>
          <a:p>
            <a:pPr algn="ctr"/>
            <a:r>
              <a:rPr sz="919" b="1" i="0">
                <a:solidFill>
                  <a:srgbClr val="10395C"/>
                </a:solidFill>
                <a:latin typeface="Aptos"/>
              </a:rPr>
              <a:t>MANUAL CHECKING</a:t>
            </a:r>
          </a:p>
        </p:txBody>
      </p:sp>
      <p:sp>
        <p:nvSpPr>
          <p:cNvPr id="19" name="Oval 18"/>
          <p:cNvSpPr/>
          <p:nvPr/>
        </p:nvSpPr>
        <p:spPr>
          <a:xfrm>
            <a:off x="5541264" y="1618488"/>
            <a:ext cx="91440" cy="91440"/>
          </a:xfrm>
          <a:prstGeom prst="ellipse">
            <a:avLst/>
          </a:prstGeom>
          <a:solidFill>
            <a:srgbClr val="F1B1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541264" y="1618488"/>
            <a:ext cx="91440" cy="91440"/>
          </a:xfrm>
          <a:prstGeom prst="rect">
            <a:avLst/>
          </a:prstGeom>
          <a:noFill/>
        </p:spPr>
        <p:txBody>
          <a:bodyPr wrap="square" lIns="41148" tIns="22860" rIns="41148" bIns="22860" anchor="ctr">
            <a:spAutoFit/>
          </a:bodyPr>
          <a:lstStyle/>
          <a:p>
            <a:pPr algn="ctr"/>
            <a:endParaRPr/>
          </a:p>
        </p:txBody>
      </p:sp>
      <p:sp>
        <p:nvSpPr>
          <p:cNvPr id="21" name="Oval 20"/>
          <p:cNvSpPr/>
          <p:nvPr/>
        </p:nvSpPr>
        <p:spPr>
          <a:xfrm>
            <a:off x="877824" y="1947672"/>
            <a:ext cx="274320" cy="274320"/>
          </a:xfrm>
          <a:prstGeom prst="ellipse">
            <a:avLst/>
          </a:prstGeom>
          <a:solidFill>
            <a:srgbClr val="D7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77824" y="1947672"/>
            <a:ext cx="274320" cy="274320"/>
          </a:xfrm>
          <a:prstGeom prst="rect">
            <a:avLst/>
          </a:prstGeom>
          <a:noFill/>
        </p:spPr>
        <p:txBody>
          <a:bodyPr wrap="square" lIns="41148" tIns="22860" rIns="41148" bIns="22860" anchor="ctr">
            <a:spAutoFit/>
          </a:bodyPr>
          <a:lstStyle/>
          <a:p>
            <a:pPr algn="ctr"/>
            <a:r>
              <a:rPr sz="850" b="1" i="0">
                <a:solidFill>
                  <a:srgbClr val="2A79A3"/>
                </a:solidFill>
                <a:latin typeface="Aptos"/>
              </a:rPr>
              <a:t>✓</a:t>
            </a:r>
          </a:p>
        </p:txBody>
      </p:sp>
      <p:sp>
        <p:nvSpPr>
          <p:cNvPr id="23" name="TextBox 22"/>
          <p:cNvSpPr txBox="1"/>
          <p:nvPr/>
        </p:nvSpPr>
        <p:spPr>
          <a:xfrm>
            <a:off x="1298448" y="1938528"/>
            <a:ext cx="4160520" cy="274320"/>
          </a:xfrm>
          <a:prstGeom prst="rect">
            <a:avLst/>
          </a:prstGeom>
          <a:noFill/>
        </p:spPr>
        <p:txBody>
          <a:bodyPr wrap="square" lIns="41148" tIns="22860" rIns="41148" bIns="22860" anchor="t">
            <a:spAutoFit/>
          </a:bodyPr>
          <a:lstStyle/>
          <a:p>
            <a:pPr algn="l"/>
            <a:r>
              <a:rPr sz="1130" b="0" i="0">
                <a:solidFill>
                  <a:srgbClr val="273D4E"/>
                </a:solidFill>
                <a:latin typeface="Aptos"/>
              </a:rPr>
              <a:t>Which courses are available?</a:t>
            </a:r>
          </a:p>
        </p:txBody>
      </p:sp>
      <p:sp>
        <p:nvSpPr>
          <p:cNvPr id="24" name="Oval 23"/>
          <p:cNvSpPr/>
          <p:nvPr/>
        </p:nvSpPr>
        <p:spPr>
          <a:xfrm>
            <a:off x="877824" y="2395728"/>
            <a:ext cx="274320" cy="274320"/>
          </a:xfrm>
          <a:prstGeom prst="ellipse">
            <a:avLst/>
          </a:prstGeom>
          <a:solidFill>
            <a:srgbClr val="D7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77824" y="2395728"/>
            <a:ext cx="274320" cy="274320"/>
          </a:xfrm>
          <a:prstGeom prst="rect">
            <a:avLst/>
          </a:prstGeom>
          <a:noFill/>
        </p:spPr>
        <p:txBody>
          <a:bodyPr wrap="square" lIns="41148" tIns="22860" rIns="41148" bIns="22860" anchor="ctr">
            <a:spAutoFit/>
          </a:bodyPr>
          <a:lstStyle/>
          <a:p>
            <a:pPr algn="ctr"/>
            <a:r>
              <a:rPr sz="850" b="1" i="0">
                <a:solidFill>
                  <a:srgbClr val="2A79A3"/>
                </a:solidFill>
                <a:latin typeface="Aptos"/>
              </a:rPr>
              <a:t>✓</a:t>
            </a:r>
          </a:p>
        </p:txBody>
      </p:sp>
      <p:sp>
        <p:nvSpPr>
          <p:cNvPr id="26" name="TextBox 25"/>
          <p:cNvSpPr txBox="1"/>
          <p:nvPr/>
        </p:nvSpPr>
        <p:spPr>
          <a:xfrm>
            <a:off x="1298448" y="2386584"/>
            <a:ext cx="4160520" cy="274320"/>
          </a:xfrm>
          <a:prstGeom prst="rect">
            <a:avLst/>
          </a:prstGeom>
          <a:noFill/>
        </p:spPr>
        <p:txBody>
          <a:bodyPr wrap="square" lIns="41148" tIns="22860" rIns="41148" bIns="22860" anchor="t">
            <a:spAutoFit/>
          </a:bodyPr>
          <a:lstStyle/>
          <a:p>
            <a:pPr algn="l"/>
            <a:r>
              <a:rPr sz="1130" b="0" i="0">
                <a:solidFill>
                  <a:srgbClr val="273D4E"/>
                </a:solidFill>
                <a:latin typeface="Aptos"/>
              </a:rPr>
              <a:t>Course timings and day</a:t>
            </a:r>
          </a:p>
        </p:txBody>
      </p:sp>
      <p:sp>
        <p:nvSpPr>
          <p:cNvPr id="27" name="Oval 26"/>
          <p:cNvSpPr/>
          <p:nvPr/>
        </p:nvSpPr>
        <p:spPr>
          <a:xfrm>
            <a:off x="877824" y="2843784"/>
            <a:ext cx="274320" cy="274320"/>
          </a:xfrm>
          <a:prstGeom prst="ellipse">
            <a:avLst/>
          </a:prstGeom>
          <a:solidFill>
            <a:srgbClr val="D7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77824" y="2843784"/>
            <a:ext cx="274320" cy="274320"/>
          </a:xfrm>
          <a:prstGeom prst="rect">
            <a:avLst/>
          </a:prstGeom>
          <a:noFill/>
        </p:spPr>
        <p:txBody>
          <a:bodyPr wrap="square" lIns="41148" tIns="22860" rIns="41148" bIns="22860" anchor="ctr">
            <a:spAutoFit/>
          </a:bodyPr>
          <a:lstStyle/>
          <a:p>
            <a:pPr algn="ctr"/>
            <a:r>
              <a:rPr sz="850" b="1" i="0">
                <a:solidFill>
                  <a:srgbClr val="2A79A3"/>
                </a:solidFill>
                <a:latin typeface="Aptos"/>
              </a:rPr>
              <a:t>✓</a:t>
            </a:r>
          </a:p>
        </p:txBody>
      </p:sp>
      <p:sp>
        <p:nvSpPr>
          <p:cNvPr id="29" name="TextBox 28"/>
          <p:cNvSpPr txBox="1"/>
          <p:nvPr/>
        </p:nvSpPr>
        <p:spPr>
          <a:xfrm>
            <a:off x="1298448" y="2834640"/>
            <a:ext cx="4160520" cy="274320"/>
          </a:xfrm>
          <a:prstGeom prst="rect">
            <a:avLst/>
          </a:prstGeom>
          <a:noFill/>
        </p:spPr>
        <p:txBody>
          <a:bodyPr wrap="square" lIns="41148" tIns="22860" rIns="41148" bIns="22860" anchor="t">
            <a:spAutoFit/>
          </a:bodyPr>
          <a:lstStyle/>
          <a:p>
            <a:pPr algn="l"/>
            <a:r>
              <a:rPr sz="1130" b="0" i="0">
                <a:solidFill>
                  <a:srgbClr val="273D4E"/>
                </a:solidFill>
                <a:latin typeface="Aptos"/>
              </a:rPr>
              <a:t>Faculty and classroom</a:t>
            </a:r>
          </a:p>
        </p:txBody>
      </p:sp>
      <p:sp>
        <p:nvSpPr>
          <p:cNvPr id="30" name="Oval 29"/>
          <p:cNvSpPr/>
          <p:nvPr/>
        </p:nvSpPr>
        <p:spPr>
          <a:xfrm>
            <a:off x="877824" y="3291839"/>
            <a:ext cx="274320" cy="274320"/>
          </a:xfrm>
          <a:prstGeom prst="ellipse">
            <a:avLst/>
          </a:prstGeom>
          <a:solidFill>
            <a:srgbClr val="D7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77824" y="3291839"/>
            <a:ext cx="274320" cy="274320"/>
          </a:xfrm>
          <a:prstGeom prst="rect">
            <a:avLst/>
          </a:prstGeom>
          <a:noFill/>
        </p:spPr>
        <p:txBody>
          <a:bodyPr wrap="square" lIns="41148" tIns="22860" rIns="41148" bIns="22860" anchor="ctr">
            <a:spAutoFit/>
          </a:bodyPr>
          <a:lstStyle/>
          <a:p>
            <a:pPr algn="ctr"/>
            <a:r>
              <a:rPr sz="850" b="1" i="0">
                <a:solidFill>
                  <a:srgbClr val="2A79A3"/>
                </a:solidFill>
                <a:latin typeface="Aptos"/>
              </a:rPr>
              <a:t>✓</a:t>
            </a:r>
          </a:p>
        </p:txBody>
      </p:sp>
      <p:sp>
        <p:nvSpPr>
          <p:cNvPr id="32" name="TextBox 31"/>
          <p:cNvSpPr txBox="1"/>
          <p:nvPr/>
        </p:nvSpPr>
        <p:spPr>
          <a:xfrm>
            <a:off x="1298448" y="3282696"/>
            <a:ext cx="4160520" cy="274320"/>
          </a:xfrm>
          <a:prstGeom prst="rect">
            <a:avLst/>
          </a:prstGeom>
          <a:noFill/>
        </p:spPr>
        <p:txBody>
          <a:bodyPr wrap="square" lIns="41148" tIns="22860" rIns="41148" bIns="22860" anchor="t">
            <a:spAutoFit/>
          </a:bodyPr>
          <a:lstStyle/>
          <a:p>
            <a:pPr algn="l"/>
            <a:r>
              <a:rPr sz="1130" b="0" i="0">
                <a:solidFill>
                  <a:srgbClr val="273D4E"/>
                </a:solidFill>
                <a:latin typeface="Aptos"/>
              </a:rPr>
              <a:t>Available seats</a:t>
            </a:r>
          </a:p>
        </p:txBody>
      </p:sp>
      <p:sp>
        <p:nvSpPr>
          <p:cNvPr id="33" name="Oval 32"/>
          <p:cNvSpPr/>
          <p:nvPr/>
        </p:nvSpPr>
        <p:spPr>
          <a:xfrm>
            <a:off x="877824" y="3739896"/>
            <a:ext cx="274320" cy="274320"/>
          </a:xfrm>
          <a:prstGeom prst="ellipse">
            <a:avLst/>
          </a:prstGeom>
          <a:solidFill>
            <a:srgbClr val="D7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877824" y="3739896"/>
            <a:ext cx="274320" cy="274320"/>
          </a:xfrm>
          <a:prstGeom prst="rect">
            <a:avLst/>
          </a:prstGeom>
          <a:noFill/>
        </p:spPr>
        <p:txBody>
          <a:bodyPr wrap="square" lIns="41148" tIns="22860" rIns="41148" bIns="22860" anchor="ctr">
            <a:spAutoFit/>
          </a:bodyPr>
          <a:lstStyle/>
          <a:p>
            <a:pPr algn="ctr"/>
            <a:r>
              <a:rPr sz="850" b="1" i="0">
                <a:solidFill>
                  <a:srgbClr val="2A79A3"/>
                </a:solidFill>
                <a:latin typeface="Aptos"/>
              </a:rPr>
              <a:t>✓</a:t>
            </a:r>
          </a:p>
        </p:txBody>
      </p:sp>
      <p:sp>
        <p:nvSpPr>
          <p:cNvPr id="35" name="TextBox 34"/>
          <p:cNvSpPr txBox="1"/>
          <p:nvPr/>
        </p:nvSpPr>
        <p:spPr>
          <a:xfrm>
            <a:off x="1298448" y="3730752"/>
            <a:ext cx="4160520" cy="274320"/>
          </a:xfrm>
          <a:prstGeom prst="rect">
            <a:avLst/>
          </a:prstGeom>
          <a:noFill/>
        </p:spPr>
        <p:txBody>
          <a:bodyPr wrap="square" lIns="41148" tIns="22860" rIns="41148" bIns="22860" anchor="t">
            <a:spAutoFit/>
          </a:bodyPr>
          <a:lstStyle/>
          <a:p>
            <a:pPr algn="l"/>
            <a:r>
              <a:rPr sz="1130" b="0" i="0">
                <a:solidFill>
                  <a:srgbClr val="273D4E"/>
                </a:solidFill>
                <a:latin typeface="Aptos"/>
              </a:rPr>
              <a:t>Credit requirements</a:t>
            </a:r>
          </a:p>
        </p:txBody>
      </p:sp>
      <p:sp>
        <p:nvSpPr>
          <p:cNvPr id="36" name="Oval 35"/>
          <p:cNvSpPr/>
          <p:nvPr/>
        </p:nvSpPr>
        <p:spPr>
          <a:xfrm>
            <a:off x="877824" y="4187952"/>
            <a:ext cx="274320" cy="274320"/>
          </a:xfrm>
          <a:prstGeom prst="ellipse">
            <a:avLst/>
          </a:prstGeom>
          <a:solidFill>
            <a:srgbClr val="D7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877824" y="4187952"/>
            <a:ext cx="274320" cy="274320"/>
          </a:xfrm>
          <a:prstGeom prst="rect">
            <a:avLst/>
          </a:prstGeom>
          <a:noFill/>
        </p:spPr>
        <p:txBody>
          <a:bodyPr wrap="square" lIns="41148" tIns="22860" rIns="41148" bIns="22860" anchor="ctr">
            <a:spAutoFit/>
          </a:bodyPr>
          <a:lstStyle/>
          <a:p>
            <a:pPr algn="ctr"/>
            <a:r>
              <a:rPr sz="850" b="1" i="0">
                <a:solidFill>
                  <a:srgbClr val="2A79A3"/>
                </a:solidFill>
                <a:latin typeface="Aptos"/>
              </a:rPr>
              <a:t>✓</a:t>
            </a:r>
          </a:p>
        </p:txBody>
      </p:sp>
      <p:sp>
        <p:nvSpPr>
          <p:cNvPr id="38" name="TextBox 37"/>
          <p:cNvSpPr txBox="1"/>
          <p:nvPr/>
        </p:nvSpPr>
        <p:spPr>
          <a:xfrm>
            <a:off x="1298448" y="4178808"/>
            <a:ext cx="4160520" cy="274320"/>
          </a:xfrm>
          <a:prstGeom prst="rect">
            <a:avLst/>
          </a:prstGeom>
          <a:noFill/>
        </p:spPr>
        <p:txBody>
          <a:bodyPr wrap="square" lIns="41148" tIns="22860" rIns="41148" bIns="22860" anchor="t">
            <a:spAutoFit/>
          </a:bodyPr>
          <a:lstStyle/>
          <a:p>
            <a:pPr algn="l"/>
            <a:r>
              <a:rPr sz="1130" b="0" i="0">
                <a:solidFill>
                  <a:srgbClr val="273D4E"/>
                </a:solidFill>
                <a:latin typeface="Aptos"/>
              </a:rPr>
              <a:t>Prerequisites</a:t>
            </a:r>
          </a:p>
        </p:txBody>
      </p:sp>
      <p:sp>
        <p:nvSpPr>
          <p:cNvPr id="39" name="Oval 38"/>
          <p:cNvSpPr/>
          <p:nvPr/>
        </p:nvSpPr>
        <p:spPr>
          <a:xfrm>
            <a:off x="877824" y="4636008"/>
            <a:ext cx="274320" cy="274320"/>
          </a:xfrm>
          <a:prstGeom prst="ellipse">
            <a:avLst/>
          </a:prstGeom>
          <a:solidFill>
            <a:srgbClr val="D7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877824" y="4636008"/>
            <a:ext cx="274320" cy="274320"/>
          </a:xfrm>
          <a:prstGeom prst="rect">
            <a:avLst/>
          </a:prstGeom>
          <a:noFill/>
        </p:spPr>
        <p:txBody>
          <a:bodyPr wrap="square" lIns="41148" tIns="22860" rIns="41148" bIns="22860" anchor="ctr">
            <a:spAutoFit/>
          </a:bodyPr>
          <a:lstStyle/>
          <a:p>
            <a:pPr algn="ctr"/>
            <a:r>
              <a:rPr sz="850" b="1" i="0">
                <a:solidFill>
                  <a:srgbClr val="2A79A3"/>
                </a:solidFill>
                <a:latin typeface="Aptos"/>
              </a:rPr>
              <a:t>✓</a:t>
            </a:r>
          </a:p>
        </p:txBody>
      </p:sp>
      <p:sp>
        <p:nvSpPr>
          <p:cNvPr id="41" name="TextBox 40"/>
          <p:cNvSpPr txBox="1"/>
          <p:nvPr/>
        </p:nvSpPr>
        <p:spPr>
          <a:xfrm>
            <a:off x="1298448" y="4626864"/>
            <a:ext cx="4160520" cy="274320"/>
          </a:xfrm>
          <a:prstGeom prst="rect">
            <a:avLst/>
          </a:prstGeom>
          <a:noFill/>
        </p:spPr>
        <p:txBody>
          <a:bodyPr wrap="square" lIns="41148" tIns="22860" rIns="41148" bIns="22860" anchor="t">
            <a:spAutoFit/>
          </a:bodyPr>
          <a:lstStyle/>
          <a:p>
            <a:pPr algn="l"/>
            <a:r>
              <a:rPr sz="1130" b="0" i="0">
                <a:solidFill>
                  <a:srgbClr val="273D4E"/>
                </a:solidFill>
                <a:latin typeface="Aptos"/>
              </a:rPr>
              <a:t>Whether selected courses clash</a:t>
            </a:r>
          </a:p>
        </p:txBody>
      </p:sp>
      <p:sp>
        <p:nvSpPr>
          <p:cNvPr id="42" name="Oval 41"/>
          <p:cNvSpPr/>
          <p:nvPr/>
        </p:nvSpPr>
        <p:spPr>
          <a:xfrm>
            <a:off x="877824" y="5084064"/>
            <a:ext cx="274320" cy="274320"/>
          </a:xfrm>
          <a:prstGeom prst="ellipse">
            <a:avLst/>
          </a:prstGeom>
          <a:solidFill>
            <a:srgbClr val="D7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877824" y="5084064"/>
            <a:ext cx="274320" cy="274320"/>
          </a:xfrm>
          <a:prstGeom prst="rect">
            <a:avLst/>
          </a:prstGeom>
          <a:noFill/>
        </p:spPr>
        <p:txBody>
          <a:bodyPr wrap="square" lIns="41148" tIns="22860" rIns="41148" bIns="22860" anchor="ctr">
            <a:spAutoFit/>
          </a:bodyPr>
          <a:lstStyle/>
          <a:p>
            <a:pPr algn="ctr"/>
            <a:r>
              <a:rPr sz="850" b="1" i="0">
                <a:solidFill>
                  <a:srgbClr val="2A79A3"/>
                </a:solidFill>
                <a:latin typeface="Aptos"/>
              </a:rPr>
              <a:t>✓</a:t>
            </a:r>
          </a:p>
        </p:txBody>
      </p:sp>
      <p:sp>
        <p:nvSpPr>
          <p:cNvPr id="44" name="TextBox 43"/>
          <p:cNvSpPr txBox="1"/>
          <p:nvPr/>
        </p:nvSpPr>
        <p:spPr>
          <a:xfrm>
            <a:off x="1298448" y="5074920"/>
            <a:ext cx="4160520" cy="274320"/>
          </a:xfrm>
          <a:prstGeom prst="rect">
            <a:avLst/>
          </a:prstGeom>
          <a:noFill/>
        </p:spPr>
        <p:txBody>
          <a:bodyPr wrap="square" lIns="41148" tIns="22860" rIns="41148" bIns="22860" anchor="t">
            <a:spAutoFit/>
          </a:bodyPr>
          <a:lstStyle/>
          <a:p>
            <a:pPr algn="l"/>
            <a:r>
              <a:rPr sz="1130" b="0" i="0">
                <a:solidFill>
                  <a:srgbClr val="273D4E"/>
                </a:solidFill>
                <a:latin typeface="Aptos"/>
              </a:rPr>
              <a:t>What to register or drop</a:t>
            </a:r>
          </a:p>
        </p:txBody>
      </p:sp>
      <p:sp>
        <p:nvSpPr>
          <p:cNvPr id="45" name="Rounded Rectangle 44"/>
          <p:cNvSpPr/>
          <p:nvPr/>
        </p:nvSpPr>
        <p:spPr>
          <a:xfrm>
            <a:off x="6144768" y="1389888"/>
            <a:ext cx="5422392" cy="4617720"/>
          </a:xfrm>
          <a:prstGeom prst="roundRect">
            <a:avLst>
              <a:gd name="adj" fmla="val 12000"/>
            </a:avLst>
          </a:prstGeom>
          <a:solidFill>
            <a:srgbClr val="FFFFFF"/>
          </a:solidFill>
          <a:ln>
            <a:solidFill>
              <a:srgbClr val="C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6473952" y="1737360"/>
            <a:ext cx="4709160" cy="292608"/>
          </a:xfrm>
          <a:prstGeom prst="rect">
            <a:avLst/>
          </a:prstGeom>
          <a:noFill/>
        </p:spPr>
        <p:txBody>
          <a:bodyPr wrap="square" lIns="41148" tIns="22860" rIns="41148" bIns="22860" anchor="t">
            <a:spAutoFit/>
          </a:bodyPr>
          <a:lstStyle/>
          <a:p>
            <a:pPr algn="ctr"/>
            <a:r>
              <a:rPr sz="1300" b="1" i="0">
                <a:solidFill>
                  <a:srgbClr val="10395C"/>
                </a:solidFill>
                <a:latin typeface="Aptos"/>
              </a:rPr>
              <a:t>THE PROBLEM IN ONE CHAIN</a:t>
            </a:r>
          </a:p>
        </p:txBody>
      </p:sp>
      <p:sp>
        <p:nvSpPr>
          <p:cNvPr id="47" name="Rounded Rectangle 46"/>
          <p:cNvSpPr/>
          <p:nvPr/>
        </p:nvSpPr>
        <p:spPr>
          <a:xfrm>
            <a:off x="7315200" y="2267712"/>
            <a:ext cx="3063240" cy="411480"/>
          </a:xfrm>
          <a:prstGeom prst="roundRect">
            <a:avLst>
              <a:gd name="adj" fmla="val 12000"/>
            </a:avLst>
          </a:prstGeom>
          <a:solidFill>
            <a:srgbClr val="D7F0F8"/>
          </a:solidFill>
          <a:ln>
            <a:solidFill>
              <a:srgbClr val="D7F0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7315200" y="2331720"/>
            <a:ext cx="3063240" cy="228600"/>
          </a:xfrm>
          <a:prstGeom prst="rect">
            <a:avLst/>
          </a:prstGeom>
          <a:noFill/>
        </p:spPr>
        <p:txBody>
          <a:bodyPr wrap="square" lIns="41148" tIns="22860" rIns="41148" bIns="22860" anchor="t">
            <a:spAutoFit/>
          </a:bodyPr>
          <a:lstStyle/>
          <a:p>
            <a:pPr algn="ctr"/>
            <a:r>
              <a:rPr sz="1000" b="1" i="0">
                <a:solidFill>
                  <a:srgbClr val="10395C"/>
                </a:solidFill>
                <a:latin typeface="Aptos"/>
              </a:rPr>
              <a:t>COURSE SEARCH</a:t>
            </a:r>
          </a:p>
        </p:txBody>
      </p:sp>
      <p:cxnSp>
        <p:nvCxnSpPr>
          <p:cNvPr id="49" name="Connector 48"/>
          <p:cNvCxnSpPr/>
          <p:nvPr/>
        </p:nvCxnSpPr>
        <p:spPr>
          <a:xfrm>
            <a:off x="8851392" y="2688336"/>
            <a:ext cx="0" cy="155448"/>
          </a:xfrm>
          <a:prstGeom prst="line">
            <a:avLst/>
          </a:prstGeom>
          <a:ln w="21590">
            <a:solidFill>
              <a:srgbClr val="5BBFCC"/>
            </a:solidFill>
          </a:ln>
        </p:spPr>
        <p:style>
          <a:lnRef idx="2">
            <a:schemeClr val="accent1"/>
          </a:lnRef>
          <a:fillRef idx="0">
            <a:schemeClr val="accent1"/>
          </a:fillRef>
          <a:effectRef idx="1">
            <a:schemeClr val="accent1"/>
          </a:effectRef>
          <a:fontRef idx="minor">
            <a:schemeClr val="tx1"/>
          </a:fontRef>
        </p:style>
      </p:cxnSp>
      <p:sp>
        <p:nvSpPr>
          <p:cNvPr id="50" name="Rounded Rectangle 49"/>
          <p:cNvSpPr/>
          <p:nvPr/>
        </p:nvSpPr>
        <p:spPr>
          <a:xfrm>
            <a:off x="7315200" y="2889504"/>
            <a:ext cx="3063240" cy="411480"/>
          </a:xfrm>
          <a:prstGeom prst="roundRect">
            <a:avLst>
              <a:gd name="adj" fmla="val 12000"/>
            </a:avLst>
          </a:prstGeom>
          <a:solidFill>
            <a:srgbClr val="E1F8F1"/>
          </a:solidFill>
          <a:ln>
            <a:solidFill>
              <a:srgbClr val="E1F8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7315200" y="2953512"/>
            <a:ext cx="3063240" cy="228600"/>
          </a:xfrm>
          <a:prstGeom prst="rect">
            <a:avLst/>
          </a:prstGeom>
          <a:noFill/>
        </p:spPr>
        <p:txBody>
          <a:bodyPr wrap="square" lIns="41148" tIns="22860" rIns="41148" bIns="22860" anchor="t">
            <a:spAutoFit/>
          </a:bodyPr>
          <a:lstStyle/>
          <a:p>
            <a:pPr algn="ctr"/>
            <a:r>
              <a:rPr sz="1000" b="1" i="0">
                <a:solidFill>
                  <a:srgbClr val="10395C"/>
                </a:solidFill>
                <a:latin typeface="Aptos"/>
              </a:rPr>
              <a:t>TIMING CHECK</a:t>
            </a:r>
          </a:p>
        </p:txBody>
      </p:sp>
      <p:cxnSp>
        <p:nvCxnSpPr>
          <p:cNvPr id="52" name="Connector 51"/>
          <p:cNvCxnSpPr/>
          <p:nvPr/>
        </p:nvCxnSpPr>
        <p:spPr>
          <a:xfrm>
            <a:off x="8851392" y="3310128"/>
            <a:ext cx="0" cy="155448"/>
          </a:xfrm>
          <a:prstGeom prst="line">
            <a:avLst/>
          </a:prstGeom>
          <a:ln w="21590">
            <a:solidFill>
              <a:srgbClr val="5BBFCC"/>
            </a:solidFill>
          </a:ln>
        </p:spPr>
        <p:style>
          <a:lnRef idx="2">
            <a:schemeClr val="accent1"/>
          </a:lnRef>
          <a:fillRef idx="0">
            <a:schemeClr val="accent1"/>
          </a:fillRef>
          <a:effectRef idx="1">
            <a:schemeClr val="accent1"/>
          </a:effectRef>
          <a:fontRef idx="minor">
            <a:schemeClr val="tx1"/>
          </a:fontRef>
        </p:style>
      </p:cxnSp>
      <p:sp>
        <p:nvSpPr>
          <p:cNvPr id="53" name="Rounded Rectangle 52"/>
          <p:cNvSpPr/>
          <p:nvPr/>
        </p:nvSpPr>
        <p:spPr>
          <a:xfrm>
            <a:off x="7315200" y="3511296"/>
            <a:ext cx="3063240" cy="411480"/>
          </a:xfrm>
          <a:prstGeom prst="roundRect">
            <a:avLst>
              <a:gd name="adj" fmla="val 12000"/>
            </a:avLst>
          </a:prstGeom>
          <a:solidFill>
            <a:srgbClr val="FDEDE5"/>
          </a:solidFill>
          <a:ln>
            <a:solidFill>
              <a:srgbClr val="FDED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7315200" y="3575303"/>
            <a:ext cx="3063240" cy="228600"/>
          </a:xfrm>
          <a:prstGeom prst="rect">
            <a:avLst/>
          </a:prstGeom>
          <a:noFill/>
        </p:spPr>
        <p:txBody>
          <a:bodyPr wrap="square" lIns="41148" tIns="22860" rIns="41148" bIns="22860" anchor="t">
            <a:spAutoFit/>
          </a:bodyPr>
          <a:lstStyle/>
          <a:p>
            <a:pPr algn="ctr"/>
            <a:r>
              <a:rPr sz="1000" b="1" i="0">
                <a:solidFill>
                  <a:srgbClr val="10395C"/>
                </a:solidFill>
                <a:latin typeface="Aptos"/>
              </a:rPr>
              <a:t>CLASH CHECK</a:t>
            </a:r>
          </a:p>
        </p:txBody>
      </p:sp>
      <p:cxnSp>
        <p:nvCxnSpPr>
          <p:cNvPr id="55" name="Connector 54"/>
          <p:cNvCxnSpPr/>
          <p:nvPr/>
        </p:nvCxnSpPr>
        <p:spPr>
          <a:xfrm>
            <a:off x="8851392" y="3931920"/>
            <a:ext cx="0" cy="155448"/>
          </a:xfrm>
          <a:prstGeom prst="line">
            <a:avLst/>
          </a:prstGeom>
          <a:ln w="21590">
            <a:solidFill>
              <a:srgbClr val="5BBFCC"/>
            </a:solidFill>
          </a:ln>
        </p:spPr>
        <p:style>
          <a:lnRef idx="2">
            <a:schemeClr val="accent1"/>
          </a:lnRef>
          <a:fillRef idx="0">
            <a:schemeClr val="accent1"/>
          </a:fillRef>
          <a:effectRef idx="1">
            <a:schemeClr val="accent1"/>
          </a:effectRef>
          <a:fontRef idx="minor">
            <a:schemeClr val="tx1"/>
          </a:fontRef>
        </p:style>
      </p:cxnSp>
      <p:sp>
        <p:nvSpPr>
          <p:cNvPr id="56" name="Rounded Rectangle 55"/>
          <p:cNvSpPr/>
          <p:nvPr/>
        </p:nvSpPr>
        <p:spPr>
          <a:xfrm>
            <a:off x="7315200" y="4133087"/>
            <a:ext cx="3063240" cy="411480"/>
          </a:xfrm>
          <a:prstGeom prst="roundRect">
            <a:avLst>
              <a:gd name="adj" fmla="val 12000"/>
            </a:avLst>
          </a:prstGeom>
          <a:solidFill>
            <a:srgbClr val="EDECFC"/>
          </a:solidFill>
          <a:ln>
            <a:solidFill>
              <a:srgbClr val="EDEC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7315200" y="4197096"/>
            <a:ext cx="3063240" cy="228600"/>
          </a:xfrm>
          <a:prstGeom prst="rect">
            <a:avLst/>
          </a:prstGeom>
          <a:noFill/>
        </p:spPr>
        <p:txBody>
          <a:bodyPr wrap="square" lIns="41148" tIns="22860" rIns="41148" bIns="22860" anchor="t">
            <a:spAutoFit/>
          </a:bodyPr>
          <a:lstStyle/>
          <a:p>
            <a:pPr algn="ctr"/>
            <a:r>
              <a:rPr sz="1000" b="1" i="0">
                <a:solidFill>
                  <a:srgbClr val="10395C"/>
                </a:solidFill>
                <a:latin typeface="Aptos"/>
              </a:rPr>
              <a:t>CREDIT CHECK</a:t>
            </a:r>
          </a:p>
        </p:txBody>
      </p:sp>
      <p:cxnSp>
        <p:nvCxnSpPr>
          <p:cNvPr id="58" name="Connector 57"/>
          <p:cNvCxnSpPr/>
          <p:nvPr/>
        </p:nvCxnSpPr>
        <p:spPr>
          <a:xfrm>
            <a:off x="8851392" y="4553712"/>
            <a:ext cx="0" cy="155447"/>
          </a:xfrm>
          <a:prstGeom prst="line">
            <a:avLst/>
          </a:prstGeom>
          <a:ln w="21590">
            <a:solidFill>
              <a:srgbClr val="5BBFCC"/>
            </a:solidFill>
          </a:ln>
        </p:spPr>
        <p:style>
          <a:lnRef idx="2">
            <a:schemeClr val="accent1"/>
          </a:lnRef>
          <a:fillRef idx="0">
            <a:schemeClr val="accent1"/>
          </a:fillRef>
          <a:effectRef idx="1">
            <a:schemeClr val="accent1"/>
          </a:effectRef>
          <a:fontRef idx="minor">
            <a:schemeClr val="tx1"/>
          </a:fontRef>
        </p:style>
      </p:cxnSp>
      <p:sp>
        <p:nvSpPr>
          <p:cNvPr id="59" name="Rounded Rectangle 58"/>
          <p:cNvSpPr/>
          <p:nvPr/>
        </p:nvSpPr>
        <p:spPr>
          <a:xfrm>
            <a:off x="7315200" y="4754880"/>
            <a:ext cx="3063240" cy="411480"/>
          </a:xfrm>
          <a:prstGeom prst="roundRect">
            <a:avLst>
              <a:gd name="adj" fmla="val 12000"/>
            </a:avLst>
          </a:prstGeom>
          <a:solidFill>
            <a:srgbClr val="D7F0F8"/>
          </a:solidFill>
          <a:ln>
            <a:solidFill>
              <a:srgbClr val="D7F0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7315200" y="4818888"/>
            <a:ext cx="3063240" cy="228600"/>
          </a:xfrm>
          <a:prstGeom prst="rect">
            <a:avLst/>
          </a:prstGeom>
          <a:noFill/>
        </p:spPr>
        <p:txBody>
          <a:bodyPr wrap="square" lIns="41148" tIns="22860" rIns="41148" bIns="22860" anchor="t">
            <a:spAutoFit/>
          </a:bodyPr>
          <a:lstStyle/>
          <a:p>
            <a:pPr algn="ctr"/>
            <a:r>
              <a:rPr sz="1000" b="1" i="0">
                <a:solidFill>
                  <a:srgbClr val="10395C"/>
                </a:solidFill>
                <a:latin typeface="Aptos"/>
              </a:rPr>
              <a:t>REGISTRATION</a:t>
            </a:r>
          </a:p>
        </p:txBody>
      </p:sp>
      <p:sp>
        <p:nvSpPr>
          <p:cNvPr id="61" name="Rounded Rectangle 60"/>
          <p:cNvSpPr/>
          <p:nvPr/>
        </p:nvSpPr>
        <p:spPr>
          <a:xfrm>
            <a:off x="7040880" y="5413248"/>
            <a:ext cx="3611880" cy="329184"/>
          </a:xfrm>
          <a:prstGeom prst="roundRect">
            <a:avLst>
              <a:gd name="adj" fmla="val 12000"/>
            </a:avLst>
          </a:prstGeom>
          <a:solidFill>
            <a:srgbClr val="E1F8F1"/>
          </a:solidFill>
          <a:ln>
            <a:solidFill>
              <a:srgbClr val="E1F8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7059168" y="5431536"/>
            <a:ext cx="3575304" cy="274320"/>
          </a:xfrm>
          <a:prstGeom prst="rect">
            <a:avLst/>
          </a:prstGeom>
          <a:noFill/>
        </p:spPr>
        <p:txBody>
          <a:bodyPr wrap="square" lIns="41148" tIns="22860" rIns="41148" bIns="22860" anchor="ctr">
            <a:spAutoFit/>
          </a:bodyPr>
          <a:lstStyle/>
          <a:p>
            <a:pPr algn="ctr"/>
            <a:r>
              <a:rPr sz="850" b="1" i="0">
                <a:solidFill>
                  <a:srgbClr val="10395C"/>
                </a:solidFill>
                <a:latin typeface="Aptos"/>
              </a:rPr>
              <a:t>ONE PLATFORM REPLACES REPEATED CHECKING</a:t>
            </a:r>
          </a:p>
        </p:txBody>
      </p:sp>
      <p:sp>
        <p:nvSpPr>
          <p:cNvPr id="63" name="TextBox 62"/>
          <p:cNvSpPr txBox="1"/>
          <p:nvPr/>
        </p:nvSpPr>
        <p:spPr>
          <a:xfrm>
            <a:off x="530352" y="6547104"/>
            <a:ext cx="4572000" cy="146304"/>
          </a:xfrm>
          <a:prstGeom prst="rect">
            <a:avLst/>
          </a:prstGeom>
          <a:noFill/>
        </p:spPr>
        <p:txBody>
          <a:bodyPr wrap="square" lIns="41148" tIns="22860" rIns="41148" bIns="22860" anchor="t">
            <a:spAutoFit/>
          </a:bodyPr>
          <a:lstStyle/>
          <a:p>
            <a:pPr algn="l"/>
            <a:r>
              <a:rPr sz="720" b="1" i="0">
                <a:solidFill>
                  <a:srgbClr val="5D7684"/>
                </a:solidFill>
                <a:latin typeface="Aptos"/>
              </a:rPr>
              <a:t>COURSE REGISTRATION &amp; TIMETABLE BUILDER</a:t>
            </a:r>
          </a:p>
        </p:txBody>
      </p:sp>
      <p:sp>
        <p:nvSpPr>
          <p:cNvPr id="64" name="TextBox 63"/>
          <p:cNvSpPr txBox="1"/>
          <p:nvPr/>
        </p:nvSpPr>
        <p:spPr>
          <a:xfrm>
            <a:off x="11201400" y="6510528"/>
            <a:ext cx="384048" cy="182880"/>
          </a:xfrm>
          <a:prstGeom prst="rect">
            <a:avLst/>
          </a:prstGeom>
          <a:noFill/>
        </p:spPr>
        <p:txBody>
          <a:bodyPr wrap="square" lIns="41148" tIns="22860" rIns="41148" bIns="22860" anchor="t">
            <a:spAutoFit/>
          </a:bodyPr>
          <a:lstStyle/>
          <a:p>
            <a:pPr algn="r"/>
            <a:r>
              <a:rPr sz="750" b="1" i="0">
                <a:solidFill>
                  <a:srgbClr val="5D7684"/>
                </a:solidFill>
                <a:latin typeface="Aptos"/>
              </a:rPr>
              <a:t>03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1FAFD"/>
        </a:solidFill>
        <a:effectLst/>
      </p:bgPr>
    </p:bg>
    <p:spTree>
      <p:nvGrpSpPr>
        <p:cNvPr id="1" name=""/>
        <p:cNvGrpSpPr/>
        <p:nvPr/>
      </p:nvGrpSpPr>
      <p:grpSpPr>
        <a:xfrm>
          <a:off x="0" y="0"/>
          <a:ext cx="0" cy="0"/>
          <a:chOff x="0" y="0"/>
          <a:chExt cx="0" cy="0"/>
        </a:xfrm>
      </p:grpSpPr>
      <p:sp>
        <p:nvSpPr>
          <p:cNvPr id="2" name="Oval 1"/>
          <p:cNvSpPr/>
          <p:nvPr/>
        </p:nvSpPr>
        <p:spPr>
          <a:xfrm>
            <a:off x="10652760" y="-411480"/>
            <a:ext cx="1920240" cy="1920240"/>
          </a:xfrm>
          <a:prstGeom prst="ellipse">
            <a:avLst/>
          </a:prstGeom>
          <a:solidFill>
            <a:srgbClr val="D7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9875520" y="5623560"/>
            <a:ext cx="2011680" cy="2011680"/>
          </a:xfrm>
          <a:prstGeom prst="ellipse">
            <a:avLst/>
          </a:prstGeom>
          <a:solidFill>
            <a:srgbClr val="E1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411480" y="5715000"/>
            <a:ext cx="1554480" cy="1554480"/>
          </a:xfrm>
          <a:prstGeom prst="ellipse">
            <a:avLst/>
          </a:prstGeom>
          <a:solidFill>
            <a:srgbClr val="EDE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rot="20100000">
            <a:off x="11292840" y="91440"/>
            <a:ext cx="228600" cy="96012"/>
          </a:xfrm>
          <a:prstGeom prst="ellipse">
            <a:avLst/>
          </a:prstGeom>
          <a:solidFill>
            <a:srgbClr val="5BB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rot="1500000">
            <a:off x="11494008" y="256032"/>
            <a:ext cx="256032" cy="107533"/>
          </a:xfrm>
          <a:prstGeom prst="ellipse">
            <a:avLst/>
          </a:prstGeom>
          <a:solidFill>
            <a:srgbClr val="2A79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rot="19500000">
            <a:off x="11146536" y="411479"/>
            <a:ext cx="219456" cy="92171"/>
          </a:xfrm>
          <a:prstGeom prst="ellipse">
            <a:avLst/>
          </a:prstGeom>
          <a:solidFill>
            <a:srgbClr val="5BB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rot="1500000">
            <a:off x="11402567" y="566928"/>
            <a:ext cx="201168" cy="84490"/>
          </a:xfrm>
          <a:prstGeom prst="ellipse">
            <a:avLst/>
          </a:prstGeom>
          <a:solidFill>
            <a:srgbClr val="2A79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rot="19500000">
            <a:off x="11036808" y="685800"/>
            <a:ext cx="201168" cy="84490"/>
          </a:xfrm>
          <a:prstGeom prst="ellipse">
            <a:avLst/>
          </a:prstGeom>
          <a:solidFill>
            <a:srgbClr val="5BB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0" name="Connector 9"/>
          <p:cNvCxnSpPr/>
          <p:nvPr/>
        </p:nvCxnSpPr>
        <p:spPr>
          <a:xfrm flipH="1">
            <a:off x="11311128" y="109728"/>
            <a:ext cx="73152" cy="758952"/>
          </a:xfrm>
          <a:prstGeom prst="line">
            <a:avLst/>
          </a:prstGeom>
          <a:ln w="13970">
            <a:solidFill>
              <a:srgbClr val="2A79A3"/>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502920" y="329184"/>
            <a:ext cx="502920" cy="329184"/>
          </a:xfrm>
          <a:prstGeom prst="roundRect">
            <a:avLst>
              <a:gd name="adj" fmla="val 12000"/>
            </a:avLst>
          </a:prstGeom>
          <a:solidFill>
            <a:srgbClr val="D7F0F8"/>
          </a:solidFill>
          <a:ln>
            <a:solidFill>
              <a:srgbClr val="D7F0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21208" y="347472"/>
            <a:ext cx="466344" cy="274320"/>
          </a:xfrm>
          <a:prstGeom prst="rect">
            <a:avLst/>
          </a:prstGeom>
          <a:noFill/>
        </p:spPr>
        <p:txBody>
          <a:bodyPr wrap="square" lIns="41148" tIns="22860" rIns="41148" bIns="22860" anchor="ctr">
            <a:spAutoFit/>
          </a:bodyPr>
          <a:lstStyle/>
          <a:p>
            <a:pPr algn="ctr"/>
            <a:r>
              <a:rPr sz="1000" b="1" i="0">
                <a:solidFill>
                  <a:srgbClr val="10395C"/>
                </a:solidFill>
                <a:latin typeface="Aptos"/>
              </a:rPr>
              <a:t>3</a:t>
            </a:r>
          </a:p>
        </p:txBody>
      </p:sp>
      <p:sp>
        <p:nvSpPr>
          <p:cNvPr id="13" name="TextBox 12"/>
          <p:cNvSpPr txBox="1"/>
          <p:nvPr/>
        </p:nvSpPr>
        <p:spPr>
          <a:xfrm>
            <a:off x="1115568" y="274320"/>
            <a:ext cx="9875520" cy="438912"/>
          </a:xfrm>
          <a:prstGeom prst="rect">
            <a:avLst/>
          </a:prstGeom>
          <a:noFill/>
        </p:spPr>
        <p:txBody>
          <a:bodyPr wrap="square" lIns="41148" tIns="22860" rIns="41148" bIns="22860" anchor="t">
            <a:spAutoFit/>
          </a:bodyPr>
          <a:lstStyle/>
          <a:p>
            <a:pPr algn="l"/>
            <a:r>
              <a:rPr sz="2300" b="1" i="0">
                <a:solidFill>
                  <a:srgbClr val="10395C"/>
                </a:solidFill>
                <a:latin typeface="Aptos"/>
              </a:rPr>
              <a:t>Why This Project Matters</a:t>
            </a:r>
          </a:p>
        </p:txBody>
      </p:sp>
      <p:sp>
        <p:nvSpPr>
          <p:cNvPr id="14" name="TextBox 13"/>
          <p:cNvSpPr txBox="1"/>
          <p:nvPr/>
        </p:nvSpPr>
        <p:spPr>
          <a:xfrm>
            <a:off x="1133856" y="758952"/>
            <a:ext cx="9418320" cy="274320"/>
          </a:xfrm>
          <a:prstGeom prst="rect">
            <a:avLst/>
          </a:prstGeom>
          <a:noFill/>
        </p:spPr>
        <p:txBody>
          <a:bodyPr wrap="square" lIns="41148" tIns="22860" rIns="41148" bIns="22860" anchor="t">
            <a:spAutoFit/>
          </a:bodyPr>
          <a:lstStyle/>
          <a:p>
            <a:pPr algn="l"/>
            <a:r>
              <a:rPr sz="1080" b="0" i="0">
                <a:solidFill>
                  <a:srgbClr val="5D7684"/>
                </a:solidFill>
                <a:latin typeface="Aptos"/>
              </a:rPr>
              <a:t>The value created for the academic community</a:t>
            </a:r>
          </a:p>
        </p:txBody>
      </p:sp>
      <p:sp>
        <p:nvSpPr>
          <p:cNvPr id="15" name="Rectangle 14"/>
          <p:cNvSpPr/>
          <p:nvPr/>
        </p:nvSpPr>
        <p:spPr>
          <a:xfrm>
            <a:off x="1133856" y="1060704"/>
            <a:ext cx="1051560" cy="32004"/>
          </a:xfrm>
          <a:prstGeom prst="rect">
            <a:avLst/>
          </a:prstGeom>
          <a:solidFill>
            <a:srgbClr val="5BB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594360" y="1417320"/>
            <a:ext cx="3456432" cy="1810512"/>
          </a:xfrm>
          <a:prstGeom prst="roundRect">
            <a:avLst>
              <a:gd name="adj" fmla="val 12000"/>
            </a:avLst>
          </a:prstGeom>
          <a:solidFill>
            <a:srgbClr val="FFFFFF"/>
          </a:solidFill>
          <a:ln>
            <a:solidFill>
              <a:srgbClr val="C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795528" y="1645920"/>
            <a:ext cx="438912" cy="438912"/>
          </a:xfrm>
          <a:prstGeom prst="ellipse">
            <a:avLst/>
          </a:prstGeom>
          <a:solidFill>
            <a:srgbClr val="D7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95528" y="1645920"/>
            <a:ext cx="438912" cy="438912"/>
          </a:xfrm>
          <a:prstGeom prst="rect">
            <a:avLst/>
          </a:prstGeom>
          <a:noFill/>
        </p:spPr>
        <p:txBody>
          <a:bodyPr wrap="square" lIns="41148" tIns="22860" rIns="41148" bIns="22860" anchor="ctr">
            <a:spAutoFit/>
          </a:bodyPr>
          <a:lstStyle/>
          <a:p>
            <a:pPr algn="ctr"/>
            <a:r>
              <a:rPr sz="900" b="1" i="0">
                <a:solidFill>
                  <a:srgbClr val="2A79A3"/>
                </a:solidFill>
                <a:latin typeface="Aptos"/>
              </a:rPr>
              <a:t>01</a:t>
            </a:r>
          </a:p>
        </p:txBody>
      </p:sp>
      <p:sp>
        <p:nvSpPr>
          <p:cNvPr id="19" name="TextBox 18"/>
          <p:cNvSpPr txBox="1"/>
          <p:nvPr/>
        </p:nvSpPr>
        <p:spPr>
          <a:xfrm>
            <a:off x="1380744" y="1655064"/>
            <a:ext cx="2240280" cy="274320"/>
          </a:xfrm>
          <a:prstGeom prst="rect">
            <a:avLst/>
          </a:prstGeom>
          <a:noFill/>
        </p:spPr>
        <p:txBody>
          <a:bodyPr wrap="square" lIns="41148" tIns="22860" rIns="41148" bIns="22860" anchor="t">
            <a:spAutoFit/>
          </a:bodyPr>
          <a:lstStyle/>
          <a:p>
            <a:pPr algn="l"/>
            <a:r>
              <a:rPr sz="1200" b="1" i="0">
                <a:solidFill>
                  <a:srgbClr val="10395C"/>
                </a:solidFill>
                <a:latin typeface="Aptos"/>
              </a:rPr>
              <a:t>TIME</a:t>
            </a:r>
          </a:p>
        </p:txBody>
      </p:sp>
      <p:sp>
        <p:nvSpPr>
          <p:cNvPr id="20" name="TextBox 19"/>
          <p:cNvSpPr txBox="1"/>
          <p:nvPr/>
        </p:nvSpPr>
        <p:spPr>
          <a:xfrm>
            <a:off x="850392" y="2221992"/>
            <a:ext cx="2880360" cy="603504"/>
          </a:xfrm>
          <a:prstGeom prst="rect">
            <a:avLst/>
          </a:prstGeom>
          <a:noFill/>
        </p:spPr>
        <p:txBody>
          <a:bodyPr wrap="square" lIns="41148" tIns="22860" rIns="41148" bIns="22860" anchor="t">
            <a:spAutoFit/>
          </a:bodyPr>
          <a:lstStyle/>
          <a:p>
            <a:pPr algn="ctr"/>
            <a:r>
              <a:rPr sz="1070" b="0" i="0">
                <a:solidFill>
                  <a:srgbClr val="273D4E"/>
                </a:solidFill>
                <a:latin typeface="Aptos"/>
              </a:rPr>
              <a:t>Less manual comparison and repeated checking</a:t>
            </a:r>
          </a:p>
        </p:txBody>
      </p:sp>
      <p:sp>
        <p:nvSpPr>
          <p:cNvPr id="21" name="Rounded Rectangle 20"/>
          <p:cNvSpPr/>
          <p:nvPr/>
        </p:nvSpPr>
        <p:spPr>
          <a:xfrm>
            <a:off x="4389120" y="1417320"/>
            <a:ext cx="3456432" cy="1810512"/>
          </a:xfrm>
          <a:prstGeom prst="roundRect">
            <a:avLst>
              <a:gd name="adj" fmla="val 12000"/>
            </a:avLst>
          </a:prstGeom>
          <a:solidFill>
            <a:srgbClr val="FFFFFF"/>
          </a:solidFill>
          <a:ln>
            <a:solidFill>
              <a:srgbClr val="C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4590288" y="1645920"/>
            <a:ext cx="438912" cy="438912"/>
          </a:xfrm>
          <a:prstGeom prst="ellipse">
            <a:avLst/>
          </a:prstGeom>
          <a:solidFill>
            <a:srgbClr val="E1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590288" y="1645920"/>
            <a:ext cx="438912" cy="438912"/>
          </a:xfrm>
          <a:prstGeom prst="rect">
            <a:avLst/>
          </a:prstGeom>
          <a:noFill/>
        </p:spPr>
        <p:txBody>
          <a:bodyPr wrap="square" lIns="41148" tIns="22860" rIns="41148" bIns="22860" anchor="ctr">
            <a:spAutoFit/>
          </a:bodyPr>
          <a:lstStyle/>
          <a:p>
            <a:pPr algn="ctr"/>
            <a:r>
              <a:rPr sz="900" b="1" i="0">
                <a:solidFill>
                  <a:srgbClr val="499D7E"/>
                </a:solidFill>
                <a:latin typeface="Aptos"/>
              </a:rPr>
              <a:t>02</a:t>
            </a:r>
          </a:p>
        </p:txBody>
      </p:sp>
      <p:sp>
        <p:nvSpPr>
          <p:cNvPr id="24" name="TextBox 23"/>
          <p:cNvSpPr txBox="1"/>
          <p:nvPr/>
        </p:nvSpPr>
        <p:spPr>
          <a:xfrm>
            <a:off x="5175504" y="1655064"/>
            <a:ext cx="2240280" cy="274320"/>
          </a:xfrm>
          <a:prstGeom prst="rect">
            <a:avLst/>
          </a:prstGeom>
          <a:noFill/>
        </p:spPr>
        <p:txBody>
          <a:bodyPr wrap="square" lIns="41148" tIns="22860" rIns="41148" bIns="22860" anchor="t">
            <a:spAutoFit/>
          </a:bodyPr>
          <a:lstStyle/>
          <a:p>
            <a:pPr algn="l"/>
            <a:r>
              <a:rPr sz="1200" b="1" i="0">
                <a:solidFill>
                  <a:srgbClr val="10395C"/>
                </a:solidFill>
                <a:latin typeface="Aptos"/>
              </a:rPr>
              <a:t>ACCURACY</a:t>
            </a:r>
          </a:p>
        </p:txBody>
      </p:sp>
      <p:sp>
        <p:nvSpPr>
          <p:cNvPr id="25" name="TextBox 24"/>
          <p:cNvSpPr txBox="1"/>
          <p:nvPr/>
        </p:nvSpPr>
        <p:spPr>
          <a:xfrm>
            <a:off x="4645152" y="2221992"/>
            <a:ext cx="2880360" cy="603504"/>
          </a:xfrm>
          <a:prstGeom prst="rect">
            <a:avLst/>
          </a:prstGeom>
          <a:noFill/>
        </p:spPr>
        <p:txBody>
          <a:bodyPr wrap="square" lIns="41148" tIns="22860" rIns="41148" bIns="22860" anchor="t">
            <a:spAutoFit/>
          </a:bodyPr>
          <a:lstStyle/>
          <a:p>
            <a:pPr algn="ctr"/>
            <a:r>
              <a:rPr sz="1070" b="0" i="0">
                <a:solidFill>
                  <a:srgbClr val="273D4E"/>
                </a:solidFill>
                <a:latin typeface="Aptos"/>
              </a:rPr>
              <a:t>Automatic validation reduces avoidable registration errors</a:t>
            </a:r>
          </a:p>
        </p:txBody>
      </p:sp>
      <p:sp>
        <p:nvSpPr>
          <p:cNvPr id="26" name="Rounded Rectangle 25"/>
          <p:cNvSpPr/>
          <p:nvPr/>
        </p:nvSpPr>
        <p:spPr>
          <a:xfrm>
            <a:off x="8183880" y="1417320"/>
            <a:ext cx="3456432" cy="1810512"/>
          </a:xfrm>
          <a:prstGeom prst="roundRect">
            <a:avLst>
              <a:gd name="adj" fmla="val 12000"/>
            </a:avLst>
          </a:prstGeom>
          <a:solidFill>
            <a:srgbClr val="FFFFFF"/>
          </a:solidFill>
          <a:ln>
            <a:solidFill>
              <a:srgbClr val="C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8385048" y="1645920"/>
            <a:ext cx="438912" cy="438912"/>
          </a:xfrm>
          <a:prstGeom prst="ellipse">
            <a:avLst/>
          </a:prstGeom>
          <a:solidFill>
            <a:srgbClr val="EDE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385048" y="1645920"/>
            <a:ext cx="438912" cy="438912"/>
          </a:xfrm>
          <a:prstGeom prst="rect">
            <a:avLst/>
          </a:prstGeom>
          <a:noFill/>
        </p:spPr>
        <p:txBody>
          <a:bodyPr wrap="square" lIns="41148" tIns="22860" rIns="41148" bIns="22860" anchor="ctr">
            <a:spAutoFit/>
          </a:bodyPr>
          <a:lstStyle/>
          <a:p>
            <a:pPr algn="ctr"/>
            <a:r>
              <a:rPr sz="900" b="1" i="0">
                <a:solidFill>
                  <a:srgbClr val="2A79A3"/>
                </a:solidFill>
                <a:latin typeface="Aptos"/>
              </a:rPr>
              <a:t>03</a:t>
            </a:r>
          </a:p>
        </p:txBody>
      </p:sp>
      <p:sp>
        <p:nvSpPr>
          <p:cNvPr id="29" name="TextBox 28"/>
          <p:cNvSpPr txBox="1"/>
          <p:nvPr/>
        </p:nvSpPr>
        <p:spPr>
          <a:xfrm>
            <a:off x="8970264" y="1655064"/>
            <a:ext cx="2240280" cy="274320"/>
          </a:xfrm>
          <a:prstGeom prst="rect">
            <a:avLst/>
          </a:prstGeom>
          <a:noFill/>
        </p:spPr>
        <p:txBody>
          <a:bodyPr wrap="square" lIns="41148" tIns="22860" rIns="41148" bIns="22860" anchor="t">
            <a:spAutoFit/>
          </a:bodyPr>
          <a:lstStyle/>
          <a:p>
            <a:pPr algn="l"/>
            <a:r>
              <a:rPr sz="1200" b="1" i="0">
                <a:solidFill>
                  <a:srgbClr val="10395C"/>
                </a:solidFill>
                <a:latin typeface="Aptos"/>
              </a:rPr>
              <a:t>VISIBILITY</a:t>
            </a:r>
          </a:p>
        </p:txBody>
      </p:sp>
      <p:sp>
        <p:nvSpPr>
          <p:cNvPr id="30" name="TextBox 29"/>
          <p:cNvSpPr txBox="1"/>
          <p:nvPr/>
        </p:nvSpPr>
        <p:spPr>
          <a:xfrm>
            <a:off x="8439912" y="2221992"/>
            <a:ext cx="2880360" cy="603504"/>
          </a:xfrm>
          <a:prstGeom prst="rect">
            <a:avLst/>
          </a:prstGeom>
          <a:noFill/>
        </p:spPr>
        <p:txBody>
          <a:bodyPr wrap="square" lIns="41148" tIns="22860" rIns="41148" bIns="22860" anchor="t">
            <a:spAutoFit/>
          </a:bodyPr>
          <a:lstStyle/>
          <a:p>
            <a:pPr algn="ctr"/>
            <a:r>
              <a:rPr sz="1070" b="0" i="0">
                <a:solidFill>
                  <a:srgbClr val="273D4E"/>
                </a:solidFill>
                <a:latin typeface="Aptos"/>
              </a:rPr>
              <a:t>Students can see course, seat and timetable information together</a:t>
            </a:r>
          </a:p>
        </p:txBody>
      </p:sp>
      <p:sp>
        <p:nvSpPr>
          <p:cNvPr id="31" name="Rounded Rectangle 30"/>
          <p:cNvSpPr/>
          <p:nvPr/>
        </p:nvSpPr>
        <p:spPr>
          <a:xfrm>
            <a:off x="594360" y="3538728"/>
            <a:ext cx="3456432" cy="1810512"/>
          </a:xfrm>
          <a:prstGeom prst="roundRect">
            <a:avLst>
              <a:gd name="adj" fmla="val 12000"/>
            </a:avLst>
          </a:prstGeom>
          <a:solidFill>
            <a:srgbClr val="FFFFFF"/>
          </a:solidFill>
          <a:ln>
            <a:solidFill>
              <a:srgbClr val="C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795528" y="3767328"/>
            <a:ext cx="438912" cy="438912"/>
          </a:xfrm>
          <a:prstGeom prst="ellipse">
            <a:avLst/>
          </a:prstGeom>
          <a:solidFill>
            <a:srgbClr val="FDED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95528" y="3767328"/>
            <a:ext cx="438912" cy="438912"/>
          </a:xfrm>
          <a:prstGeom prst="rect">
            <a:avLst/>
          </a:prstGeom>
          <a:noFill/>
        </p:spPr>
        <p:txBody>
          <a:bodyPr wrap="square" lIns="41148" tIns="22860" rIns="41148" bIns="22860" anchor="ctr">
            <a:spAutoFit/>
          </a:bodyPr>
          <a:lstStyle/>
          <a:p>
            <a:pPr algn="ctr"/>
            <a:r>
              <a:rPr sz="900" b="1" i="0">
                <a:solidFill>
                  <a:srgbClr val="DA6873"/>
                </a:solidFill>
                <a:latin typeface="Aptos"/>
              </a:rPr>
              <a:t>04</a:t>
            </a:r>
          </a:p>
        </p:txBody>
      </p:sp>
      <p:sp>
        <p:nvSpPr>
          <p:cNvPr id="34" name="TextBox 33"/>
          <p:cNvSpPr txBox="1"/>
          <p:nvPr/>
        </p:nvSpPr>
        <p:spPr>
          <a:xfrm>
            <a:off x="1380744" y="3776472"/>
            <a:ext cx="2240280" cy="274320"/>
          </a:xfrm>
          <a:prstGeom prst="rect">
            <a:avLst/>
          </a:prstGeom>
          <a:noFill/>
        </p:spPr>
        <p:txBody>
          <a:bodyPr wrap="square" lIns="41148" tIns="22860" rIns="41148" bIns="22860" anchor="t">
            <a:spAutoFit/>
          </a:bodyPr>
          <a:lstStyle/>
          <a:p>
            <a:pPr algn="l"/>
            <a:r>
              <a:rPr sz="1200" b="1" i="0">
                <a:solidFill>
                  <a:srgbClr val="10395C"/>
                </a:solidFill>
                <a:latin typeface="Aptos"/>
              </a:rPr>
              <a:t>PLANNING</a:t>
            </a:r>
          </a:p>
        </p:txBody>
      </p:sp>
      <p:sp>
        <p:nvSpPr>
          <p:cNvPr id="35" name="TextBox 34"/>
          <p:cNvSpPr txBox="1"/>
          <p:nvPr/>
        </p:nvSpPr>
        <p:spPr>
          <a:xfrm>
            <a:off x="850392" y="4343400"/>
            <a:ext cx="2880360" cy="603504"/>
          </a:xfrm>
          <a:prstGeom prst="rect">
            <a:avLst/>
          </a:prstGeom>
          <a:noFill/>
        </p:spPr>
        <p:txBody>
          <a:bodyPr wrap="square" lIns="41148" tIns="22860" rIns="41148" bIns="22860" anchor="t">
            <a:spAutoFit/>
          </a:bodyPr>
          <a:lstStyle/>
          <a:p>
            <a:pPr algn="ctr"/>
            <a:r>
              <a:rPr sz="1070" b="0" i="0">
                <a:solidFill>
                  <a:srgbClr val="273D4E"/>
                </a:solidFill>
                <a:latin typeface="Aptos"/>
              </a:rPr>
              <a:t>A visual weekly timetable makes academic planning easier</a:t>
            </a:r>
          </a:p>
        </p:txBody>
      </p:sp>
      <p:sp>
        <p:nvSpPr>
          <p:cNvPr id="36" name="Rounded Rectangle 35"/>
          <p:cNvSpPr/>
          <p:nvPr/>
        </p:nvSpPr>
        <p:spPr>
          <a:xfrm>
            <a:off x="4389120" y="3538728"/>
            <a:ext cx="3456432" cy="1810512"/>
          </a:xfrm>
          <a:prstGeom prst="roundRect">
            <a:avLst>
              <a:gd name="adj" fmla="val 12000"/>
            </a:avLst>
          </a:prstGeom>
          <a:solidFill>
            <a:srgbClr val="FFFFFF"/>
          </a:solidFill>
          <a:ln>
            <a:solidFill>
              <a:srgbClr val="C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4590288" y="3767328"/>
            <a:ext cx="438912" cy="438912"/>
          </a:xfrm>
          <a:prstGeom prst="ellipse">
            <a:avLst/>
          </a:prstGeom>
          <a:solidFill>
            <a:srgbClr val="D7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4590288" y="3767328"/>
            <a:ext cx="438912" cy="438912"/>
          </a:xfrm>
          <a:prstGeom prst="rect">
            <a:avLst/>
          </a:prstGeom>
          <a:noFill/>
        </p:spPr>
        <p:txBody>
          <a:bodyPr wrap="square" lIns="41148" tIns="22860" rIns="41148" bIns="22860" anchor="ctr">
            <a:spAutoFit/>
          </a:bodyPr>
          <a:lstStyle/>
          <a:p>
            <a:pPr algn="ctr"/>
            <a:r>
              <a:rPr sz="900" b="1" i="0">
                <a:solidFill>
                  <a:srgbClr val="2A79A3"/>
                </a:solidFill>
                <a:latin typeface="Aptos"/>
              </a:rPr>
              <a:t>05</a:t>
            </a:r>
          </a:p>
        </p:txBody>
      </p:sp>
      <p:sp>
        <p:nvSpPr>
          <p:cNvPr id="39" name="TextBox 38"/>
          <p:cNvSpPr txBox="1"/>
          <p:nvPr/>
        </p:nvSpPr>
        <p:spPr>
          <a:xfrm>
            <a:off x="5175504" y="3776472"/>
            <a:ext cx="2240280" cy="274320"/>
          </a:xfrm>
          <a:prstGeom prst="rect">
            <a:avLst/>
          </a:prstGeom>
          <a:noFill/>
        </p:spPr>
        <p:txBody>
          <a:bodyPr wrap="square" lIns="41148" tIns="22860" rIns="41148" bIns="22860" anchor="t">
            <a:spAutoFit/>
          </a:bodyPr>
          <a:lstStyle/>
          <a:p>
            <a:pPr algn="l"/>
            <a:r>
              <a:rPr sz="1200" b="1" i="0">
                <a:solidFill>
                  <a:srgbClr val="10395C"/>
                </a:solidFill>
                <a:latin typeface="Aptos"/>
              </a:rPr>
              <a:t>CONTROL</a:t>
            </a:r>
          </a:p>
        </p:txBody>
      </p:sp>
      <p:sp>
        <p:nvSpPr>
          <p:cNvPr id="40" name="TextBox 39"/>
          <p:cNvSpPr txBox="1"/>
          <p:nvPr/>
        </p:nvSpPr>
        <p:spPr>
          <a:xfrm>
            <a:off x="4645152" y="4343400"/>
            <a:ext cx="2880360" cy="603504"/>
          </a:xfrm>
          <a:prstGeom prst="rect">
            <a:avLst/>
          </a:prstGeom>
          <a:noFill/>
        </p:spPr>
        <p:txBody>
          <a:bodyPr wrap="square" lIns="41148" tIns="22860" rIns="41148" bIns="22860" anchor="t">
            <a:spAutoFit/>
          </a:bodyPr>
          <a:lstStyle/>
          <a:p>
            <a:pPr algn="ctr"/>
            <a:r>
              <a:rPr sz="1070" b="0" i="0">
                <a:solidFill>
                  <a:srgbClr val="273D4E"/>
                </a:solidFill>
                <a:latin typeface="Aptos"/>
              </a:rPr>
              <a:t>Administrators get centralized course, schedule and registration management</a:t>
            </a:r>
          </a:p>
        </p:txBody>
      </p:sp>
      <p:sp>
        <p:nvSpPr>
          <p:cNvPr id="41" name="Rounded Rectangle 40"/>
          <p:cNvSpPr/>
          <p:nvPr/>
        </p:nvSpPr>
        <p:spPr>
          <a:xfrm>
            <a:off x="8183880" y="3538728"/>
            <a:ext cx="3456432" cy="1810512"/>
          </a:xfrm>
          <a:prstGeom prst="roundRect">
            <a:avLst>
              <a:gd name="adj" fmla="val 12000"/>
            </a:avLst>
          </a:prstGeom>
          <a:solidFill>
            <a:srgbClr val="FFFFFF"/>
          </a:solidFill>
          <a:ln>
            <a:solidFill>
              <a:srgbClr val="C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8385048" y="3767328"/>
            <a:ext cx="438912" cy="438912"/>
          </a:xfrm>
          <a:prstGeom prst="ellipse">
            <a:avLst/>
          </a:prstGeom>
          <a:solidFill>
            <a:srgbClr val="E1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8385048" y="3767328"/>
            <a:ext cx="438912" cy="438912"/>
          </a:xfrm>
          <a:prstGeom prst="rect">
            <a:avLst/>
          </a:prstGeom>
          <a:noFill/>
        </p:spPr>
        <p:txBody>
          <a:bodyPr wrap="square" lIns="41148" tIns="22860" rIns="41148" bIns="22860" anchor="ctr">
            <a:spAutoFit/>
          </a:bodyPr>
          <a:lstStyle/>
          <a:p>
            <a:pPr algn="ctr"/>
            <a:r>
              <a:rPr sz="900" b="1" i="0">
                <a:solidFill>
                  <a:srgbClr val="499D7E"/>
                </a:solidFill>
                <a:latin typeface="Aptos"/>
              </a:rPr>
              <a:t>06</a:t>
            </a:r>
          </a:p>
        </p:txBody>
      </p:sp>
      <p:sp>
        <p:nvSpPr>
          <p:cNvPr id="44" name="TextBox 43"/>
          <p:cNvSpPr txBox="1"/>
          <p:nvPr/>
        </p:nvSpPr>
        <p:spPr>
          <a:xfrm>
            <a:off x="8970264" y="3776472"/>
            <a:ext cx="2240280" cy="274320"/>
          </a:xfrm>
          <a:prstGeom prst="rect">
            <a:avLst/>
          </a:prstGeom>
          <a:noFill/>
        </p:spPr>
        <p:txBody>
          <a:bodyPr wrap="square" lIns="41148" tIns="22860" rIns="41148" bIns="22860" anchor="t">
            <a:spAutoFit/>
          </a:bodyPr>
          <a:lstStyle/>
          <a:p>
            <a:pPr algn="l"/>
            <a:r>
              <a:rPr sz="1200" b="1" i="0">
                <a:solidFill>
                  <a:srgbClr val="10395C"/>
                </a:solidFill>
                <a:latin typeface="Aptos"/>
              </a:rPr>
              <a:t>SCALABILITY</a:t>
            </a:r>
          </a:p>
        </p:txBody>
      </p:sp>
      <p:sp>
        <p:nvSpPr>
          <p:cNvPr id="45" name="TextBox 44"/>
          <p:cNvSpPr txBox="1"/>
          <p:nvPr/>
        </p:nvSpPr>
        <p:spPr>
          <a:xfrm>
            <a:off x="8439912" y="4343400"/>
            <a:ext cx="2880360" cy="603504"/>
          </a:xfrm>
          <a:prstGeom prst="rect">
            <a:avLst/>
          </a:prstGeom>
          <a:noFill/>
        </p:spPr>
        <p:txBody>
          <a:bodyPr wrap="square" lIns="41148" tIns="22860" rIns="41148" bIns="22860" anchor="t">
            <a:spAutoFit/>
          </a:bodyPr>
          <a:lstStyle/>
          <a:p>
            <a:pPr algn="ctr"/>
            <a:r>
              <a:rPr sz="1070" b="0" i="0">
                <a:solidFill>
                  <a:srgbClr val="273D4E"/>
                </a:solidFill>
                <a:latin typeface="Aptos"/>
              </a:rPr>
              <a:t>The same workflow can grow with more courses and users</a:t>
            </a:r>
          </a:p>
        </p:txBody>
      </p:sp>
      <p:sp>
        <p:nvSpPr>
          <p:cNvPr id="46" name="TextBox 45"/>
          <p:cNvSpPr txBox="1"/>
          <p:nvPr/>
        </p:nvSpPr>
        <p:spPr>
          <a:xfrm>
            <a:off x="530352" y="6547104"/>
            <a:ext cx="4572000" cy="146304"/>
          </a:xfrm>
          <a:prstGeom prst="rect">
            <a:avLst/>
          </a:prstGeom>
          <a:noFill/>
        </p:spPr>
        <p:txBody>
          <a:bodyPr wrap="square" lIns="41148" tIns="22860" rIns="41148" bIns="22860" anchor="t">
            <a:spAutoFit/>
          </a:bodyPr>
          <a:lstStyle/>
          <a:p>
            <a:pPr algn="l"/>
            <a:r>
              <a:rPr sz="720" b="1" i="0">
                <a:solidFill>
                  <a:srgbClr val="5D7684"/>
                </a:solidFill>
                <a:latin typeface="Aptos"/>
              </a:rPr>
              <a:t>COURSE REGISTRATION &amp; TIMETABLE BUILDER</a:t>
            </a:r>
          </a:p>
        </p:txBody>
      </p:sp>
      <p:sp>
        <p:nvSpPr>
          <p:cNvPr id="47" name="TextBox 46"/>
          <p:cNvSpPr txBox="1"/>
          <p:nvPr/>
        </p:nvSpPr>
        <p:spPr>
          <a:xfrm>
            <a:off x="11201400" y="6510528"/>
            <a:ext cx="384048" cy="182880"/>
          </a:xfrm>
          <a:prstGeom prst="rect">
            <a:avLst/>
          </a:prstGeom>
          <a:noFill/>
        </p:spPr>
        <p:txBody>
          <a:bodyPr wrap="square" lIns="41148" tIns="22860" rIns="41148" bIns="22860" anchor="t">
            <a:spAutoFit/>
          </a:bodyPr>
          <a:lstStyle/>
          <a:p>
            <a:pPr algn="r"/>
            <a:r>
              <a:rPr sz="750" b="1" i="0">
                <a:solidFill>
                  <a:srgbClr val="5D7684"/>
                </a:solidFill>
                <a:latin typeface="Aptos"/>
              </a:rPr>
              <a:t>04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1FAFD"/>
        </a:solidFill>
        <a:effectLst/>
      </p:bgPr>
    </p:bg>
    <p:spTree>
      <p:nvGrpSpPr>
        <p:cNvPr id="1" name=""/>
        <p:cNvGrpSpPr/>
        <p:nvPr/>
      </p:nvGrpSpPr>
      <p:grpSpPr>
        <a:xfrm>
          <a:off x="0" y="0"/>
          <a:ext cx="0" cy="0"/>
          <a:chOff x="0" y="0"/>
          <a:chExt cx="0" cy="0"/>
        </a:xfrm>
      </p:grpSpPr>
      <p:sp>
        <p:nvSpPr>
          <p:cNvPr id="2" name="Oval 1"/>
          <p:cNvSpPr/>
          <p:nvPr/>
        </p:nvSpPr>
        <p:spPr>
          <a:xfrm>
            <a:off x="10652760" y="-411480"/>
            <a:ext cx="1920240" cy="1920240"/>
          </a:xfrm>
          <a:prstGeom prst="ellipse">
            <a:avLst/>
          </a:prstGeom>
          <a:solidFill>
            <a:srgbClr val="D7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9875520" y="5623560"/>
            <a:ext cx="2011680" cy="2011680"/>
          </a:xfrm>
          <a:prstGeom prst="ellipse">
            <a:avLst/>
          </a:prstGeom>
          <a:solidFill>
            <a:srgbClr val="E1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411480" y="5715000"/>
            <a:ext cx="1554480" cy="1554480"/>
          </a:xfrm>
          <a:prstGeom prst="ellipse">
            <a:avLst/>
          </a:prstGeom>
          <a:solidFill>
            <a:srgbClr val="EDE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rot="20100000">
            <a:off x="45720" y="91440"/>
            <a:ext cx="228600" cy="96012"/>
          </a:xfrm>
          <a:prstGeom prst="ellipse">
            <a:avLst/>
          </a:prstGeom>
          <a:solidFill>
            <a:srgbClr val="5BB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rot="1500000">
            <a:off x="246888" y="256032"/>
            <a:ext cx="256032" cy="107533"/>
          </a:xfrm>
          <a:prstGeom prst="ellipse">
            <a:avLst/>
          </a:prstGeom>
          <a:solidFill>
            <a:srgbClr val="2A79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rot="19500000">
            <a:off x="-100584" y="411479"/>
            <a:ext cx="219456" cy="92171"/>
          </a:xfrm>
          <a:prstGeom prst="ellipse">
            <a:avLst/>
          </a:prstGeom>
          <a:solidFill>
            <a:srgbClr val="5BB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rot="1500000">
            <a:off x="155448" y="566928"/>
            <a:ext cx="201168" cy="84490"/>
          </a:xfrm>
          <a:prstGeom prst="ellipse">
            <a:avLst/>
          </a:prstGeom>
          <a:solidFill>
            <a:srgbClr val="2A79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rot="19500000">
            <a:off x="-210312" y="685800"/>
            <a:ext cx="201168" cy="84490"/>
          </a:xfrm>
          <a:prstGeom prst="ellipse">
            <a:avLst/>
          </a:prstGeom>
          <a:solidFill>
            <a:srgbClr val="5BB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0" name="Connector 9"/>
          <p:cNvCxnSpPr/>
          <p:nvPr/>
        </p:nvCxnSpPr>
        <p:spPr>
          <a:xfrm flipH="1">
            <a:off x="64008" y="109728"/>
            <a:ext cx="73152" cy="758952"/>
          </a:xfrm>
          <a:prstGeom prst="line">
            <a:avLst/>
          </a:prstGeom>
          <a:ln w="13970">
            <a:solidFill>
              <a:srgbClr val="2A79A3"/>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502920" y="329184"/>
            <a:ext cx="502920" cy="329184"/>
          </a:xfrm>
          <a:prstGeom prst="roundRect">
            <a:avLst>
              <a:gd name="adj" fmla="val 12000"/>
            </a:avLst>
          </a:prstGeom>
          <a:solidFill>
            <a:srgbClr val="D7F0F8"/>
          </a:solidFill>
          <a:ln>
            <a:solidFill>
              <a:srgbClr val="D7F0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21208" y="347472"/>
            <a:ext cx="466344" cy="274320"/>
          </a:xfrm>
          <a:prstGeom prst="rect">
            <a:avLst/>
          </a:prstGeom>
          <a:noFill/>
        </p:spPr>
        <p:txBody>
          <a:bodyPr wrap="square" lIns="41148" tIns="22860" rIns="41148" bIns="22860" anchor="ctr">
            <a:spAutoFit/>
          </a:bodyPr>
          <a:lstStyle/>
          <a:p>
            <a:pPr algn="ctr"/>
            <a:r>
              <a:rPr sz="1000" b="1" i="0">
                <a:solidFill>
                  <a:srgbClr val="10395C"/>
                </a:solidFill>
                <a:latin typeface="Aptos"/>
              </a:rPr>
              <a:t>4</a:t>
            </a:r>
          </a:p>
        </p:txBody>
      </p:sp>
      <p:sp>
        <p:nvSpPr>
          <p:cNvPr id="13" name="TextBox 12"/>
          <p:cNvSpPr txBox="1"/>
          <p:nvPr/>
        </p:nvSpPr>
        <p:spPr>
          <a:xfrm>
            <a:off x="1115568" y="274320"/>
            <a:ext cx="9875520" cy="438912"/>
          </a:xfrm>
          <a:prstGeom prst="rect">
            <a:avLst/>
          </a:prstGeom>
          <a:noFill/>
        </p:spPr>
        <p:txBody>
          <a:bodyPr wrap="square" lIns="41148" tIns="22860" rIns="41148" bIns="22860" anchor="t">
            <a:spAutoFit/>
          </a:bodyPr>
          <a:lstStyle/>
          <a:p>
            <a:pPr algn="l"/>
            <a:r>
              <a:rPr sz="2300" b="1" i="0">
                <a:solidFill>
                  <a:srgbClr val="10395C"/>
                </a:solidFill>
                <a:latin typeface="Aptos"/>
              </a:rPr>
              <a:t>Objectives</a:t>
            </a:r>
          </a:p>
        </p:txBody>
      </p:sp>
      <p:sp>
        <p:nvSpPr>
          <p:cNvPr id="14" name="TextBox 13"/>
          <p:cNvSpPr txBox="1"/>
          <p:nvPr/>
        </p:nvSpPr>
        <p:spPr>
          <a:xfrm>
            <a:off x="1133856" y="758952"/>
            <a:ext cx="9418320" cy="274320"/>
          </a:xfrm>
          <a:prstGeom prst="rect">
            <a:avLst/>
          </a:prstGeom>
          <a:noFill/>
        </p:spPr>
        <p:txBody>
          <a:bodyPr wrap="square" lIns="41148" tIns="22860" rIns="41148" bIns="22860" anchor="t">
            <a:spAutoFit/>
          </a:bodyPr>
          <a:lstStyle/>
          <a:p>
            <a:pPr algn="l"/>
            <a:r>
              <a:rPr sz="1080" b="0" i="0">
                <a:solidFill>
                  <a:srgbClr val="5D7684"/>
                </a:solidFill>
                <a:latin typeface="Aptos"/>
              </a:rPr>
              <a:t>What the system is expected to achieve</a:t>
            </a:r>
          </a:p>
        </p:txBody>
      </p:sp>
      <p:sp>
        <p:nvSpPr>
          <p:cNvPr id="15" name="Rectangle 14"/>
          <p:cNvSpPr/>
          <p:nvPr/>
        </p:nvSpPr>
        <p:spPr>
          <a:xfrm>
            <a:off x="1133856" y="1060704"/>
            <a:ext cx="1051560" cy="32004"/>
          </a:xfrm>
          <a:prstGeom prst="rect">
            <a:avLst/>
          </a:prstGeom>
          <a:solidFill>
            <a:srgbClr val="5BB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594360" y="1353312"/>
            <a:ext cx="5166360" cy="832104"/>
          </a:xfrm>
          <a:prstGeom prst="roundRect">
            <a:avLst>
              <a:gd name="adj" fmla="val 12000"/>
            </a:avLst>
          </a:prstGeom>
          <a:solidFill>
            <a:srgbClr val="FFFFFF"/>
          </a:solidFill>
          <a:ln>
            <a:solidFill>
              <a:srgbClr val="C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758952" y="1527048"/>
            <a:ext cx="457200" cy="457200"/>
          </a:xfrm>
          <a:prstGeom prst="ellipse">
            <a:avLst/>
          </a:prstGeom>
          <a:solidFill>
            <a:srgbClr val="D7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58952" y="1527048"/>
            <a:ext cx="457200" cy="457200"/>
          </a:xfrm>
          <a:prstGeom prst="rect">
            <a:avLst/>
          </a:prstGeom>
          <a:noFill/>
        </p:spPr>
        <p:txBody>
          <a:bodyPr wrap="square" lIns="41148" tIns="22860" rIns="41148" bIns="22860" anchor="ctr">
            <a:spAutoFit/>
          </a:bodyPr>
          <a:lstStyle/>
          <a:p>
            <a:pPr algn="ctr"/>
            <a:r>
              <a:rPr sz="1000" b="1" i="0">
                <a:solidFill>
                  <a:srgbClr val="2A79A3"/>
                </a:solidFill>
                <a:latin typeface="Aptos"/>
              </a:rPr>
              <a:t>1</a:t>
            </a:r>
          </a:p>
        </p:txBody>
      </p:sp>
      <p:sp>
        <p:nvSpPr>
          <p:cNvPr id="19" name="TextBox 18"/>
          <p:cNvSpPr txBox="1"/>
          <p:nvPr/>
        </p:nvSpPr>
        <p:spPr>
          <a:xfrm>
            <a:off x="1371600" y="1472184"/>
            <a:ext cx="4069080" cy="548640"/>
          </a:xfrm>
          <a:prstGeom prst="rect">
            <a:avLst/>
          </a:prstGeom>
          <a:noFill/>
        </p:spPr>
        <p:txBody>
          <a:bodyPr wrap="square" lIns="41148" tIns="22860" rIns="41148" bIns="22860" anchor="t">
            <a:spAutoFit/>
          </a:bodyPr>
          <a:lstStyle/>
          <a:p>
            <a:pPr algn="l"/>
            <a:r>
              <a:rPr sz="1130" b="0" i="0">
                <a:solidFill>
                  <a:srgbClr val="273D4E"/>
                </a:solidFill>
                <a:latin typeface="Aptos"/>
              </a:rPr>
              <a:t>Provide secure student, faculty and administrator login.</a:t>
            </a:r>
          </a:p>
        </p:txBody>
      </p:sp>
      <p:sp>
        <p:nvSpPr>
          <p:cNvPr id="20" name="Rounded Rectangle 19"/>
          <p:cNvSpPr/>
          <p:nvPr/>
        </p:nvSpPr>
        <p:spPr>
          <a:xfrm>
            <a:off x="6263640" y="1353312"/>
            <a:ext cx="5166360" cy="832104"/>
          </a:xfrm>
          <a:prstGeom prst="roundRect">
            <a:avLst>
              <a:gd name="adj" fmla="val 12000"/>
            </a:avLst>
          </a:prstGeom>
          <a:solidFill>
            <a:srgbClr val="FFFFFF"/>
          </a:solidFill>
          <a:ln>
            <a:solidFill>
              <a:srgbClr val="C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6428232" y="1527048"/>
            <a:ext cx="457200" cy="457200"/>
          </a:xfrm>
          <a:prstGeom prst="ellipse">
            <a:avLst/>
          </a:prstGeom>
          <a:solidFill>
            <a:srgbClr val="E1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28232" y="1527048"/>
            <a:ext cx="457200" cy="457200"/>
          </a:xfrm>
          <a:prstGeom prst="rect">
            <a:avLst/>
          </a:prstGeom>
          <a:noFill/>
        </p:spPr>
        <p:txBody>
          <a:bodyPr wrap="square" lIns="41148" tIns="22860" rIns="41148" bIns="22860" anchor="ctr">
            <a:spAutoFit/>
          </a:bodyPr>
          <a:lstStyle/>
          <a:p>
            <a:pPr algn="ctr"/>
            <a:r>
              <a:rPr sz="1000" b="1" i="0">
                <a:solidFill>
                  <a:srgbClr val="499D7E"/>
                </a:solidFill>
                <a:latin typeface="Aptos"/>
              </a:rPr>
              <a:t>2</a:t>
            </a:r>
          </a:p>
        </p:txBody>
      </p:sp>
      <p:sp>
        <p:nvSpPr>
          <p:cNvPr id="23" name="TextBox 22"/>
          <p:cNvSpPr txBox="1"/>
          <p:nvPr/>
        </p:nvSpPr>
        <p:spPr>
          <a:xfrm>
            <a:off x="7040880" y="1472184"/>
            <a:ext cx="4069080" cy="548640"/>
          </a:xfrm>
          <a:prstGeom prst="rect">
            <a:avLst/>
          </a:prstGeom>
          <a:noFill/>
        </p:spPr>
        <p:txBody>
          <a:bodyPr wrap="square" lIns="41148" tIns="22860" rIns="41148" bIns="22860" anchor="t">
            <a:spAutoFit/>
          </a:bodyPr>
          <a:lstStyle/>
          <a:p>
            <a:pPr algn="l"/>
            <a:r>
              <a:rPr sz="1130" b="0" i="0">
                <a:solidFill>
                  <a:srgbClr val="273D4E"/>
                </a:solidFill>
                <a:latin typeface="Aptos"/>
              </a:rPr>
              <a:t>Create a searchable course catalog with complete details.</a:t>
            </a:r>
          </a:p>
        </p:txBody>
      </p:sp>
      <p:sp>
        <p:nvSpPr>
          <p:cNvPr id="24" name="Rounded Rectangle 23"/>
          <p:cNvSpPr/>
          <p:nvPr/>
        </p:nvSpPr>
        <p:spPr>
          <a:xfrm>
            <a:off x="594360" y="2423160"/>
            <a:ext cx="5166360" cy="832104"/>
          </a:xfrm>
          <a:prstGeom prst="roundRect">
            <a:avLst>
              <a:gd name="adj" fmla="val 12000"/>
            </a:avLst>
          </a:prstGeom>
          <a:solidFill>
            <a:srgbClr val="FFFFFF"/>
          </a:solidFill>
          <a:ln>
            <a:solidFill>
              <a:srgbClr val="C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758952" y="2596896"/>
            <a:ext cx="457200" cy="457200"/>
          </a:xfrm>
          <a:prstGeom prst="ellipse">
            <a:avLst/>
          </a:prstGeom>
          <a:solidFill>
            <a:srgbClr val="D7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58952" y="2596896"/>
            <a:ext cx="457200" cy="457200"/>
          </a:xfrm>
          <a:prstGeom prst="rect">
            <a:avLst/>
          </a:prstGeom>
          <a:noFill/>
        </p:spPr>
        <p:txBody>
          <a:bodyPr wrap="square" lIns="41148" tIns="22860" rIns="41148" bIns="22860" anchor="ctr">
            <a:spAutoFit/>
          </a:bodyPr>
          <a:lstStyle/>
          <a:p>
            <a:pPr algn="ctr"/>
            <a:r>
              <a:rPr sz="1000" b="1" i="0">
                <a:solidFill>
                  <a:srgbClr val="2A79A3"/>
                </a:solidFill>
                <a:latin typeface="Aptos"/>
              </a:rPr>
              <a:t>3</a:t>
            </a:r>
          </a:p>
        </p:txBody>
      </p:sp>
      <p:sp>
        <p:nvSpPr>
          <p:cNvPr id="27" name="TextBox 26"/>
          <p:cNvSpPr txBox="1"/>
          <p:nvPr/>
        </p:nvSpPr>
        <p:spPr>
          <a:xfrm>
            <a:off x="1371600" y="2542032"/>
            <a:ext cx="4069080" cy="548640"/>
          </a:xfrm>
          <a:prstGeom prst="rect">
            <a:avLst/>
          </a:prstGeom>
          <a:noFill/>
        </p:spPr>
        <p:txBody>
          <a:bodyPr wrap="square" lIns="41148" tIns="22860" rIns="41148" bIns="22860" anchor="t">
            <a:spAutoFit/>
          </a:bodyPr>
          <a:lstStyle/>
          <a:p>
            <a:pPr algn="l"/>
            <a:r>
              <a:rPr sz="1130" b="0" i="0">
                <a:solidFill>
                  <a:srgbClr val="273D4E"/>
                </a:solidFill>
                <a:latin typeface="Aptos"/>
              </a:rPr>
              <a:t>Allow students to select, remove, register and drop courses.</a:t>
            </a:r>
          </a:p>
        </p:txBody>
      </p:sp>
      <p:sp>
        <p:nvSpPr>
          <p:cNvPr id="28" name="Rounded Rectangle 27"/>
          <p:cNvSpPr/>
          <p:nvPr/>
        </p:nvSpPr>
        <p:spPr>
          <a:xfrm>
            <a:off x="6263640" y="2423160"/>
            <a:ext cx="5166360" cy="832104"/>
          </a:xfrm>
          <a:prstGeom prst="roundRect">
            <a:avLst>
              <a:gd name="adj" fmla="val 12000"/>
            </a:avLst>
          </a:prstGeom>
          <a:solidFill>
            <a:srgbClr val="FFFFFF"/>
          </a:solidFill>
          <a:ln>
            <a:solidFill>
              <a:srgbClr val="C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6428232" y="2596896"/>
            <a:ext cx="457200" cy="457200"/>
          </a:xfrm>
          <a:prstGeom prst="ellipse">
            <a:avLst/>
          </a:prstGeom>
          <a:solidFill>
            <a:srgbClr val="E1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428232" y="2596896"/>
            <a:ext cx="457200" cy="457200"/>
          </a:xfrm>
          <a:prstGeom prst="rect">
            <a:avLst/>
          </a:prstGeom>
          <a:noFill/>
        </p:spPr>
        <p:txBody>
          <a:bodyPr wrap="square" lIns="41148" tIns="22860" rIns="41148" bIns="22860" anchor="ctr">
            <a:spAutoFit/>
          </a:bodyPr>
          <a:lstStyle/>
          <a:p>
            <a:pPr algn="ctr"/>
            <a:r>
              <a:rPr sz="1000" b="1" i="0">
                <a:solidFill>
                  <a:srgbClr val="499D7E"/>
                </a:solidFill>
                <a:latin typeface="Aptos"/>
              </a:rPr>
              <a:t>4</a:t>
            </a:r>
          </a:p>
        </p:txBody>
      </p:sp>
      <p:sp>
        <p:nvSpPr>
          <p:cNvPr id="31" name="TextBox 30"/>
          <p:cNvSpPr txBox="1"/>
          <p:nvPr/>
        </p:nvSpPr>
        <p:spPr>
          <a:xfrm>
            <a:off x="7040880" y="2542032"/>
            <a:ext cx="4069080" cy="548640"/>
          </a:xfrm>
          <a:prstGeom prst="rect">
            <a:avLst/>
          </a:prstGeom>
          <a:noFill/>
        </p:spPr>
        <p:txBody>
          <a:bodyPr wrap="square" lIns="41148" tIns="22860" rIns="41148" bIns="22860" anchor="t">
            <a:spAutoFit/>
          </a:bodyPr>
          <a:lstStyle/>
          <a:p>
            <a:pPr algn="l"/>
            <a:r>
              <a:rPr sz="1130" b="0" i="0">
                <a:solidFill>
                  <a:srgbClr val="273D4E"/>
                </a:solidFill>
                <a:latin typeface="Aptos"/>
              </a:rPr>
              <a:t>Automatically calculate total registered credits.</a:t>
            </a:r>
          </a:p>
        </p:txBody>
      </p:sp>
      <p:sp>
        <p:nvSpPr>
          <p:cNvPr id="32" name="Rounded Rectangle 31"/>
          <p:cNvSpPr/>
          <p:nvPr/>
        </p:nvSpPr>
        <p:spPr>
          <a:xfrm>
            <a:off x="594360" y="3493008"/>
            <a:ext cx="5166360" cy="832104"/>
          </a:xfrm>
          <a:prstGeom prst="roundRect">
            <a:avLst>
              <a:gd name="adj" fmla="val 12000"/>
            </a:avLst>
          </a:prstGeom>
          <a:solidFill>
            <a:srgbClr val="FFFFFF"/>
          </a:solidFill>
          <a:ln>
            <a:solidFill>
              <a:srgbClr val="C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758952" y="3666744"/>
            <a:ext cx="457200" cy="457200"/>
          </a:xfrm>
          <a:prstGeom prst="ellipse">
            <a:avLst/>
          </a:prstGeom>
          <a:solidFill>
            <a:srgbClr val="D7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758952" y="3666744"/>
            <a:ext cx="457200" cy="457200"/>
          </a:xfrm>
          <a:prstGeom prst="rect">
            <a:avLst/>
          </a:prstGeom>
          <a:noFill/>
        </p:spPr>
        <p:txBody>
          <a:bodyPr wrap="square" lIns="41148" tIns="22860" rIns="41148" bIns="22860" anchor="ctr">
            <a:spAutoFit/>
          </a:bodyPr>
          <a:lstStyle/>
          <a:p>
            <a:pPr algn="ctr"/>
            <a:r>
              <a:rPr sz="1000" b="1" i="0">
                <a:solidFill>
                  <a:srgbClr val="2A79A3"/>
                </a:solidFill>
                <a:latin typeface="Aptos"/>
              </a:rPr>
              <a:t>5</a:t>
            </a:r>
          </a:p>
        </p:txBody>
      </p:sp>
      <p:sp>
        <p:nvSpPr>
          <p:cNvPr id="35" name="TextBox 34"/>
          <p:cNvSpPr txBox="1"/>
          <p:nvPr/>
        </p:nvSpPr>
        <p:spPr>
          <a:xfrm>
            <a:off x="1371600" y="3611879"/>
            <a:ext cx="4069080" cy="548640"/>
          </a:xfrm>
          <a:prstGeom prst="rect">
            <a:avLst/>
          </a:prstGeom>
          <a:noFill/>
        </p:spPr>
        <p:txBody>
          <a:bodyPr wrap="square" lIns="41148" tIns="22860" rIns="41148" bIns="22860" anchor="t">
            <a:spAutoFit/>
          </a:bodyPr>
          <a:lstStyle/>
          <a:p>
            <a:pPr algn="l"/>
            <a:r>
              <a:rPr sz="1130" b="0" i="0">
                <a:solidFill>
                  <a:srgbClr val="273D4E"/>
                </a:solidFill>
                <a:latin typeface="Aptos"/>
              </a:rPr>
              <a:t>Detect timetable conflicts before registration is finalized.</a:t>
            </a:r>
          </a:p>
        </p:txBody>
      </p:sp>
      <p:sp>
        <p:nvSpPr>
          <p:cNvPr id="36" name="Rounded Rectangle 35"/>
          <p:cNvSpPr/>
          <p:nvPr/>
        </p:nvSpPr>
        <p:spPr>
          <a:xfrm>
            <a:off x="6263640" y="3493008"/>
            <a:ext cx="5166360" cy="832104"/>
          </a:xfrm>
          <a:prstGeom prst="roundRect">
            <a:avLst>
              <a:gd name="adj" fmla="val 12000"/>
            </a:avLst>
          </a:prstGeom>
          <a:solidFill>
            <a:srgbClr val="FFFFFF"/>
          </a:solidFill>
          <a:ln>
            <a:solidFill>
              <a:srgbClr val="C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6428232" y="3666744"/>
            <a:ext cx="457200" cy="457200"/>
          </a:xfrm>
          <a:prstGeom prst="ellipse">
            <a:avLst/>
          </a:prstGeom>
          <a:solidFill>
            <a:srgbClr val="E1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428232" y="3666744"/>
            <a:ext cx="457200" cy="457200"/>
          </a:xfrm>
          <a:prstGeom prst="rect">
            <a:avLst/>
          </a:prstGeom>
          <a:noFill/>
        </p:spPr>
        <p:txBody>
          <a:bodyPr wrap="square" lIns="41148" tIns="22860" rIns="41148" bIns="22860" anchor="ctr">
            <a:spAutoFit/>
          </a:bodyPr>
          <a:lstStyle/>
          <a:p>
            <a:pPr algn="ctr"/>
            <a:r>
              <a:rPr sz="1000" b="1" i="0">
                <a:solidFill>
                  <a:srgbClr val="499D7E"/>
                </a:solidFill>
                <a:latin typeface="Aptos"/>
              </a:rPr>
              <a:t>6</a:t>
            </a:r>
          </a:p>
        </p:txBody>
      </p:sp>
      <p:sp>
        <p:nvSpPr>
          <p:cNvPr id="39" name="TextBox 38"/>
          <p:cNvSpPr txBox="1"/>
          <p:nvPr/>
        </p:nvSpPr>
        <p:spPr>
          <a:xfrm>
            <a:off x="7040880" y="3611879"/>
            <a:ext cx="4069080" cy="548640"/>
          </a:xfrm>
          <a:prstGeom prst="rect">
            <a:avLst/>
          </a:prstGeom>
          <a:noFill/>
        </p:spPr>
        <p:txBody>
          <a:bodyPr wrap="square" lIns="41148" tIns="22860" rIns="41148" bIns="22860" anchor="t">
            <a:spAutoFit/>
          </a:bodyPr>
          <a:lstStyle/>
          <a:p>
            <a:pPr algn="l"/>
            <a:r>
              <a:rPr sz="1130" b="0" i="0">
                <a:solidFill>
                  <a:srgbClr val="273D4E"/>
                </a:solidFill>
                <a:latin typeface="Aptos"/>
              </a:rPr>
              <a:t>Generate a clear weekly timetable from selected courses.</a:t>
            </a:r>
          </a:p>
        </p:txBody>
      </p:sp>
      <p:sp>
        <p:nvSpPr>
          <p:cNvPr id="40" name="Rounded Rectangle 39"/>
          <p:cNvSpPr/>
          <p:nvPr/>
        </p:nvSpPr>
        <p:spPr>
          <a:xfrm>
            <a:off x="594360" y="4562856"/>
            <a:ext cx="5166360" cy="832104"/>
          </a:xfrm>
          <a:prstGeom prst="roundRect">
            <a:avLst>
              <a:gd name="adj" fmla="val 12000"/>
            </a:avLst>
          </a:prstGeom>
          <a:solidFill>
            <a:srgbClr val="FFFFFF"/>
          </a:solidFill>
          <a:ln>
            <a:solidFill>
              <a:srgbClr val="C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758952" y="4736592"/>
            <a:ext cx="457200" cy="457200"/>
          </a:xfrm>
          <a:prstGeom prst="ellipse">
            <a:avLst/>
          </a:prstGeom>
          <a:solidFill>
            <a:srgbClr val="D7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758952" y="4736592"/>
            <a:ext cx="457200" cy="457200"/>
          </a:xfrm>
          <a:prstGeom prst="rect">
            <a:avLst/>
          </a:prstGeom>
          <a:noFill/>
        </p:spPr>
        <p:txBody>
          <a:bodyPr wrap="square" lIns="41148" tIns="22860" rIns="41148" bIns="22860" anchor="ctr">
            <a:spAutoFit/>
          </a:bodyPr>
          <a:lstStyle/>
          <a:p>
            <a:pPr algn="ctr"/>
            <a:r>
              <a:rPr sz="1000" b="1" i="0">
                <a:solidFill>
                  <a:srgbClr val="2A79A3"/>
                </a:solidFill>
                <a:latin typeface="Aptos"/>
              </a:rPr>
              <a:t>7</a:t>
            </a:r>
          </a:p>
        </p:txBody>
      </p:sp>
      <p:sp>
        <p:nvSpPr>
          <p:cNvPr id="43" name="TextBox 42"/>
          <p:cNvSpPr txBox="1"/>
          <p:nvPr/>
        </p:nvSpPr>
        <p:spPr>
          <a:xfrm>
            <a:off x="1371600" y="4681728"/>
            <a:ext cx="4069080" cy="548640"/>
          </a:xfrm>
          <a:prstGeom prst="rect">
            <a:avLst/>
          </a:prstGeom>
          <a:noFill/>
        </p:spPr>
        <p:txBody>
          <a:bodyPr wrap="square" lIns="41148" tIns="22860" rIns="41148" bIns="22860" anchor="t">
            <a:spAutoFit/>
          </a:bodyPr>
          <a:lstStyle/>
          <a:p>
            <a:pPr algn="l"/>
            <a:r>
              <a:rPr sz="1130" b="0" i="0">
                <a:solidFill>
                  <a:srgbClr val="273D4E"/>
                </a:solidFill>
                <a:latin typeface="Aptos"/>
              </a:rPr>
              <a:t>Allow administrators to manage students, faculty, rooms, courses and schedules.</a:t>
            </a:r>
          </a:p>
        </p:txBody>
      </p:sp>
      <p:sp>
        <p:nvSpPr>
          <p:cNvPr id="44" name="Rounded Rectangle 43"/>
          <p:cNvSpPr/>
          <p:nvPr/>
        </p:nvSpPr>
        <p:spPr>
          <a:xfrm>
            <a:off x="6263640" y="4562856"/>
            <a:ext cx="5166360" cy="832104"/>
          </a:xfrm>
          <a:prstGeom prst="roundRect">
            <a:avLst>
              <a:gd name="adj" fmla="val 12000"/>
            </a:avLst>
          </a:prstGeom>
          <a:solidFill>
            <a:srgbClr val="FFFFFF"/>
          </a:solidFill>
          <a:ln>
            <a:solidFill>
              <a:srgbClr val="C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p:cNvSpPr/>
          <p:nvPr/>
        </p:nvSpPr>
        <p:spPr>
          <a:xfrm>
            <a:off x="6428232" y="4736592"/>
            <a:ext cx="457200" cy="457200"/>
          </a:xfrm>
          <a:prstGeom prst="ellipse">
            <a:avLst/>
          </a:prstGeom>
          <a:solidFill>
            <a:srgbClr val="E1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6428232" y="4736592"/>
            <a:ext cx="457200" cy="457200"/>
          </a:xfrm>
          <a:prstGeom prst="rect">
            <a:avLst/>
          </a:prstGeom>
          <a:noFill/>
        </p:spPr>
        <p:txBody>
          <a:bodyPr wrap="square" lIns="41148" tIns="22860" rIns="41148" bIns="22860" anchor="ctr">
            <a:spAutoFit/>
          </a:bodyPr>
          <a:lstStyle/>
          <a:p>
            <a:pPr algn="ctr"/>
            <a:r>
              <a:rPr sz="1000" b="1" i="0">
                <a:solidFill>
                  <a:srgbClr val="499D7E"/>
                </a:solidFill>
                <a:latin typeface="Aptos"/>
              </a:rPr>
              <a:t>8</a:t>
            </a:r>
          </a:p>
        </p:txBody>
      </p:sp>
      <p:sp>
        <p:nvSpPr>
          <p:cNvPr id="47" name="TextBox 46"/>
          <p:cNvSpPr txBox="1"/>
          <p:nvPr/>
        </p:nvSpPr>
        <p:spPr>
          <a:xfrm>
            <a:off x="7040880" y="4681728"/>
            <a:ext cx="4069080" cy="548640"/>
          </a:xfrm>
          <a:prstGeom prst="rect">
            <a:avLst/>
          </a:prstGeom>
          <a:noFill/>
        </p:spPr>
        <p:txBody>
          <a:bodyPr wrap="square" lIns="41148" tIns="22860" rIns="41148" bIns="22860" anchor="t">
            <a:spAutoFit/>
          </a:bodyPr>
          <a:lstStyle/>
          <a:p>
            <a:pPr algn="l"/>
            <a:r>
              <a:rPr sz="1130" b="0" i="0">
                <a:solidFill>
                  <a:srgbClr val="273D4E"/>
                </a:solidFill>
                <a:latin typeface="Aptos"/>
              </a:rPr>
              <a:t>Maintain accurate registration data in a relational database.</a:t>
            </a:r>
          </a:p>
        </p:txBody>
      </p:sp>
      <p:sp>
        <p:nvSpPr>
          <p:cNvPr id="48" name="Rounded Rectangle 47"/>
          <p:cNvSpPr/>
          <p:nvPr/>
        </p:nvSpPr>
        <p:spPr>
          <a:xfrm>
            <a:off x="3886200" y="5916168"/>
            <a:ext cx="4434840" cy="329184"/>
          </a:xfrm>
          <a:prstGeom prst="roundRect">
            <a:avLst>
              <a:gd name="adj" fmla="val 12000"/>
            </a:avLst>
          </a:prstGeom>
          <a:solidFill>
            <a:srgbClr val="EDECFC"/>
          </a:solidFill>
          <a:ln>
            <a:solidFill>
              <a:srgbClr val="EDEC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3904487" y="5934455"/>
            <a:ext cx="4398264" cy="274320"/>
          </a:xfrm>
          <a:prstGeom prst="rect">
            <a:avLst/>
          </a:prstGeom>
          <a:noFill/>
        </p:spPr>
        <p:txBody>
          <a:bodyPr wrap="square" lIns="41148" tIns="22860" rIns="41148" bIns="22860" anchor="ctr">
            <a:spAutoFit/>
          </a:bodyPr>
          <a:lstStyle/>
          <a:p>
            <a:pPr algn="ctr"/>
            <a:r>
              <a:rPr sz="900" b="1" i="0">
                <a:solidFill>
                  <a:srgbClr val="10395C"/>
                </a:solidFill>
                <a:latin typeface="Aptos"/>
              </a:rPr>
              <a:t>8 OBJECTIVES • 1 CONNECTED WORKFLOW</a:t>
            </a:r>
          </a:p>
        </p:txBody>
      </p:sp>
      <p:sp>
        <p:nvSpPr>
          <p:cNvPr id="50" name="TextBox 49"/>
          <p:cNvSpPr txBox="1"/>
          <p:nvPr/>
        </p:nvSpPr>
        <p:spPr>
          <a:xfrm>
            <a:off x="530352" y="6547104"/>
            <a:ext cx="4572000" cy="146304"/>
          </a:xfrm>
          <a:prstGeom prst="rect">
            <a:avLst/>
          </a:prstGeom>
          <a:noFill/>
        </p:spPr>
        <p:txBody>
          <a:bodyPr wrap="square" lIns="41148" tIns="22860" rIns="41148" bIns="22860" anchor="t">
            <a:spAutoFit/>
          </a:bodyPr>
          <a:lstStyle/>
          <a:p>
            <a:pPr algn="l"/>
            <a:r>
              <a:rPr sz="720" b="1" i="0">
                <a:solidFill>
                  <a:srgbClr val="5D7684"/>
                </a:solidFill>
                <a:latin typeface="Aptos"/>
              </a:rPr>
              <a:t>COURSE REGISTRATION &amp; TIMETABLE BUILDER</a:t>
            </a:r>
          </a:p>
        </p:txBody>
      </p:sp>
      <p:sp>
        <p:nvSpPr>
          <p:cNvPr id="51" name="TextBox 50"/>
          <p:cNvSpPr txBox="1"/>
          <p:nvPr/>
        </p:nvSpPr>
        <p:spPr>
          <a:xfrm>
            <a:off x="11201400" y="6510528"/>
            <a:ext cx="384048" cy="182880"/>
          </a:xfrm>
          <a:prstGeom prst="rect">
            <a:avLst/>
          </a:prstGeom>
          <a:noFill/>
        </p:spPr>
        <p:txBody>
          <a:bodyPr wrap="square" lIns="41148" tIns="22860" rIns="41148" bIns="22860" anchor="t">
            <a:spAutoFit/>
          </a:bodyPr>
          <a:lstStyle/>
          <a:p>
            <a:pPr algn="r"/>
            <a:r>
              <a:rPr sz="750" b="1" i="0">
                <a:solidFill>
                  <a:srgbClr val="5D7684"/>
                </a:solidFill>
                <a:latin typeface="Aptos"/>
              </a:rPr>
              <a:t>05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1FAFD"/>
        </a:solidFill>
        <a:effectLst/>
      </p:bgPr>
    </p:bg>
    <p:spTree>
      <p:nvGrpSpPr>
        <p:cNvPr id="1" name=""/>
        <p:cNvGrpSpPr/>
        <p:nvPr/>
      </p:nvGrpSpPr>
      <p:grpSpPr>
        <a:xfrm>
          <a:off x="0" y="0"/>
          <a:ext cx="0" cy="0"/>
          <a:chOff x="0" y="0"/>
          <a:chExt cx="0" cy="0"/>
        </a:xfrm>
      </p:grpSpPr>
      <p:sp>
        <p:nvSpPr>
          <p:cNvPr id="2" name="Oval 1"/>
          <p:cNvSpPr/>
          <p:nvPr/>
        </p:nvSpPr>
        <p:spPr>
          <a:xfrm>
            <a:off x="10652760" y="-411480"/>
            <a:ext cx="1920240" cy="1920240"/>
          </a:xfrm>
          <a:prstGeom prst="ellipse">
            <a:avLst/>
          </a:prstGeom>
          <a:solidFill>
            <a:srgbClr val="D7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9875520" y="5623560"/>
            <a:ext cx="2011680" cy="2011680"/>
          </a:xfrm>
          <a:prstGeom prst="ellipse">
            <a:avLst/>
          </a:prstGeom>
          <a:solidFill>
            <a:srgbClr val="E1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411480" y="5715000"/>
            <a:ext cx="1554480" cy="1554480"/>
          </a:xfrm>
          <a:prstGeom prst="ellipse">
            <a:avLst/>
          </a:prstGeom>
          <a:solidFill>
            <a:srgbClr val="EDE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rot="20100000">
            <a:off x="11292840" y="91440"/>
            <a:ext cx="228600" cy="96012"/>
          </a:xfrm>
          <a:prstGeom prst="ellipse">
            <a:avLst/>
          </a:prstGeom>
          <a:solidFill>
            <a:srgbClr val="5BB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rot="1500000">
            <a:off x="11494008" y="256032"/>
            <a:ext cx="256032" cy="107533"/>
          </a:xfrm>
          <a:prstGeom prst="ellipse">
            <a:avLst/>
          </a:prstGeom>
          <a:solidFill>
            <a:srgbClr val="2A79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rot="19500000">
            <a:off x="11146536" y="411479"/>
            <a:ext cx="219456" cy="92171"/>
          </a:xfrm>
          <a:prstGeom prst="ellipse">
            <a:avLst/>
          </a:prstGeom>
          <a:solidFill>
            <a:srgbClr val="5BB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rot="1500000">
            <a:off x="11402567" y="566928"/>
            <a:ext cx="201168" cy="84490"/>
          </a:xfrm>
          <a:prstGeom prst="ellipse">
            <a:avLst/>
          </a:prstGeom>
          <a:solidFill>
            <a:srgbClr val="2A79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rot="19500000">
            <a:off x="11036808" y="685800"/>
            <a:ext cx="201168" cy="84490"/>
          </a:xfrm>
          <a:prstGeom prst="ellipse">
            <a:avLst/>
          </a:prstGeom>
          <a:solidFill>
            <a:srgbClr val="5BB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0" name="Connector 9"/>
          <p:cNvCxnSpPr/>
          <p:nvPr/>
        </p:nvCxnSpPr>
        <p:spPr>
          <a:xfrm flipH="1">
            <a:off x="11311128" y="109728"/>
            <a:ext cx="73152" cy="758952"/>
          </a:xfrm>
          <a:prstGeom prst="line">
            <a:avLst/>
          </a:prstGeom>
          <a:ln w="13970">
            <a:solidFill>
              <a:srgbClr val="2A79A3"/>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502920" y="329184"/>
            <a:ext cx="502920" cy="329184"/>
          </a:xfrm>
          <a:prstGeom prst="roundRect">
            <a:avLst>
              <a:gd name="adj" fmla="val 12000"/>
            </a:avLst>
          </a:prstGeom>
          <a:solidFill>
            <a:srgbClr val="D7F0F8"/>
          </a:solidFill>
          <a:ln>
            <a:solidFill>
              <a:srgbClr val="D7F0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21208" y="347472"/>
            <a:ext cx="466344" cy="274320"/>
          </a:xfrm>
          <a:prstGeom prst="rect">
            <a:avLst/>
          </a:prstGeom>
          <a:noFill/>
        </p:spPr>
        <p:txBody>
          <a:bodyPr wrap="square" lIns="41148" tIns="22860" rIns="41148" bIns="22860" anchor="ctr">
            <a:spAutoFit/>
          </a:bodyPr>
          <a:lstStyle/>
          <a:p>
            <a:pPr algn="ctr"/>
            <a:r>
              <a:rPr sz="1000" b="1" i="0">
                <a:solidFill>
                  <a:srgbClr val="10395C"/>
                </a:solidFill>
                <a:latin typeface="Aptos"/>
              </a:rPr>
              <a:t>5</a:t>
            </a:r>
          </a:p>
        </p:txBody>
      </p:sp>
      <p:sp>
        <p:nvSpPr>
          <p:cNvPr id="13" name="TextBox 12"/>
          <p:cNvSpPr txBox="1"/>
          <p:nvPr/>
        </p:nvSpPr>
        <p:spPr>
          <a:xfrm>
            <a:off x="1115568" y="274320"/>
            <a:ext cx="9875520" cy="438912"/>
          </a:xfrm>
          <a:prstGeom prst="rect">
            <a:avLst/>
          </a:prstGeom>
          <a:noFill/>
        </p:spPr>
        <p:txBody>
          <a:bodyPr wrap="square" lIns="41148" tIns="22860" rIns="41148" bIns="22860" anchor="t">
            <a:spAutoFit/>
          </a:bodyPr>
          <a:lstStyle/>
          <a:p>
            <a:pPr algn="l"/>
            <a:r>
              <a:rPr sz="2300" b="1" i="0">
                <a:solidFill>
                  <a:srgbClr val="10395C"/>
                </a:solidFill>
                <a:latin typeface="Aptos"/>
              </a:rPr>
              <a:t>Users &amp; Role-Based Access</a:t>
            </a:r>
          </a:p>
        </p:txBody>
      </p:sp>
      <p:sp>
        <p:nvSpPr>
          <p:cNvPr id="14" name="TextBox 13"/>
          <p:cNvSpPr txBox="1"/>
          <p:nvPr/>
        </p:nvSpPr>
        <p:spPr>
          <a:xfrm>
            <a:off x="1133856" y="758952"/>
            <a:ext cx="9418320" cy="274320"/>
          </a:xfrm>
          <a:prstGeom prst="rect">
            <a:avLst/>
          </a:prstGeom>
          <a:noFill/>
        </p:spPr>
        <p:txBody>
          <a:bodyPr wrap="square" lIns="41148" tIns="22860" rIns="41148" bIns="22860" anchor="t">
            <a:spAutoFit/>
          </a:bodyPr>
          <a:lstStyle/>
          <a:p>
            <a:pPr algn="l"/>
            <a:r>
              <a:rPr sz="1080" b="0" i="0">
                <a:solidFill>
                  <a:srgbClr val="5D7684"/>
                </a:solidFill>
                <a:latin typeface="Aptos"/>
              </a:rPr>
              <a:t>Different users need different permissions</a:t>
            </a:r>
          </a:p>
        </p:txBody>
      </p:sp>
      <p:sp>
        <p:nvSpPr>
          <p:cNvPr id="15" name="Rectangle 14"/>
          <p:cNvSpPr/>
          <p:nvPr/>
        </p:nvSpPr>
        <p:spPr>
          <a:xfrm>
            <a:off x="1133856" y="1060704"/>
            <a:ext cx="1051560" cy="32004"/>
          </a:xfrm>
          <a:prstGeom prst="rect">
            <a:avLst/>
          </a:prstGeom>
          <a:solidFill>
            <a:srgbClr val="5BB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594360" y="1417320"/>
            <a:ext cx="3456432" cy="4526280"/>
          </a:xfrm>
          <a:prstGeom prst="roundRect">
            <a:avLst>
              <a:gd name="adj" fmla="val 12000"/>
            </a:avLst>
          </a:prstGeom>
          <a:solidFill>
            <a:srgbClr val="FFFFFF"/>
          </a:solidFill>
          <a:ln>
            <a:solidFill>
              <a:srgbClr val="C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868680" y="1719072"/>
            <a:ext cx="658368" cy="658368"/>
          </a:xfrm>
          <a:prstGeom prst="ellipse">
            <a:avLst/>
          </a:prstGeom>
          <a:solidFill>
            <a:srgbClr val="D7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68680" y="1719072"/>
            <a:ext cx="658368" cy="658368"/>
          </a:xfrm>
          <a:prstGeom prst="rect">
            <a:avLst/>
          </a:prstGeom>
          <a:noFill/>
        </p:spPr>
        <p:txBody>
          <a:bodyPr wrap="square" lIns="41148" tIns="22860" rIns="41148" bIns="22860" anchor="ctr">
            <a:spAutoFit/>
          </a:bodyPr>
          <a:lstStyle/>
          <a:p>
            <a:pPr algn="ctr"/>
            <a:r>
              <a:rPr sz="2000" b="1" i="0">
                <a:solidFill>
                  <a:srgbClr val="2A79A3"/>
                </a:solidFill>
                <a:latin typeface="Aptos"/>
              </a:rPr>
              <a:t>S</a:t>
            </a:r>
          </a:p>
        </p:txBody>
      </p:sp>
      <p:sp>
        <p:nvSpPr>
          <p:cNvPr id="19" name="TextBox 18"/>
          <p:cNvSpPr txBox="1"/>
          <p:nvPr/>
        </p:nvSpPr>
        <p:spPr>
          <a:xfrm>
            <a:off x="1645919" y="1810512"/>
            <a:ext cx="1965960" cy="292608"/>
          </a:xfrm>
          <a:prstGeom prst="rect">
            <a:avLst/>
          </a:prstGeom>
          <a:noFill/>
        </p:spPr>
        <p:txBody>
          <a:bodyPr wrap="square" lIns="41148" tIns="22860" rIns="41148" bIns="22860" anchor="t">
            <a:spAutoFit/>
          </a:bodyPr>
          <a:lstStyle/>
          <a:p>
            <a:pPr algn="l"/>
            <a:r>
              <a:rPr sz="1280" b="1" i="0">
                <a:solidFill>
                  <a:srgbClr val="10395C"/>
                </a:solidFill>
                <a:latin typeface="Aptos"/>
              </a:rPr>
              <a:t>STUDENT</a:t>
            </a:r>
          </a:p>
        </p:txBody>
      </p:sp>
      <p:sp>
        <p:nvSpPr>
          <p:cNvPr id="20" name="Oval 19"/>
          <p:cNvSpPr/>
          <p:nvPr/>
        </p:nvSpPr>
        <p:spPr>
          <a:xfrm>
            <a:off x="941832" y="2487168"/>
            <a:ext cx="256032" cy="256032"/>
          </a:xfrm>
          <a:prstGeom prst="ellipse">
            <a:avLst/>
          </a:prstGeom>
          <a:solidFill>
            <a:srgbClr val="E1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41832" y="2487168"/>
            <a:ext cx="256032" cy="256032"/>
          </a:xfrm>
          <a:prstGeom prst="rect">
            <a:avLst/>
          </a:prstGeom>
          <a:noFill/>
        </p:spPr>
        <p:txBody>
          <a:bodyPr wrap="square" lIns="41148" tIns="22860" rIns="41148" bIns="22860" anchor="ctr">
            <a:spAutoFit/>
          </a:bodyPr>
          <a:lstStyle/>
          <a:p>
            <a:pPr algn="ctr"/>
            <a:r>
              <a:rPr sz="800" b="1" i="0">
                <a:solidFill>
                  <a:srgbClr val="499D7E"/>
                </a:solidFill>
                <a:latin typeface="Aptos"/>
              </a:rPr>
              <a:t>✓</a:t>
            </a:r>
          </a:p>
        </p:txBody>
      </p:sp>
      <p:sp>
        <p:nvSpPr>
          <p:cNvPr id="22" name="TextBox 21"/>
          <p:cNvSpPr txBox="1"/>
          <p:nvPr/>
        </p:nvSpPr>
        <p:spPr>
          <a:xfrm>
            <a:off x="1362456" y="2459736"/>
            <a:ext cx="2331720" cy="310896"/>
          </a:xfrm>
          <a:prstGeom prst="rect">
            <a:avLst/>
          </a:prstGeom>
          <a:noFill/>
        </p:spPr>
        <p:txBody>
          <a:bodyPr wrap="square" lIns="41148" tIns="22860" rIns="41148" bIns="22860" anchor="t">
            <a:spAutoFit/>
          </a:bodyPr>
          <a:lstStyle/>
          <a:p>
            <a:pPr algn="l"/>
            <a:r>
              <a:rPr sz="1070" b="0" i="0">
                <a:solidFill>
                  <a:srgbClr val="273D4E"/>
                </a:solidFill>
                <a:latin typeface="Aptos"/>
              </a:rPr>
              <a:t>Browse/search courses</a:t>
            </a:r>
          </a:p>
        </p:txBody>
      </p:sp>
      <p:sp>
        <p:nvSpPr>
          <p:cNvPr id="23" name="Oval 22"/>
          <p:cNvSpPr/>
          <p:nvPr/>
        </p:nvSpPr>
        <p:spPr>
          <a:xfrm>
            <a:off x="941832" y="3054096"/>
            <a:ext cx="256032" cy="256032"/>
          </a:xfrm>
          <a:prstGeom prst="ellipse">
            <a:avLst/>
          </a:prstGeom>
          <a:solidFill>
            <a:srgbClr val="E1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41832" y="3054096"/>
            <a:ext cx="256032" cy="256032"/>
          </a:xfrm>
          <a:prstGeom prst="rect">
            <a:avLst/>
          </a:prstGeom>
          <a:noFill/>
        </p:spPr>
        <p:txBody>
          <a:bodyPr wrap="square" lIns="41148" tIns="22860" rIns="41148" bIns="22860" anchor="ctr">
            <a:spAutoFit/>
          </a:bodyPr>
          <a:lstStyle/>
          <a:p>
            <a:pPr algn="ctr"/>
            <a:r>
              <a:rPr sz="800" b="1" i="0">
                <a:solidFill>
                  <a:srgbClr val="499D7E"/>
                </a:solidFill>
                <a:latin typeface="Aptos"/>
              </a:rPr>
              <a:t>✓</a:t>
            </a:r>
          </a:p>
        </p:txBody>
      </p:sp>
      <p:sp>
        <p:nvSpPr>
          <p:cNvPr id="25" name="TextBox 24"/>
          <p:cNvSpPr txBox="1"/>
          <p:nvPr/>
        </p:nvSpPr>
        <p:spPr>
          <a:xfrm>
            <a:off x="1362456" y="3026664"/>
            <a:ext cx="2331720" cy="310896"/>
          </a:xfrm>
          <a:prstGeom prst="rect">
            <a:avLst/>
          </a:prstGeom>
          <a:noFill/>
        </p:spPr>
        <p:txBody>
          <a:bodyPr wrap="square" lIns="41148" tIns="22860" rIns="41148" bIns="22860" anchor="t">
            <a:spAutoFit/>
          </a:bodyPr>
          <a:lstStyle/>
          <a:p>
            <a:pPr algn="l"/>
            <a:r>
              <a:rPr sz="1070" b="0" i="0">
                <a:solidFill>
                  <a:srgbClr val="273D4E"/>
                </a:solidFill>
                <a:latin typeface="Aptos"/>
              </a:rPr>
              <a:t>Select &amp; drop courses</a:t>
            </a:r>
          </a:p>
        </p:txBody>
      </p:sp>
      <p:sp>
        <p:nvSpPr>
          <p:cNvPr id="26" name="Oval 25"/>
          <p:cNvSpPr/>
          <p:nvPr/>
        </p:nvSpPr>
        <p:spPr>
          <a:xfrm>
            <a:off x="941832" y="3621024"/>
            <a:ext cx="256032" cy="256032"/>
          </a:xfrm>
          <a:prstGeom prst="ellipse">
            <a:avLst/>
          </a:prstGeom>
          <a:solidFill>
            <a:srgbClr val="E1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41832" y="3621024"/>
            <a:ext cx="256032" cy="256032"/>
          </a:xfrm>
          <a:prstGeom prst="rect">
            <a:avLst/>
          </a:prstGeom>
          <a:noFill/>
        </p:spPr>
        <p:txBody>
          <a:bodyPr wrap="square" lIns="41148" tIns="22860" rIns="41148" bIns="22860" anchor="ctr">
            <a:spAutoFit/>
          </a:bodyPr>
          <a:lstStyle/>
          <a:p>
            <a:pPr algn="ctr"/>
            <a:r>
              <a:rPr sz="800" b="1" i="0">
                <a:solidFill>
                  <a:srgbClr val="499D7E"/>
                </a:solidFill>
                <a:latin typeface="Aptos"/>
              </a:rPr>
              <a:t>✓</a:t>
            </a:r>
          </a:p>
        </p:txBody>
      </p:sp>
      <p:sp>
        <p:nvSpPr>
          <p:cNvPr id="28" name="TextBox 27"/>
          <p:cNvSpPr txBox="1"/>
          <p:nvPr/>
        </p:nvSpPr>
        <p:spPr>
          <a:xfrm>
            <a:off x="1362456" y="3593591"/>
            <a:ext cx="2331720" cy="310896"/>
          </a:xfrm>
          <a:prstGeom prst="rect">
            <a:avLst/>
          </a:prstGeom>
          <a:noFill/>
        </p:spPr>
        <p:txBody>
          <a:bodyPr wrap="square" lIns="41148" tIns="22860" rIns="41148" bIns="22860" anchor="t">
            <a:spAutoFit/>
          </a:bodyPr>
          <a:lstStyle/>
          <a:p>
            <a:pPr algn="l"/>
            <a:r>
              <a:rPr sz="1070" b="0" i="0">
                <a:solidFill>
                  <a:srgbClr val="273D4E"/>
                </a:solidFill>
                <a:latin typeface="Aptos"/>
              </a:rPr>
              <a:t>Build timetable</a:t>
            </a:r>
          </a:p>
        </p:txBody>
      </p:sp>
      <p:sp>
        <p:nvSpPr>
          <p:cNvPr id="29" name="Oval 28"/>
          <p:cNvSpPr/>
          <p:nvPr/>
        </p:nvSpPr>
        <p:spPr>
          <a:xfrm>
            <a:off x="941832" y="4187952"/>
            <a:ext cx="256032" cy="256032"/>
          </a:xfrm>
          <a:prstGeom prst="ellipse">
            <a:avLst/>
          </a:prstGeom>
          <a:solidFill>
            <a:srgbClr val="E1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41832" y="4187952"/>
            <a:ext cx="256032" cy="256032"/>
          </a:xfrm>
          <a:prstGeom prst="rect">
            <a:avLst/>
          </a:prstGeom>
          <a:noFill/>
        </p:spPr>
        <p:txBody>
          <a:bodyPr wrap="square" lIns="41148" tIns="22860" rIns="41148" bIns="22860" anchor="ctr">
            <a:spAutoFit/>
          </a:bodyPr>
          <a:lstStyle/>
          <a:p>
            <a:pPr algn="ctr"/>
            <a:r>
              <a:rPr sz="800" b="1" i="0">
                <a:solidFill>
                  <a:srgbClr val="499D7E"/>
                </a:solidFill>
                <a:latin typeface="Aptos"/>
              </a:rPr>
              <a:t>✓</a:t>
            </a:r>
          </a:p>
        </p:txBody>
      </p:sp>
      <p:sp>
        <p:nvSpPr>
          <p:cNvPr id="31" name="TextBox 30"/>
          <p:cNvSpPr txBox="1"/>
          <p:nvPr/>
        </p:nvSpPr>
        <p:spPr>
          <a:xfrm>
            <a:off x="1362456" y="4160520"/>
            <a:ext cx="2331720" cy="310896"/>
          </a:xfrm>
          <a:prstGeom prst="rect">
            <a:avLst/>
          </a:prstGeom>
          <a:noFill/>
        </p:spPr>
        <p:txBody>
          <a:bodyPr wrap="square" lIns="41148" tIns="22860" rIns="41148" bIns="22860" anchor="t">
            <a:spAutoFit/>
          </a:bodyPr>
          <a:lstStyle/>
          <a:p>
            <a:pPr algn="l"/>
            <a:r>
              <a:rPr sz="1070" b="0" i="0">
                <a:solidFill>
                  <a:srgbClr val="273D4E"/>
                </a:solidFill>
                <a:latin typeface="Aptos"/>
              </a:rPr>
              <a:t>Register &amp; view credits</a:t>
            </a:r>
          </a:p>
        </p:txBody>
      </p:sp>
      <p:sp>
        <p:nvSpPr>
          <p:cNvPr id="32" name="Rounded Rectangle 31"/>
          <p:cNvSpPr/>
          <p:nvPr/>
        </p:nvSpPr>
        <p:spPr>
          <a:xfrm>
            <a:off x="1307592" y="5230368"/>
            <a:ext cx="2029968" cy="329184"/>
          </a:xfrm>
          <a:prstGeom prst="roundRect">
            <a:avLst>
              <a:gd name="adj" fmla="val 12000"/>
            </a:avLst>
          </a:prstGeom>
          <a:solidFill>
            <a:srgbClr val="D7F0F8"/>
          </a:solidFill>
          <a:ln>
            <a:solidFill>
              <a:srgbClr val="D7F0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325880" y="5248655"/>
            <a:ext cx="1993392" cy="274320"/>
          </a:xfrm>
          <a:prstGeom prst="rect">
            <a:avLst/>
          </a:prstGeom>
          <a:noFill/>
        </p:spPr>
        <p:txBody>
          <a:bodyPr wrap="square" lIns="41148" tIns="22860" rIns="41148" bIns="22860" anchor="ctr">
            <a:spAutoFit/>
          </a:bodyPr>
          <a:lstStyle/>
          <a:p>
            <a:pPr algn="ctr"/>
            <a:r>
              <a:rPr sz="850" b="1" i="0">
                <a:solidFill>
                  <a:srgbClr val="10395C"/>
                </a:solidFill>
                <a:latin typeface="Aptos"/>
              </a:rPr>
              <a:t>VIEW + ACT</a:t>
            </a:r>
          </a:p>
        </p:txBody>
      </p:sp>
      <p:sp>
        <p:nvSpPr>
          <p:cNvPr id="34" name="Rounded Rectangle 33"/>
          <p:cNvSpPr/>
          <p:nvPr/>
        </p:nvSpPr>
        <p:spPr>
          <a:xfrm>
            <a:off x="4389120" y="1417320"/>
            <a:ext cx="3456432" cy="4526280"/>
          </a:xfrm>
          <a:prstGeom prst="roundRect">
            <a:avLst>
              <a:gd name="adj" fmla="val 12000"/>
            </a:avLst>
          </a:prstGeom>
          <a:solidFill>
            <a:srgbClr val="FFFFFF"/>
          </a:solidFill>
          <a:ln>
            <a:solidFill>
              <a:srgbClr val="C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4663440" y="1719072"/>
            <a:ext cx="658368" cy="658368"/>
          </a:xfrm>
          <a:prstGeom prst="ellipse">
            <a:avLst/>
          </a:prstGeom>
          <a:solidFill>
            <a:srgbClr val="E1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4663440" y="1719072"/>
            <a:ext cx="658368" cy="658368"/>
          </a:xfrm>
          <a:prstGeom prst="rect">
            <a:avLst/>
          </a:prstGeom>
          <a:noFill/>
        </p:spPr>
        <p:txBody>
          <a:bodyPr wrap="square" lIns="41148" tIns="22860" rIns="41148" bIns="22860" anchor="ctr">
            <a:spAutoFit/>
          </a:bodyPr>
          <a:lstStyle/>
          <a:p>
            <a:pPr algn="ctr"/>
            <a:r>
              <a:rPr sz="2000" b="1" i="0">
                <a:solidFill>
                  <a:srgbClr val="499D7E"/>
                </a:solidFill>
                <a:latin typeface="Aptos"/>
              </a:rPr>
              <a:t>F</a:t>
            </a:r>
          </a:p>
        </p:txBody>
      </p:sp>
      <p:sp>
        <p:nvSpPr>
          <p:cNvPr id="37" name="TextBox 36"/>
          <p:cNvSpPr txBox="1"/>
          <p:nvPr/>
        </p:nvSpPr>
        <p:spPr>
          <a:xfrm>
            <a:off x="5440680" y="1810512"/>
            <a:ext cx="1965960" cy="292608"/>
          </a:xfrm>
          <a:prstGeom prst="rect">
            <a:avLst/>
          </a:prstGeom>
          <a:noFill/>
        </p:spPr>
        <p:txBody>
          <a:bodyPr wrap="square" lIns="41148" tIns="22860" rIns="41148" bIns="22860" anchor="t">
            <a:spAutoFit/>
          </a:bodyPr>
          <a:lstStyle/>
          <a:p>
            <a:pPr algn="l"/>
            <a:r>
              <a:rPr sz="1280" b="1" i="0">
                <a:solidFill>
                  <a:srgbClr val="10395C"/>
                </a:solidFill>
                <a:latin typeface="Aptos"/>
              </a:rPr>
              <a:t>FACULTY</a:t>
            </a:r>
          </a:p>
        </p:txBody>
      </p:sp>
      <p:sp>
        <p:nvSpPr>
          <p:cNvPr id="38" name="Oval 37"/>
          <p:cNvSpPr/>
          <p:nvPr/>
        </p:nvSpPr>
        <p:spPr>
          <a:xfrm>
            <a:off x="4736592" y="2487168"/>
            <a:ext cx="256032" cy="256032"/>
          </a:xfrm>
          <a:prstGeom prst="ellipse">
            <a:avLst/>
          </a:prstGeom>
          <a:solidFill>
            <a:srgbClr val="E1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736592" y="2487168"/>
            <a:ext cx="256032" cy="256032"/>
          </a:xfrm>
          <a:prstGeom prst="rect">
            <a:avLst/>
          </a:prstGeom>
          <a:noFill/>
        </p:spPr>
        <p:txBody>
          <a:bodyPr wrap="square" lIns="41148" tIns="22860" rIns="41148" bIns="22860" anchor="ctr">
            <a:spAutoFit/>
          </a:bodyPr>
          <a:lstStyle/>
          <a:p>
            <a:pPr algn="ctr"/>
            <a:r>
              <a:rPr sz="800" b="1" i="0">
                <a:solidFill>
                  <a:srgbClr val="499D7E"/>
                </a:solidFill>
                <a:latin typeface="Aptos"/>
              </a:rPr>
              <a:t>✓</a:t>
            </a:r>
          </a:p>
        </p:txBody>
      </p:sp>
      <p:sp>
        <p:nvSpPr>
          <p:cNvPr id="40" name="TextBox 39"/>
          <p:cNvSpPr txBox="1"/>
          <p:nvPr/>
        </p:nvSpPr>
        <p:spPr>
          <a:xfrm>
            <a:off x="5157216" y="2459736"/>
            <a:ext cx="2331720" cy="310896"/>
          </a:xfrm>
          <a:prstGeom prst="rect">
            <a:avLst/>
          </a:prstGeom>
          <a:noFill/>
        </p:spPr>
        <p:txBody>
          <a:bodyPr wrap="square" lIns="41148" tIns="22860" rIns="41148" bIns="22860" anchor="t">
            <a:spAutoFit/>
          </a:bodyPr>
          <a:lstStyle/>
          <a:p>
            <a:pPr algn="l"/>
            <a:r>
              <a:rPr sz="1070" b="0" i="0">
                <a:solidFill>
                  <a:srgbClr val="273D4E"/>
                </a:solidFill>
                <a:latin typeface="Aptos"/>
              </a:rPr>
              <a:t>View assigned courses</a:t>
            </a:r>
          </a:p>
        </p:txBody>
      </p:sp>
      <p:sp>
        <p:nvSpPr>
          <p:cNvPr id="41" name="Oval 40"/>
          <p:cNvSpPr/>
          <p:nvPr/>
        </p:nvSpPr>
        <p:spPr>
          <a:xfrm>
            <a:off x="4736592" y="3054096"/>
            <a:ext cx="256032" cy="256032"/>
          </a:xfrm>
          <a:prstGeom prst="ellipse">
            <a:avLst/>
          </a:prstGeom>
          <a:solidFill>
            <a:srgbClr val="E1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4736592" y="3054096"/>
            <a:ext cx="256032" cy="256032"/>
          </a:xfrm>
          <a:prstGeom prst="rect">
            <a:avLst/>
          </a:prstGeom>
          <a:noFill/>
        </p:spPr>
        <p:txBody>
          <a:bodyPr wrap="square" lIns="41148" tIns="22860" rIns="41148" bIns="22860" anchor="ctr">
            <a:spAutoFit/>
          </a:bodyPr>
          <a:lstStyle/>
          <a:p>
            <a:pPr algn="ctr"/>
            <a:r>
              <a:rPr sz="800" b="1" i="0">
                <a:solidFill>
                  <a:srgbClr val="499D7E"/>
                </a:solidFill>
                <a:latin typeface="Aptos"/>
              </a:rPr>
              <a:t>✓</a:t>
            </a:r>
          </a:p>
        </p:txBody>
      </p:sp>
      <p:sp>
        <p:nvSpPr>
          <p:cNvPr id="43" name="TextBox 42"/>
          <p:cNvSpPr txBox="1"/>
          <p:nvPr/>
        </p:nvSpPr>
        <p:spPr>
          <a:xfrm>
            <a:off x="5157216" y="3026664"/>
            <a:ext cx="2331720" cy="310896"/>
          </a:xfrm>
          <a:prstGeom prst="rect">
            <a:avLst/>
          </a:prstGeom>
          <a:noFill/>
        </p:spPr>
        <p:txBody>
          <a:bodyPr wrap="square" lIns="41148" tIns="22860" rIns="41148" bIns="22860" anchor="t">
            <a:spAutoFit/>
          </a:bodyPr>
          <a:lstStyle/>
          <a:p>
            <a:pPr algn="l"/>
            <a:r>
              <a:rPr sz="1070" b="0" i="0">
                <a:solidFill>
                  <a:srgbClr val="273D4E"/>
                </a:solidFill>
                <a:latin typeface="Aptos"/>
              </a:rPr>
              <a:t>View enrolled students</a:t>
            </a:r>
          </a:p>
        </p:txBody>
      </p:sp>
      <p:sp>
        <p:nvSpPr>
          <p:cNvPr id="44" name="Oval 43"/>
          <p:cNvSpPr/>
          <p:nvPr/>
        </p:nvSpPr>
        <p:spPr>
          <a:xfrm>
            <a:off x="4736592" y="3621024"/>
            <a:ext cx="256032" cy="256032"/>
          </a:xfrm>
          <a:prstGeom prst="ellipse">
            <a:avLst/>
          </a:prstGeom>
          <a:solidFill>
            <a:srgbClr val="E1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736592" y="3621024"/>
            <a:ext cx="256032" cy="256032"/>
          </a:xfrm>
          <a:prstGeom prst="rect">
            <a:avLst/>
          </a:prstGeom>
          <a:noFill/>
        </p:spPr>
        <p:txBody>
          <a:bodyPr wrap="square" lIns="41148" tIns="22860" rIns="41148" bIns="22860" anchor="ctr">
            <a:spAutoFit/>
          </a:bodyPr>
          <a:lstStyle/>
          <a:p>
            <a:pPr algn="ctr"/>
            <a:r>
              <a:rPr sz="800" b="1" i="0">
                <a:solidFill>
                  <a:srgbClr val="499D7E"/>
                </a:solidFill>
                <a:latin typeface="Aptos"/>
              </a:rPr>
              <a:t>✓</a:t>
            </a:r>
          </a:p>
        </p:txBody>
      </p:sp>
      <p:sp>
        <p:nvSpPr>
          <p:cNvPr id="46" name="TextBox 45"/>
          <p:cNvSpPr txBox="1"/>
          <p:nvPr/>
        </p:nvSpPr>
        <p:spPr>
          <a:xfrm>
            <a:off x="5157216" y="3593591"/>
            <a:ext cx="2331720" cy="310896"/>
          </a:xfrm>
          <a:prstGeom prst="rect">
            <a:avLst/>
          </a:prstGeom>
          <a:noFill/>
        </p:spPr>
        <p:txBody>
          <a:bodyPr wrap="square" lIns="41148" tIns="22860" rIns="41148" bIns="22860" anchor="t">
            <a:spAutoFit/>
          </a:bodyPr>
          <a:lstStyle/>
          <a:p>
            <a:pPr algn="l"/>
            <a:r>
              <a:rPr sz="1070" b="0" i="0">
                <a:solidFill>
                  <a:srgbClr val="273D4E"/>
                </a:solidFill>
                <a:latin typeface="Aptos"/>
              </a:rPr>
              <a:t>View schedule</a:t>
            </a:r>
          </a:p>
        </p:txBody>
      </p:sp>
      <p:sp>
        <p:nvSpPr>
          <p:cNvPr id="47" name="Oval 46"/>
          <p:cNvSpPr/>
          <p:nvPr/>
        </p:nvSpPr>
        <p:spPr>
          <a:xfrm>
            <a:off x="4736592" y="4187952"/>
            <a:ext cx="256032" cy="256032"/>
          </a:xfrm>
          <a:prstGeom prst="ellipse">
            <a:avLst/>
          </a:prstGeom>
          <a:solidFill>
            <a:srgbClr val="E1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4736592" y="4187952"/>
            <a:ext cx="256032" cy="256032"/>
          </a:xfrm>
          <a:prstGeom prst="rect">
            <a:avLst/>
          </a:prstGeom>
          <a:noFill/>
        </p:spPr>
        <p:txBody>
          <a:bodyPr wrap="square" lIns="41148" tIns="22860" rIns="41148" bIns="22860" anchor="ctr">
            <a:spAutoFit/>
          </a:bodyPr>
          <a:lstStyle/>
          <a:p>
            <a:pPr algn="ctr"/>
            <a:r>
              <a:rPr sz="800" b="1" i="0">
                <a:solidFill>
                  <a:srgbClr val="499D7E"/>
                </a:solidFill>
                <a:latin typeface="Aptos"/>
              </a:rPr>
              <a:t>✓</a:t>
            </a:r>
          </a:p>
        </p:txBody>
      </p:sp>
      <p:sp>
        <p:nvSpPr>
          <p:cNvPr id="49" name="TextBox 48"/>
          <p:cNvSpPr txBox="1"/>
          <p:nvPr/>
        </p:nvSpPr>
        <p:spPr>
          <a:xfrm>
            <a:off x="5157216" y="4160520"/>
            <a:ext cx="2331720" cy="310896"/>
          </a:xfrm>
          <a:prstGeom prst="rect">
            <a:avLst/>
          </a:prstGeom>
          <a:noFill/>
        </p:spPr>
        <p:txBody>
          <a:bodyPr wrap="square" lIns="41148" tIns="22860" rIns="41148" bIns="22860" anchor="t">
            <a:spAutoFit/>
          </a:bodyPr>
          <a:lstStyle/>
          <a:p>
            <a:pPr algn="l"/>
            <a:r>
              <a:rPr sz="1070" b="0" i="0">
                <a:solidFill>
                  <a:srgbClr val="273D4E"/>
                </a:solidFill>
                <a:latin typeface="Aptos"/>
              </a:rPr>
              <a:t>Check class capacity</a:t>
            </a:r>
          </a:p>
        </p:txBody>
      </p:sp>
      <p:sp>
        <p:nvSpPr>
          <p:cNvPr id="50" name="Rounded Rectangle 49"/>
          <p:cNvSpPr/>
          <p:nvPr/>
        </p:nvSpPr>
        <p:spPr>
          <a:xfrm>
            <a:off x="5102352" y="5230368"/>
            <a:ext cx="2029968" cy="329184"/>
          </a:xfrm>
          <a:prstGeom prst="roundRect">
            <a:avLst>
              <a:gd name="adj" fmla="val 12000"/>
            </a:avLst>
          </a:prstGeom>
          <a:solidFill>
            <a:srgbClr val="E1F8F1"/>
          </a:solidFill>
          <a:ln>
            <a:solidFill>
              <a:srgbClr val="E1F8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5120640" y="5248655"/>
            <a:ext cx="1993392" cy="274320"/>
          </a:xfrm>
          <a:prstGeom prst="rect">
            <a:avLst/>
          </a:prstGeom>
          <a:noFill/>
        </p:spPr>
        <p:txBody>
          <a:bodyPr wrap="square" lIns="41148" tIns="22860" rIns="41148" bIns="22860" anchor="ctr">
            <a:spAutoFit/>
          </a:bodyPr>
          <a:lstStyle/>
          <a:p>
            <a:pPr algn="ctr"/>
            <a:r>
              <a:rPr sz="850" b="1" i="0">
                <a:solidFill>
                  <a:srgbClr val="10395C"/>
                </a:solidFill>
                <a:latin typeface="Aptos"/>
              </a:rPr>
              <a:t>VIEW + MONITOR</a:t>
            </a:r>
          </a:p>
        </p:txBody>
      </p:sp>
      <p:sp>
        <p:nvSpPr>
          <p:cNvPr id="52" name="Rounded Rectangle 51"/>
          <p:cNvSpPr/>
          <p:nvPr/>
        </p:nvSpPr>
        <p:spPr>
          <a:xfrm>
            <a:off x="8183880" y="1417320"/>
            <a:ext cx="3456432" cy="4526280"/>
          </a:xfrm>
          <a:prstGeom prst="roundRect">
            <a:avLst>
              <a:gd name="adj" fmla="val 12000"/>
            </a:avLst>
          </a:prstGeom>
          <a:solidFill>
            <a:srgbClr val="FFFFFF"/>
          </a:solidFill>
          <a:ln>
            <a:solidFill>
              <a:srgbClr val="C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Oval 52"/>
          <p:cNvSpPr/>
          <p:nvPr/>
        </p:nvSpPr>
        <p:spPr>
          <a:xfrm>
            <a:off x="8458200" y="1719072"/>
            <a:ext cx="658368" cy="658368"/>
          </a:xfrm>
          <a:prstGeom prst="ellipse">
            <a:avLst/>
          </a:prstGeom>
          <a:solidFill>
            <a:srgbClr val="EDE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8458200" y="1719072"/>
            <a:ext cx="658368" cy="658368"/>
          </a:xfrm>
          <a:prstGeom prst="rect">
            <a:avLst/>
          </a:prstGeom>
          <a:noFill/>
        </p:spPr>
        <p:txBody>
          <a:bodyPr wrap="square" lIns="41148" tIns="22860" rIns="41148" bIns="22860" anchor="ctr">
            <a:spAutoFit/>
          </a:bodyPr>
          <a:lstStyle/>
          <a:p>
            <a:pPr algn="ctr"/>
            <a:r>
              <a:rPr sz="2000" b="1" i="0">
                <a:solidFill>
                  <a:srgbClr val="2A79A3"/>
                </a:solidFill>
                <a:latin typeface="Aptos"/>
              </a:rPr>
              <a:t>A</a:t>
            </a:r>
          </a:p>
        </p:txBody>
      </p:sp>
      <p:sp>
        <p:nvSpPr>
          <p:cNvPr id="55" name="TextBox 54"/>
          <p:cNvSpPr txBox="1"/>
          <p:nvPr/>
        </p:nvSpPr>
        <p:spPr>
          <a:xfrm>
            <a:off x="9235440" y="1810512"/>
            <a:ext cx="1965960" cy="292608"/>
          </a:xfrm>
          <a:prstGeom prst="rect">
            <a:avLst/>
          </a:prstGeom>
          <a:noFill/>
        </p:spPr>
        <p:txBody>
          <a:bodyPr wrap="square" lIns="41148" tIns="22860" rIns="41148" bIns="22860" anchor="t">
            <a:spAutoFit/>
          </a:bodyPr>
          <a:lstStyle/>
          <a:p>
            <a:pPr algn="l"/>
            <a:r>
              <a:rPr sz="1280" b="1" i="0">
                <a:solidFill>
                  <a:srgbClr val="10395C"/>
                </a:solidFill>
                <a:latin typeface="Aptos"/>
              </a:rPr>
              <a:t>ADMINISTRATOR</a:t>
            </a:r>
          </a:p>
        </p:txBody>
      </p:sp>
      <p:sp>
        <p:nvSpPr>
          <p:cNvPr id="56" name="Oval 55"/>
          <p:cNvSpPr/>
          <p:nvPr/>
        </p:nvSpPr>
        <p:spPr>
          <a:xfrm>
            <a:off x="8531352" y="2487168"/>
            <a:ext cx="256032" cy="256032"/>
          </a:xfrm>
          <a:prstGeom prst="ellipse">
            <a:avLst/>
          </a:prstGeom>
          <a:solidFill>
            <a:srgbClr val="E1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8531352" y="2487168"/>
            <a:ext cx="256032" cy="256032"/>
          </a:xfrm>
          <a:prstGeom prst="rect">
            <a:avLst/>
          </a:prstGeom>
          <a:noFill/>
        </p:spPr>
        <p:txBody>
          <a:bodyPr wrap="square" lIns="41148" tIns="22860" rIns="41148" bIns="22860" anchor="ctr">
            <a:spAutoFit/>
          </a:bodyPr>
          <a:lstStyle/>
          <a:p>
            <a:pPr algn="ctr"/>
            <a:r>
              <a:rPr sz="800" b="1" i="0">
                <a:solidFill>
                  <a:srgbClr val="499D7E"/>
                </a:solidFill>
                <a:latin typeface="Aptos"/>
              </a:rPr>
              <a:t>✓</a:t>
            </a:r>
          </a:p>
        </p:txBody>
      </p:sp>
      <p:sp>
        <p:nvSpPr>
          <p:cNvPr id="58" name="TextBox 57"/>
          <p:cNvSpPr txBox="1"/>
          <p:nvPr/>
        </p:nvSpPr>
        <p:spPr>
          <a:xfrm>
            <a:off x="8951976" y="2459736"/>
            <a:ext cx="2331720" cy="310896"/>
          </a:xfrm>
          <a:prstGeom prst="rect">
            <a:avLst/>
          </a:prstGeom>
          <a:noFill/>
        </p:spPr>
        <p:txBody>
          <a:bodyPr wrap="square" lIns="41148" tIns="22860" rIns="41148" bIns="22860" anchor="t">
            <a:spAutoFit/>
          </a:bodyPr>
          <a:lstStyle/>
          <a:p>
            <a:pPr algn="l"/>
            <a:r>
              <a:rPr sz="1070" b="0" i="0">
                <a:solidFill>
                  <a:srgbClr val="273D4E"/>
                </a:solidFill>
                <a:latin typeface="Aptos"/>
              </a:rPr>
              <a:t>Manage users &amp; courses</a:t>
            </a:r>
          </a:p>
        </p:txBody>
      </p:sp>
      <p:sp>
        <p:nvSpPr>
          <p:cNvPr id="59" name="Oval 58"/>
          <p:cNvSpPr/>
          <p:nvPr/>
        </p:nvSpPr>
        <p:spPr>
          <a:xfrm>
            <a:off x="8531352" y="3054096"/>
            <a:ext cx="256032" cy="256032"/>
          </a:xfrm>
          <a:prstGeom prst="ellipse">
            <a:avLst/>
          </a:prstGeom>
          <a:solidFill>
            <a:srgbClr val="E1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8531352" y="3054096"/>
            <a:ext cx="256032" cy="256032"/>
          </a:xfrm>
          <a:prstGeom prst="rect">
            <a:avLst/>
          </a:prstGeom>
          <a:noFill/>
        </p:spPr>
        <p:txBody>
          <a:bodyPr wrap="square" lIns="41148" tIns="22860" rIns="41148" bIns="22860" anchor="ctr">
            <a:spAutoFit/>
          </a:bodyPr>
          <a:lstStyle/>
          <a:p>
            <a:pPr algn="ctr"/>
            <a:r>
              <a:rPr sz="800" b="1" i="0">
                <a:solidFill>
                  <a:srgbClr val="499D7E"/>
                </a:solidFill>
                <a:latin typeface="Aptos"/>
              </a:rPr>
              <a:t>✓</a:t>
            </a:r>
          </a:p>
        </p:txBody>
      </p:sp>
      <p:sp>
        <p:nvSpPr>
          <p:cNvPr id="61" name="TextBox 60"/>
          <p:cNvSpPr txBox="1"/>
          <p:nvPr/>
        </p:nvSpPr>
        <p:spPr>
          <a:xfrm>
            <a:off x="8951976" y="3026664"/>
            <a:ext cx="2331720" cy="310896"/>
          </a:xfrm>
          <a:prstGeom prst="rect">
            <a:avLst/>
          </a:prstGeom>
          <a:noFill/>
        </p:spPr>
        <p:txBody>
          <a:bodyPr wrap="square" lIns="41148" tIns="22860" rIns="41148" bIns="22860" anchor="t">
            <a:spAutoFit/>
          </a:bodyPr>
          <a:lstStyle/>
          <a:p>
            <a:pPr algn="l"/>
            <a:r>
              <a:rPr sz="1070" b="0" i="0">
                <a:solidFill>
                  <a:srgbClr val="273D4E"/>
                </a:solidFill>
                <a:latin typeface="Aptos"/>
              </a:rPr>
              <a:t>Create schedules &amp; rooms</a:t>
            </a:r>
          </a:p>
        </p:txBody>
      </p:sp>
      <p:sp>
        <p:nvSpPr>
          <p:cNvPr id="62" name="Oval 61"/>
          <p:cNvSpPr/>
          <p:nvPr/>
        </p:nvSpPr>
        <p:spPr>
          <a:xfrm>
            <a:off x="8531352" y="3621024"/>
            <a:ext cx="256032" cy="256032"/>
          </a:xfrm>
          <a:prstGeom prst="ellipse">
            <a:avLst/>
          </a:prstGeom>
          <a:solidFill>
            <a:srgbClr val="E1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8531352" y="3621024"/>
            <a:ext cx="256032" cy="256032"/>
          </a:xfrm>
          <a:prstGeom prst="rect">
            <a:avLst/>
          </a:prstGeom>
          <a:noFill/>
        </p:spPr>
        <p:txBody>
          <a:bodyPr wrap="square" lIns="41148" tIns="22860" rIns="41148" bIns="22860" anchor="ctr">
            <a:spAutoFit/>
          </a:bodyPr>
          <a:lstStyle/>
          <a:p>
            <a:pPr algn="ctr"/>
            <a:r>
              <a:rPr sz="800" b="1" i="0">
                <a:solidFill>
                  <a:srgbClr val="499D7E"/>
                </a:solidFill>
                <a:latin typeface="Aptos"/>
              </a:rPr>
              <a:t>✓</a:t>
            </a:r>
          </a:p>
        </p:txBody>
      </p:sp>
      <p:sp>
        <p:nvSpPr>
          <p:cNvPr id="64" name="TextBox 63"/>
          <p:cNvSpPr txBox="1"/>
          <p:nvPr/>
        </p:nvSpPr>
        <p:spPr>
          <a:xfrm>
            <a:off x="8951976" y="3593591"/>
            <a:ext cx="2331720" cy="310896"/>
          </a:xfrm>
          <a:prstGeom prst="rect">
            <a:avLst/>
          </a:prstGeom>
          <a:noFill/>
        </p:spPr>
        <p:txBody>
          <a:bodyPr wrap="square" lIns="41148" tIns="22860" rIns="41148" bIns="22860" anchor="t">
            <a:spAutoFit/>
          </a:bodyPr>
          <a:lstStyle/>
          <a:p>
            <a:pPr algn="l"/>
            <a:r>
              <a:rPr sz="1070" b="0" i="0">
                <a:solidFill>
                  <a:srgbClr val="273D4E"/>
                </a:solidFill>
                <a:latin typeface="Aptos"/>
              </a:rPr>
              <a:t>Manage capacities</a:t>
            </a:r>
          </a:p>
        </p:txBody>
      </p:sp>
      <p:sp>
        <p:nvSpPr>
          <p:cNvPr id="65" name="Oval 64"/>
          <p:cNvSpPr/>
          <p:nvPr/>
        </p:nvSpPr>
        <p:spPr>
          <a:xfrm>
            <a:off x="8531352" y="4187952"/>
            <a:ext cx="256032" cy="256032"/>
          </a:xfrm>
          <a:prstGeom prst="ellipse">
            <a:avLst/>
          </a:prstGeom>
          <a:solidFill>
            <a:srgbClr val="E1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8531352" y="4187952"/>
            <a:ext cx="256032" cy="256032"/>
          </a:xfrm>
          <a:prstGeom prst="rect">
            <a:avLst/>
          </a:prstGeom>
          <a:noFill/>
        </p:spPr>
        <p:txBody>
          <a:bodyPr wrap="square" lIns="41148" tIns="22860" rIns="41148" bIns="22860" anchor="ctr">
            <a:spAutoFit/>
          </a:bodyPr>
          <a:lstStyle/>
          <a:p>
            <a:pPr algn="ctr"/>
            <a:r>
              <a:rPr sz="800" b="1" i="0">
                <a:solidFill>
                  <a:srgbClr val="499D7E"/>
                </a:solidFill>
                <a:latin typeface="Aptos"/>
              </a:rPr>
              <a:t>✓</a:t>
            </a:r>
          </a:p>
        </p:txBody>
      </p:sp>
      <p:sp>
        <p:nvSpPr>
          <p:cNvPr id="67" name="TextBox 66"/>
          <p:cNvSpPr txBox="1"/>
          <p:nvPr/>
        </p:nvSpPr>
        <p:spPr>
          <a:xfrm>
            <a:off x="8951976" y="4160520"/>
            <a:ext cx="2331720" cy="310896"/>
          </a:xfrm>
          <a:prstGeom prst="rect">
            <a:avLst/>
          </a:prstGeom>
          <a:noFill/>
        </p:spPr>
        <p:txBody>
          <a:bodyPr wrap="square" lIns="41148" tIns="22860" rIns="41148" bIns="22860" anchor="t">
            <a:spAutoFit/>
          </a:bodyPr>
          <a:lstStyle/>
          <a:p>
            <a:pPr algn="l"/>
            <a:r>
              <a:rPr sz="1070" b="0" i="0">
                <a:solidFill>
                  <a:srgbClr val="273D4E"/>
                </a:solidFill>
                <a:latin typeface="Aptos"/>
              </a:rPr>
              <a:t>View reports</a:t>
            </a:r>
          </a:p>
        </p:txBody>
      </p:sp>
      <p:sp>
        <p:nvSpPr>
          <p:cNvPr id="68" name="Rounded Rectangle 67"/>
          <p:cNvSpPr/>
          <p:nvPr/>
        </p:nvSpPr>
        <p:spPr>
          <a:xfrm>
            <a:off x="8897112" y="5230368"/>
            <a:ext cx="2029968" cy="329184"/>
          </a:xfrm>
          <a:prstGeom prst="roundRect">
            <a:avLst>
              <a:gd name="adj" fmla="val 12000"/>
            </a:avLst>
          </a:prstGeom>
          <a:solidFill>
            <a:srgbClr val="EDECFC"/>
          </a:solidFill>
          <a:ln>
            <a:solidFill>
              <a:srgbClr val="EDEC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8915400" y="5248655"/>
            <a:ext cx="1993392" cy="274320"/>
          </a:xfrm>
          <a:prstGeom prst="rect">
            <a:avLst/>
          </a:prstGeom>
          <a:noFill/>
        </p:spPr>
        <p:txBody>
          <a:bodyPr wrap="square" lIns="41148" tIns="22860" rIns="41148" bIns="22860" anchor="ctr">
            <a:spAutoFit/>
          </a:bodyPr>
          <a:lstStyle/>
          <a:p>
            <a:pPr algn="ctr"/>
            <a:r>
              <a:rPr sz="850" b="1" i="0">
                <a:solidFill>
                  <a:srgbClr val="10395C"/>
                </a:solidFill>
                <a:latin typeface="Aptos"/>
              </a:rPr>
              <a:t>FULL CONTROL</a:t>
            </a:r>
          </a:p>
        </p:txBody>
      </p:sp>
      <p:sp>
        <p:nvSpPr>
          <p:cNvPr id="70" name="TextBox 69"/>
          <p:cNvSpPr txBox="1"/>
          <p:nvPr/>
        </p:nvSpPr>
        <p:spPr>
          <a:xfrm>
            <a:off x="2423160" y="6053328"/>
            <a:ext cx="7406640" cy="256032"/>
          </a:xfrm>
          <a:prstGeom prst="rect">
            <a:avLst/>
          </a:prstGeom>
          <a:noFill/>
        </p:spPr>
        <p:txBody>
          <a:bodyPr wrap="square" lIns="41148" tIns="22860" rIns="41148" bIns="22860" anchor="t">
            <a:spAutoFit/>
          </a:bodyPr>
          <a:lstStyle/>
          <a:p>
            <a:pPr algn="ctr"/>
            <a:r>
              <a:rPr sz="1150" b="1" i="0">
                <a:solidFill>
                  <a:srgbClr val="10395C"/>
                </a:solidFill>
                <a:latin typeface="Aptos"/>
              </a:rPr>
              <a:t>ROLE-BASED ACCESS → the right user sees the right actions</a:t>
            </a:r>
          </a:p>
        </p:txBody>
      </p:sp>
      <p:sp>
        <p:nvSpPr>
          <p:cNvPr id="71" name="TextBox 70"/>
          <p:cNvSpPr txBox="1"/>
          <p:nvPr/>
        </p:nvSpPr>
        <p:spPr>
          <a:xfrm>
            <a:off x="530352" y="6547104"/>
            <a:ext cx="4572000" cy="146304"/>
          </a:xfrm>
          <a:prstGeom prst="rect">
            <a:avLst/>
          </a:prstGeom>
          <a:noFill/>
        </p:spPr>
        <p:txBody>
          <a:bodyPr wrap="square" lIns="41148" tIns="22860" rIns="41148" bIns="22860" anchor="t">
            <a:spAutoFit/>
          </a:bodyPr>
          <a:lstStyle/>
          <a:p>
            <a:pPr algn="l"/>
            <a:r>
              <a:rPr sz="720" b="1" i="0">
                <a:solidFill>
                  <a:srgbClr val="5D7684"/>
                </a:solidFill>
                <a:latin typeface="Aptos"/>
              </a:rPr>
              <a:t>COURSE REGISTRATION &amp; TIMETABLE BUILDER</a:t>
            </a:r>
          </a:p>
        </p:txBody>
      </p:sp>
      <p:sp>
        <p:nvSpPr>
          <p:cNvPr id="72" name="TextBox 71"/>
          <p:cNvSpPr txBox="1"/>
          <p:nvPr/>
        </p:nvSpPr>
        <p:spPr>
          <a:xfrm>
            <a:off x="11201400" y="6510528"/>
            <a:ext cx="384048" cy="182880"/>
          </a:xfrm>
          <a:prstGeom prst="rect">
            <a:avLst/>
          </a:prstGeom>
          <a:noFill/>
        </p:spPr>
        <p:txBody>
          <a:bodyPr wrap="square" lIns="41148" tIns="22860" rIns="41148" bIns="22860" anchor="t">
            <a:spAutoFit/>
          </a:bodyPr>
          <a:lstStyle/>
          <a:p>
            <a:pPr algn="r"/>
            <a:r>
              <a:rPr sz="750" b="1" i="0">
                <a:solidFill>
                  <a:srgbClr val="5D7684"/>
                </a:solidFill>
                <a:latin typeface="Aptos"/>
              </a:rPr>
              <a:t>06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1FAFD"/>
        </a:solidFill>
        <a:effectLst/>
      </p:bgPr>
    </p:bg>
    <p:spTree>
      <p:nvGrpSpPr>
        <p:cNvPr id="1" name=""/>
        <p:cNvGrpSpPr/>
        <p:nvPr/>
      </p:nvGrpSpPr>
      <p:grpSpPr>
        <a:xfrm>
          <a:off x="0" y="0"/>
          <a:ext cx="0" cy="0"/>
          <a:chOff x="0" y="0"/>
          <a:chExt cx="0" cy="0"/>
        </a:xfrm>
      </p:grpSpPr>
      <p:sp>
        <p:nvSpPr>
          <p:cNvPr id="2" name="Oval 1"/>
          <p:cNvSpPr/>
          <p:nvPr/>
        </p:nvSpPr>
        <p:spPr>
          <a:xfrm>
            <a:off x="10652760" y="-411480"/>
            <a:ext cx="1920240" cy="1920240"/>
          </a:xfrm>
          <a:prstGeom prst="ellipse">
            <a:avLst/>
          </a:prstGeom>
          <a:solidFill>
            <a:srgbClr val="D7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9875520" y="5623560"/>
            <a:ext cx="2011680" cy="2011680"/>
          </a:xfrm>
          <a:prstGeom prst="ellipse">
            <a:avLst/>
          </a:prstGeom>
          <a:solidFill>
            <a:srgbClr val="E1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411480" y="5715000"/>
            <a:ext cx="1554480" cy="1554480"/>
          </a:xfrm>
          <a:prstGeom prst="ellipse">
            <a:avLst/>
          </a:prstGeom>
          <a:solidFill>
            <a:srgbClr val="EDE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rot="20100000">
            <a:off x="45720" y="91440"/>
            <a:ext cx="228600" cy="96012"/>
          </a:xfrm>
          <a:prstGeom prst="ellipse">
            <a:avLst/>
          </a:prstGeom>
          <a:solidFill>
            <a:srgbClr val="5BB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rot="1500000">
            <a:off x="246888" y="256032"/>
            <a:ext cx="256032" cy="107533"/>
          </a:xfrm>
          <a:prstGeom prst="ellipse">
            <a:avLst/>
          </a:prstGeom>
          <a:solidFill>
            <a:srgbClr val="2A79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rot="19500000">
            <a:off x="-100584" y="411479"/>
            <a:ext cx="219456" cy="92171"/>
          </a:xfrm>
          <a:prstGeom prst="ellipse">
            <a:avLst/>
          </a:prstGeom>
          <a:solidFill>
            <a:srgbClr val="5BB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rot="1500000">
            <a:off x="155448" y="566928"/>
            <a:ext cx="201168" cy="84490"/>
          </a:xfrm>
          <a:prstGeom prst="ellipse">
            <a:avLst/>
          </a:prstGeom>
          <a:solidFill>
            <a:srgbClr val="2A79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rot="19500000">
            <a:off x="-210312" y="685800"/>
            <a:ext cx="201168" cy="84490"/>
          </a:xfrm>
          <a:prstGeom prst="ellipse">
            <a:avLst/>
          </a:prstGeom>
          <a:solidFill>
            <a:srgbClr val="5BB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0" name="Connector 9"/>
          <p:cNvCxnSpPr/>
          <p:nvPr/>
        </p:nvCxnSpPr>
        <p:spPr>
          <a:xfrm flipH="1">
            <a:off x="64008" y="109728"/>
            <a:ext cx="73152" cy="758952"/>
          </a:xfrm>
          <a:prstGeom prst="line">
            <a:avLst/>
          </a:prstGeom>
          <a:ln w="13970">
            <a:solidFill>
              <a:srgbClr val="2A79A3"/>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502920" y="329184"/>
            <a:ext cx="502920" cy="329184"/>
          </a:xfrm>
          <a:prstGeom prst="roundRect">
            <a:avLst>
              <a:gd name="adj" fmla="val 12000"/>
            </a:avLst>
          </a:prstGeom>
          <a:solidFill>
            <a:srgbClr val="D7F0F8"/>
          </a:solidFill>
          <a:ln>
            <a:solidFill>
              <a:srgbClr val="D7F0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21208" y="347472"/>
            <a:ext cx="466344" cy="274320"/>
          </a:xfrm>
          <a:prstGeom prst="rect">
            <a:avLst/>
          </a:prstGeom>
          <a:noFill/>
        </p:spPr>
        <p:txBody>
          <a:bodyPr wrap="square" lIns="41148" tIns="22860" rIns="41148" bIns="22860" anchor="ctr">
            <a:spAutoFit/>
          </a:bodyPr>
          <a:lstStyle/>
          <a:p>
            <a:pPr algn="ctr"/>
            <a:r>
              <a:rPr sz="1000" b="1" i="0">
                <a:solidFill>
                  <a:srgbClr val="10395C"/>
                </a:solidFill>
                <a:latin typeface="Aptos"/>
              </a:rPr>
              <a:t>6</a:t>
            </a:r>
          </a:p>
        </p:txBody>
      </p:sp>
      <p:sp>
        <p:nvSpPr>
          <p:cNvPr id="13" name="TextBox 12"/>
          <p:cNvSpPr txBox="1"/>
          <p:nvPr/>
        </p:nvSpPr>
        <p:spPr>
          <a:xfrm>
            <a:off x="1115568" y="274320"/>
            <a:ext cx="9875520" cy="438912"/>
          </a:xfrm>
          <a:prstGeom prst="rect">
            <a:avLst/>
          </a:prstGeom>
          <a:noFill/>
        </p:spPr>
        <p:txBody>
          <a:bodyPr wrap="square" lIns="41148" tIns="22860" rIns="41148" bIns="22860" anchor="t">
            <a:spAutoFit/>
          </a:bodyPr>
          <a:lstStyle/>
          <a:p>
            <a:pPr algn="l"/>
            <a:r>
              <a:rPr sz="2300" b="1" i="0">
                <a:solidFill>
                  <a:srgbClr val="10395C"/>
                </a:solidFill>
                <a:latin typeface="Aptos"/>
              </a:rPr>
              <a:t>System Overview</a:t>
            </a:r>
          </a:p>
        </p:txBody>
      </p:sp>
      <p:sp>
        <p:nvSpPr>
          <p:cNvPr id="14" name="TextBox 13"/>
          <p:cNvSpPr txBox="1"/>
          <p:nvPr/>
        </p:nvSpPr>
        <p:spPr>
          <a:xfrm>
            <a:off x="1133856" y="758952"/>
            <a:ext cx="9418320" cy="274320"/>
          </a:xfrm>
          <a:prstGeom prst="rect">
            <a:avLst/>
          </a:prstGeom>
          <a:noFill/>
        </p:spPr>
        <p:txBody>
          <a:bodyPr wrap="square" lIns="41148" tIns="22860" rIns="41148" bIns="22860" anchor="t">
            <a:spAutoFit/>
          </a:bodyPr>
          <a:lstStyle/>
          <a:p>
            <a:pPr algn="l"/>
            <a:r>
              <a:rPr sz="1080" b="0" i="0">
                <a:solidFill>
                  <a:srgbClr val="5D7684"/>
                </a:solidFill>
                <a:latin typeface="Aptos"/>
              </a:rPr>
              <a:t>How the major modules fit together</a:t>
            </a:r>
          </a:p>
        </p:txBody>
      </p:sp>
      <p:sp>
        <p:nvSpPr>
          <p:cNvPr id="15" name="Rectangle 14"/>
          <p:cNvSpPr/>
          <p:nvPr/>
        </p:nvSpPr>
        <p:spPr>
          <a:xfrm>
            <a:off x="1133856" y="1060704"/>
            <a:ext cx="1051560" cy="32004"/>
          </a:xfrm>
          <a:prstGeom prst="rect">
            <a:avLst/>
          </a:prstGeom>
          <a:solidFill>
            <a:srgbClr val="5BB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594360" y="1417320"/>
            <a:ext cx="3456432" cy="1719072"/>
          </a:xfrm>
          <a:prstGeom prst="roundRect">
            <a:avLst>
              <a:gd name="adj" fmla="val 12000"/>
            </a:avLst>
          </a:prstGeom>
          <a:solidFill>
            <a:srgbClr val="FFFFFF"/>
          </a:solidFill>
          <a:ln>
            <a:solidFill>
              <a:srgbClr val="C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850392" y="1645920"/>
            <a:ext cx="2944368" cy="329184"/>
          </a:xfrm>
          <a:prstGeom prst="roundRect">
            <a:avLst>
              <a:gd name="adj" fmla="val 12000"/>
            </a:avLst>
          </a:prstGeom>
          <a:solidFill>
            <a:srgbClr val="D7F0F8"/>
          </a:solidFill>
          <a:ln>
            <a:solidFill>
              <a:srgbClr val="D7F0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68680" y="1664208"/>
            <a:ext cx="2907792" cy="274320"/>
          </a:xfrm>
          <a:prstGeom prst="rect">
            <a:avLst/>
          </a:prstGeom>
          <a:noFill/>
        </p:spPr>
        <p:txBody>
          <a:bodyPr wrap="square" lIns="41148" tIns="22860" rIns="41148" bIns="22860" anchor="ctr">
            <a:spAutoFit/>
          </a:bodyPr>
          <a:lstStyle/>
          <a:p>
            <a:pPr algn="ctr"/>
            <a:r>
              <a:rPr sz="880" b="1" i="0">
                <a:solidFill>
                  <a:srgbClr val="10395C"/>
                </a:solidFill>
                <a:latin typeface="Aptos"/>
              </a:rPr>
              <a:t>AUTHENTICATION</a:t>
            </a:r>
          </a:p>
        </p:txBody>
      </p:sp>
      <p:sp>
        <p:nvSpPr>
          <p:cNvPr id="19" name="TextBox 18"/>
          <p:cNvSpPr txBox="1"/>
          <p:nvPr/>
        </p:nvSpPr>
        <p:spPr>
          <a:xfrm>
            <a:off x="941832" y="2240280"/>
            <a:ext cx="2761488" cy="502920"/>
          </a:xfrm>
          <a:prstGeom prst="rect">
            <a:avLst/>
          </a:prstGeom>
          <a:noFill/>
        </p:spPr>
        <p:txBody>
          <a:bodyPr wrap="square" lIns="41148" tIns="22860" rIns="41148" bIns="22860" anchor="t">
            <a:spAutoFit/>
          </a:bodyPr>
          <a:lstStyle/>
          <a:p>
            <a:pPr algn="ctr"/>
            <a:r>
              <a:rPr sz="1060" b="0" i="0">
                <a:solidFill>
                  <a:srgbClr val="273D4E"/>
                </a:solidFill>
                <a:latin typeface="Aptos"/>
              </a:rPr>
              <a:t>Login • Register • Role access</a:t>
            </a:r>
          </a:p>
        </p:txBody>
      </p:sp>
      <p:sp>
        <p:nvSpPr>
          <p:cNvPr id="20" name="Oval 19"/>
          <p:cNvSpPr/>
          <p:nvPr/>
        </p:nvSpPr>
        <p:spPr>
          <a:xfrm>
            <a:off x="2084831" y="2724912"/>
            <a:ext cx="329184" cy="329184"/>
          </a:xfrm>
          <a:prstGeom prst="ellipse">
            <a:avLst/>
          </a:prstGeom>
          <a:solidFill>
            <a:srgbClr val="D7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084831" y="2724912"/>
            <a:ext cx="329184" cy="329184"/>
          </a:xfrm>
          <a:prstGeom prst="rect">
            <a:avLst/>
          </a:prstGeom>
          <a:noFill/>
        </p:spPr>
        <p:txBody>
          <a:bodyPr wrap="square" lIns="41148" tIns="22860" rIns="41148" bIns="22860" anchor="ctr">
            <a:spAutoFit/>
          </a:bodyPr>
          <a:lstStyle/>
          <a:p>
            <a:pPr algn="ctr"/>
            <a:r>
              <a:rPr sz="900" b="1" i="0">
                <a:solidFill>
                  <a:srgbClr val="2A79A3"/>
                </a:solidFill>
                <a:latin typeface="Aptos"/>
              </a:rPr>
              <a:t>1</a:t>
            </a:r>
          </a:p>
        </p:txBody>
      </p:sp>
      <p:sp>
        <p:nvSpPr>
          <p:cNvPr id="22" name="Rounded Rectangle 21"/>
          <p:cNvSpPr/>
          <p:nvPr/>
        </p:nvSpPr>
        <p:spPr>
          <a:xfrm>
            <a:off x="4389120" y="1417320"/>
            <a:ext cx="3456432" cy="1719072"/>
          </a:xfrm>
          <a:prstGeom prst="roundRect">
            <a:avLst>
              <a:gd name="adj" fmla="val 12000"/>
            </a:avLst>
          </a:prstGeom>
          <a:solidFill>
            <a:srgbClr val="FFFFFF"/>
          </a:solidFill>
          <a:ln>
            <a:solidFill>
              <a:srgbClr val="C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4645152" y="1645920"/>
            <a:ext cx="2944368" cy="329184"/>
          </a:xfrm>
          <a:prstGeom prst="roundRect">
            <a:avLst>
              <a:gd name="adj" fmla="val 12000"/>
            </a:avLst>
          </a:prstGeom>
          <a:solidFill>
            <a:srgbClr val="E1F8F1"/>
          </a:solidFill>
          <a:ln>
            <a:solidFill>
              <a:srgbClr val="E1F8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663440" y="1664208"/>
            <a:ext cx="2907792" cy="274320"/>
          </a:xfrm>
          <a:prstGeom prst="rect">
            <a:avLst/>
          </a:prstGeom>
          <a:noFill/>
        </p:spPr>
        <p:txBody>
          <a:bodyPr wrap="square" lIns="41148" tIns="22860" rIns="41148" bIns="22860" anchor="ctr">
            <a:spAutoFit/>
          </a:bodyPr>
          <a:lstStyle/>
          <a:p>
            <a:pPr algn="ctr"/>
            <a:r>
              <a:rPr sz="880" b="1" i="0">
                <a:solidFill>
                  <a:srgbClr val="10395C"/>
                </a:solidFill>
                <a:latin typeface="Aptos"/>
              </a:rPr>
              <a:t>COURSE CATALOG</a:t>
            </a:r>
          </a:p>
        </p:txBody>
      </p:sp>
      <p:sp>
        <p:nvSpPr>
          <p:cNvPr id="25" name="TextBox 24"/>
          <p:cNvSpPr txBox="1"/>
          <p:nvPr/>
        </p:nvSpPr>
        <p:spPr>
          <a:xfrm>
            <a:off x="4736592" y="2240280"/>
            <a:ext cx="2761488" cy="502920"/>
          </a:xfrm>
          <a:prstGeom prst="rect">
            <a:avLst/>
          </a:prstGeom>
          <a:noFill/>
        </p:spPr>
        <p:txBody>
          <a:bodyPr wrap="square" lIns="41148" tIns="22860" rIns="41148" bIns="22860" anchor="t">
            <a:spAutoFit/>
          </a:bodyPr>
          <a:lstStyle/>
          <a:p>
            <a:pPr algn="ctr"/>
            <a:r>
              <a:rPr sz="1060" b="0" i="0">
                <a:solidFill>
                  <a:srgbClr val="273D4E"/>
                </a:solidFill>
                <a:latin typeface="Aptos"/>
              </a:rPr>
              <a:t>Search • Filter • Details • Seats</a:t>
            </a:r>
          </a:p>
        </p:txBody>
      </p:sp>
      <p:sp>
        <p:nvSpPr>
          <p:cNvPr id="26" name="Oval 25"/>
          <p:cNvSpPr/>
          <p:nvPr/>
        </p:nvSpPr>
        <p:spPr>
          <a:xfrm>
            <a:off x="5879592" y="2724912"/>
            <a:ext cx="329184" cy="329184"/>
          </a:xfrm>
          <a:prstGeom prst="ellipse">
            <a:avLst/>
          </a:prstGeom>
          <a:solidFill>
            <a:srgbClr val="E1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879592" y="2724912"/>
            <a:ext cx="329184" cy="329184"/>
          </a:xfrm>
          <a:prstGeom prst="rect">
            <a:avLst/>
          </a:prstGeom>
          <a:noFill/>
        </p:spPr>
        <p:txBody>
          <a:bodyPr wrap="square" lIns="41148" tIns="22860" rIns="41148" bIns="22860" anchor="ctr">
            <a:spAutoFit/>
          </a:bodyPr>
          <a:lstStyle/>
          <a:p>
            <a:pPr algn="ctr"/>
            <a:r>
              <a:rPr sz="900" b="1" i="0">
                <a:solidFill>
                  <a:srgbClr val="499D7E"/>
                </a:solidFill>
                <a:latin typeface="Aptos"/>
              </a:rPr>
              <a:t>2</a:t>
            </a:r>
          </a:p>
        </p:txBody>
      </p:sp>
      <p:sp>
        <p:nvSpPr>
          <p:cNvPr id="28" name="Rounded Rectangle 27"/>
          <p:cNvSpPr/>
          <p:nvPr/>
        </p:nvSpPr>
        <p:spPr>
          <a:xfrm>
            <a:off x="8183880" y="1417320"/>
            <a:ext cx="3456432" cy="1719072"/>
          </a:xfrm>
          <a:prstGeom prst="roundRect">
            <a:avLst>
              <a:gd name="adj" fmla="val 12000"/>
            </a:avLst>
          </a:prstGeom>
          <a:solidFill>
            <a:srgbClr val="FFFFFF"/>
          </a:solidFill>
          <a:ln>
            <a:solidFill>
              <a:srgbClr val="C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8439912" y="1645920"/>
            <a:ext cx="2944368" cy="329184"/>
          </a:xfrm>
          <a:prstGeom prst="roundRect">
            <a:avLst>
              <a:gd name="adj" fmla="val 12000"/>
            </a:avLst>
          </a:prstGeom>
          <a:solidFill>
            <a:srgbClr val="EDECFC"/>
          </a:solidFill>
          <a:ln>
            <a:solidFill>
              <a:srgbClr val="EDEC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458200" y="1664208"/>
            <a:ext cx="2907792" cy="274320"/>
          </a:xfrm>
          <a:prstGeom prst="rect">
            <a:avLst/>
          </a:prstGeom>
          <a:noFill/>
        </p:spPr>
        <p:txBody>
          <a:bodyPr wrap="square" lIns="41148" tIns="22860" rIns="41148" bIns="22860" anchor="ctr">
            <a:spAutoFit/>
          </a:bodyPr>
          <a:lstStyle/>
          <a:p>
            <a:pPr algn="ctr"/>
            <a:r>
              <a:rPr sz="880" b="1" i="0">
                <a:solidFill>
                  <a:srgbClr val="10395C"/>
                </a:solidFill>
                <a:latin typeface="Aptos"/>
              </a:rPr>
              <a:t>TIMETABLE</a:t>
            </a:r>
          </a:p>
        </p:txBody>
      </p:sp>
      <p:sp>
        <p:nvSpPr>
          <p:cNvPr id="31" name="TextBox 30"/>
          <p:cNvSpPr txBox="1"/>
          <p:nvPr/>
        </p:nvSpPr>
        <p:spPr>
          <a:xfrm>
            <a:off x="8531352" y="2240280"/>
            <a:ext cx="2761488" cy="502920"/>
          </a:xfrm>
          <a:prstGeom prst="rect">
            <a:avLst/>
          </a:prstGeom>
          <a:noFill/>
        </p:spPr>
        <p:txBody>
          <a:bodyPr wrap="square" lIns="41148" tIns="22860" rIns="41148" bIns="22860" anchor="t">
            <a:spAutoFit/>
          </a:bodyPr>
          <a:lstStyle/>
          <a:p>
            <a:pPr algn="ctr"/>
            <a:r>
              <a:rPr sz="1060" b="0" i="0">
                <a:solidFill>
                  <a:srgbClr val="273D4E"/>
                </a:solidFill>
                <a:latin typeface="Aptos"/>
              </a:rPr>
              <a:t>Weekly view • Schedule builder</a:t>
            </a:r>
          </a:p>
        </p:txBody>
      </p:sp>
      <p:sp>
        <p:nvSpPr>
          <p:cNvPr id="32" name="Oval 31"/>
          <p:cNvSpPr/>
          <p:nvPr/>
        </p:nvSpPr>
        <p:spPr>
          <a:xfrm>
            <a:off x="9674352" y="2724912"/>
            <a:ext cx="329184" cy="329184"/>
          </a:xfrm>
          <a:prstGeom prst="ellipse">
            <a:avLst/>
          </a:prstGeom>
          <a:solidFill>
            <a:srgbClr val="EDE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9674352" y="2724912"/>
            <a:ext cx="329184" cy="329184"/>
          </a:xfrm>
          <a:prstGeom prst="rect">
            <a:avLst/>
          </a:prstGeom>
          <a:noFill/>
        </p:spPr>
        <p:txBody>
          <a:bodyPr wrap="square" lIns="41148" tIns="22860" rIns="41148" bIns="22860" anchor="ctr">
            <a:spAutoFit/>
          </a:bodyPr>
          <a:lstStyle/>
          <a:p>
            <a:pPr algn="ctr"/>
            <a:r>
              <a:rPr sz="900" b="1" i="0">
                <a:solidFill>
                  <a:srgbClr val="2A79A3"/>
                </a:solidFill>
                <a:latin typeface="Aptos"/>
              </a:rPr>
              <a:t>3</a:t>
            </a:r>
          </a:p>
        </p:txBody>
      </p:sp>
      <p:sp>
        <p:nvSpPr>
          <p:cNvPr id="34" name="Rounded Rectangle 33"/>
          <p:cNvSpPr/>
          <p:nvPr/>
        </p:nvSpPr>
        <p:spPr>
          <a:xfrm>
            <a:off x="594360" y="3474720"/>
            <a:ext cx="3456432" cy="1719072"/>
          </a:xfrm>
          <a:prstGeom prst="roundRect">
            <a:avLst>
              <a:gd name="adj" fmla="val 12000"/>
            </a:avLst>
          </a:prstGeom>
          <a:solidFill>
            <a:srgbClr val="FFFFFF"/>
          </a:solidFill>
          <a:ln>
            <a:solidFill>
              <a:srgbClr val="C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34"/>
          <p:cNvSpPr/>
          <p:nvPr/>
        </p:nvSpPr>
        <p:spPr>
          <a:xfrm>
            <a:off x="850392" y="3703320"/>
            <a:ext cx="2944368" cy="329184"/>
          </a:xfrm>
          <a:prstGeom prst="roundRect">
            <a:avLst>
              <a:gd name="adj" fmla="val 12000"/>
            </a:avLst>
          </a:prstGeom>
          <a:solidFill>
            <a:srgbClr val="FDEDE5"/>
          </a:solidFill>
          <a:ln>
            <a:solidFill>
              <a:srgbClr val="FDED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68680" y="3721607"/>
            <a:ext cx="2907792" cy="274320"/>
          </a:xfrm>
          <a:prstGeom prst="rect">
            <a:avLst/>
          </a:prstGeom>
          <a:noFill/>
        </p:spPr>
        <p:txBody>
          <a:bodyPr wrap="square" lIns="41148" tIns="22860" rIns="41148" bIns="22860" anchor="ctr">
            <a:spAutoFit/>
          </a:bodyPr>
          <a:lstStyle/>
          <a:p>
            <a:pPr algn="ctr"/>
            <a:r>
              <a:rPr sz="880" b="1" i="0">
                <a:solidFill>
                  <a:srgbClr val="10395C"/>
                </a:solidFill>
                <a:latin typeface="Aptos"/>
              </a:rPr>
              <a:t>VALIDATION</a:t>
            </a:r>
          </a:p>
        </p:txBody>
      </p:sp>
      <p:sp>
        <p:nvSpPr>
          <p:cNvPr id="37" name="TextBox 36"/>
          <p:cNvSpPr txBox="1"/>
          <p:nvPr/>
        </p:nvSpPr>
        <p:spPr>
          <a:xfrm>
            <a:off x="941832" y="4297680"/>
            <a:ext cx="2761488" cy="502920"/>
          </a:xfrm>
          <a:prstGeom prst="rect">
            <a:avLst/>
          </a:prstGeom>
          <a:noFill/>
        </p:spPr>
        <p:txBody>
          <a:bodyPr wrap="square" lIns="41148" tIns="22860" rIns="41148" bIns="22860" anchor="t">
            <a:spAutoFit/>
          </a:bodyPr>
          <a:lstStyle/>
          <a:p>
            <a:pPr algn="ctr"/>
            <a:r>
              <a:rPr sz="1060" b="0" i="0">
                <a:solidFill>
                  <a:srgbClr val="273D4E"/>
                </a:solidFill>
                <a:latin typeface="Aptos"/>
              </a:rPr>
              <a:t>Credits • Seats • Prerequisites • Clashes</a:t>
            </a:r>
          </a:p>
        </p:txBody>
      </p:sp>
      <p:sp>
        <p:nvSpPr>
          <p:cNvPr id="38" name="Oval 37"/>
          <p:cNvSpPr/>
          <p:nvPr/>
        </p:nvSpPr>
        <p:spPr>
          <a:xfrm>
            <a:off x="2084831" y="4782312"/>
            <a:ext cx="329184" cy="329184"/>
          </a:xfrm>
          <a:prstGeom prst="ellipse">
            <a:avLst/>
          </a:prstGeom>
          <a:solidFill>
            <a:srgbClr val="FDED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2084831" y="4782312"/>
            <a:ext cx="329184" cy="329184"/>
          </a:xfrm>
          <a:prstGeom prst="rect">
            <a:avLst/>
          </a:prstGeom>
          <a:noFill/>
        </p:spPr>
        <p:txBody>
          <a:bodyPr wrap="square" lIns="41148" tIns="22860" rIns="41148" bIns="22860" anchor="ctr">
            <a:spAutoFit/>
          </a:bodyPr>
          <a:lstStyle/>
          <a:p>
            <a:pPr algn="ctr"/>
            <a:r>
              <a:rPr sz="900" b="1" i="0">
                <a:solidFill>
                  <a:srgbClr val="499D7E"/>
                </a:solidFill>
                <a:latin typeface="Aptos"/>
              </a:rPr>
              <a:t>4</a:t>
            </a:r>
          </a:p>
        </p:txBody>
      </p:sp>
      <p:sp>
        <p:nvSpPr>
          <p:cNvPr id="40" name="Rounded Rectangle 39"/>
          <p:cNvSpPr/>
          <p:nvPr/>
        </p:nvSpPr>
        <p:spPr>
          <a:xfrm>
            <a:off x="4389120" y="3474720"/>
            <a:ext cx="3456432" cy="1719072"/>
          </a:xfrm>
          <a:prstGeom prst="roundRect">
            <a:avLst>
              <a:gd name="adj" fmla="val 12000"/>
            </a:avLst>
          </a:prstGeom>
          <a:solidFill>
            <a:srgbClr val="FFFFFF"/>
          </a:solidFill>
          <a:ln>
            <a:solidFill>
              <a:srgbClr val="C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ounded Rectangle 40"/>
          <p:cNvSpPr/>
          <p:nvPr/>
        </p:nvSpPr>
        <p:spPr>
          <a:xfrm>
            <a:off x="4645152" y="3703320"/>
            <a:ext cx="2944368" cy="329184"/>
          </a:xfrm>
          <a:prstGeom prst="roundRect">
            <a:avLst>
              <a:gd name="adj" fmla="val 12000"/>
            </a:avLst>
          </a:prstGeom>
          <a:solidFill>
            <a:srgbClr val="D7F0F8"/>
          </a:solidFill>
          <a:ln>
            <a:solidFill>
              <a:srgbClr val="D7F0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4663440" y="3721607"/>
            <a:ext cx="2907792" cy="274320"/>
          </a:xfrm>
          <a:prstGeom prst="rect">
            <a:avLst/>
          </a:prstGeom>
          <a:noFill/>
        </p:spPr>
        <p:txBody>
          <a:bodyPr wrap="square" lIns="41148" tIns="22860" rIns="41148" bIns="22860" anchor="ctr">
            <a:spAutoFit/>
          </a:bodyPr>
          <a:lstStyle/>
          <a:p>
            <a:pPr algn="ctr"/>
            <a:r>
              <a:rPr sz="880" b="1" i="0">
                <a:solidFill>
                  <a:srgbClr val="10395C"/>
                </a:solidFill>
                <a:latin typeface="Aptos"/>
              </a:rPr>
              <a:t>REGISTRATION</a:t>
            </a:r>
          </a:p>
        </p:txBody>
      </p:sp>
      <p:sp>
        <p:nvSpPr>
          <p:cNvPr id="43" name="TextBox 42"/>
          <p:cNvSpPr txBox="1"/>
          <p:nvPr/>
        </p:nvSpPr>
        <p:spPr>
          <a:xfrm>
            <a:off x="4736592" y="4297680"/>
            <a:ext cx="2761488" cy="502920"/>
          </a:xfrm>
          <a:prstGeom prst="rect">
            <a:avLst/>
          </a:prstGeom>
          <a:noFill/>
        </p:spPr>
        <p:txBody>
          <a:bodyPr wrap="square" lIns="41148" tIns="22860" rIns="41148" bIns="22860" anchor="t">
            <a:spAutoFit/>
          </a:bodyPr>
          <a:lstStyle/>
          <a:p>
            <a:pPr algn="ctr"/>
            <a:r>
              <a:rPr sz="1060" b="0" i="0">
                <a:solidFill>
                  <a:srgbClr val="273D4E"/>
                </a:solidFill>
                <a:latin typeface="Aptos"/>
              </a:rPr>
              <a:t>Add • Drop • Register • Confirmation</a:t>
            </a:r>
          </a:p>
        </p:txBody>
      </p:sp>
      <p:sp>
        <p:nvSpPr>
          <p:cNvPr id="44" name="Oval 43"/>
          <p:cNvSpPr/>
          <p:nvPr/>
        </p:nvSpPr>
        <p:spPr>
          <a:xfrm>
            <a:off x="5879592" y="4782312"/>
            <a:ext cx="329184" cy="329184"/>
          </a:xfrm>
          <a:prstGeom prst="ellipse">
            <a:avLst/>
          </a:prstGeom>
          <a:solidFill>
            <a:srgbClr val="D7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5879592" y="4782312"/>
            <a:ext cx="329184" cy="329184"/>
          </a:xfrm>
          <a:prstGeom prst="rect">
            <a:avLst/>
          </a:prstGeom>
          <a:noFill/>
        </p:spPr>
        <p:txBody>
          <a:bodyPr wrap="square" lIns="41148" tIns="22860" rIns="41148" bIns="22860" anchor="ctr">
            <a:spAutoFit/>
          </a:bodyPr>
          <a:lstStyle/>
          <a:p>
            <a:pPr algn="ctr"/>
            <a:r>
              <a:rPr sz="900" b="1" i="0">
                <a:solidFill>
                  <a:srgbClr val="2A79A3"/>
                </a:solidFill>
                <a:latin typeface="Aptos"/>
              </a:rPr>
              <a:t>5</a:t>
            </a:r>
          </a:p>
        </p:txBody>
      </p:sp>
      <p:sp>
        <p:nvSpPr>
          <p:cNvPr id="46" name="Rounded Rectangle 45"/>
          <p:cNvSpPr/>
          <p:nvPr/>
        </p:nvSpPr>
        <p:spPr>
          <a:xfrm>
            <a:off x="8183880" y="3474720"/>
            <a:ext cx="3456432" cy="1719072"/>
          </a:xfrm>
          <a:prstGeom prst="roundRect">
            <a:avLst>
              <a:gd name="adj" fmla="val 12000"/>
            </a:avLst>
          </a:prstGeom>
          <a:solidFill>
            <a:srgbClr val="FFFFFF"/>
          </a:solidFill>
          <a:ln>
            <a:solidFill>
              <a:srgbClr val="C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ounded Rectangle 46"/>
          <p:cNvSpPr/>
          <p:nvPr/>
        </p:nvSpPr>
        <p:spPr>
          <a:xfrm>
            <a:off x="8439912" y="3703320"/>
            <a:ext cx="2944368" cy="329184"/>
          </a:xfrm>
          <a:prstGeom prst="roundRect">
            <a:avLst>
              <a:gd name="adj" fmla="val 12000"/>
            </a:avLst>
          </a:prstGeom>
          <a:solidFill>
            <a:srgbClr val="E1F8F1"/>
          </a:solidFill>
          <a:ln>
            <a:solidFill>
              <a:srgbClr val="E1F8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8458200" y="3721607"/>
            <a:ext cx="2907792" cy="274320"/>
          </a:xfrm>
          <a:prstGeom prst="rect">
            <a:avLst/>
          </a:prstGeom>
          <a:noFill/>
        </p:spPr>
        <p:txBody>
          <a:bodyPr wrap="square" lIns="41148" tIns="22860" rIns="41148" bIns="22860" anchor="ctr">
            <a:spAutoFit/>
          </a:bodyPr>
          <a:lstStyle/>
          <a:p>
            <a:pPr algn="ctr"/>
            <a:r>
              <a:rPr sz="880" b="1" i="0">
                <a:solidFill>
                  <a:srgbClr val="10395C"/>
                </a:solidFill>
                <a:latin typeface="Aptos"/>
              </a:rPr>
              <a:t>ADMIN PANEL</a:t>
            </a:r>
          </a:p>
        </p:txBody>
      </p:sp>
      <p:sp>
        <p:nvSpPr>
          <p:cNvPr id="49" name="TextBox 48"/>
          <p:cNvSpPr txBox="1"/>
          <p:nvPr/>
        </p:nvSpPr>
        <p:spPr>
          <a:xfrm>
            <a:off x="8531352" y="4297680"/>
            <a:ext cx="2761488" cy="502920"/>
          </a:xfrm>
          <a:prstGeom prst="rect">
            <a:avLst/>
          </a:prstGeom>
          <a:noFill/>
        </p:spPr>
        <p:txBody>
          <a:bodyPr wrap="square" lIns="41148" tIns="22860" rIns="41148" bIns="22860" anchor="t">
            <a:spAutoFit/>
          </a:bodyPr>
          <a:lstStyle/>
          <a:p>
            <a:pPr algn="ctr"/>
            <a:r>
              <a:rPr sz="1060" b="0" i="0">
                <a:solidFill>
                  <a:srgbClr val="273D4E"/>
                </a:solidFill>
                <a:latin typeface="Aptos"/>
              </a:rPr>
              <a:t>Users • Courses • Faculty • Rooms • Reports</a:t>
            </a:r>
          </a:p>
        </p:txBody>
      </p:sp>
      <p:sp>
        <p:nvSpPr>
          <p:cNvPr id="50" name="Oval 49"/>
          <p:cNvSpPr/>
          <p:nvPr/>
        </p:nvSpPr>
        <p:spPr>
          <a:xfrm>
            <a:off x="9674352" y="4782312"/>
            <a:ext cx="329184" cy="329184"/>
          </a:xfrm>
          <a:prstGeom prst="ellipse">
            <a:avLst/>
          </a:prstGeom>
          <a:solidFill>
            <a:srgbClr val="E1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9674352" y="4782312"/>
            <a:ext cx="329184" cy="329184"/>
          </a:xfrm>
          <a:prstGeom prst="rect">
            <a:avLst/>
          </a:prstGeom>
          <a:noFill/>
        </p:spPr>
        <p:txBody>
          <a:bodyPr wrap="square" lIns="41148" tIns="22860" rIns="41148" bIns="22860" anchor="ctr">
            <a:spAutoFit/>
          </a:bodyPr>
          <a:lstStyle/>
          <a:p>
            <a:pPr algn="ctr"/>
            <a:r>
              <a:rPr sz="900" b="1" i="0">
                <a:solidFill>
                  <a:srgbClr val="499D7E"/>
                </a:solidFill>
                <a:latin typeface="Aptos"/>
              </a:rPr>
              <a:t>6</a:t>
            </a:r>
          </a:p>
        </p:txBody>
      </p:sp>
      <p:sp>
        <p:nvSpPr>
          <p:cNvPr id="52" name="TextBox 51"/>
          <p:cNvSpPr txBox="1"/>
          <p:nvPr/>
        </p:nvSpPr>
        <p:spPr>
          <a:xfrm>
            <a:off x="530352" y="6547104"/>
            <a:ext cx="4572000" cy="146304"/>
          </a:xfrm>
          <a:prstGeom prst="rect">
            <a:avLst/>
          </a:prstGeom>
          <a:noFill/>
        </p:spPr>
        <p:txBody>
          <a:bodyPr wrap="square" lIns="41148" tIns="22860" rIns="41148" bIns="22860" anchor="t">
            <a:spAutoFit/>
          </a:bodyPr>
          <a:lstStyle/>
          <a:p>
            <a:pPr algn="l"/>
            <a:r>
              <a:rPr sz="720" b="1" i="0">
                <a:solidFill>
                  <a:srgbClr val="5D7684"/>
                </a:solidFill>
                <a:latin typeface="Aptos"/>
              </a:rPr>
              <a:t>COURSE REGISTRATION &amp; TIMETABLE BUILDER</a:t>
            </a:r>
          </a:p>
        </p:txBody>
      </p:sp>
      <p:sp>
        <p:nvSpPr>
          <p:cNvPr id="53" name="TextBox 52"/>
          <p:cNvSpPr txBox="1"/>
          <p:nvPr/>
        </p:nvSpPr>
        <p:spPr>
          <a:xfrm>
            <a:off x="11201400" y="6510528"/>
            <a:ext cx="384048" cy="182880"/>
          </a:xfrm>
          <a:prstGeom prst="rect">
            <a:avLst/>
          </a:prstGeom>
          <a:noFill/>
        </p:spPr>
        <p:txBody>
          <a:bodyPr wrap="square" lIns="41148" tIns="22860" rIns="41148" bIns="22860" anchor="t">
            <a:spAutoFit/>
          </a:bodyPr>
          <a:lstStyle/>
          <a:p>
            <a:pPr algn="r"/>
            <a:r>
              <a:rPr sz="750" b="1" i="0">
                <a:solidFill>
                  <a:srgbClr val="5D7684"/>
                </a:solidFill>
                <a:latin typeface="Aptos"/>
              </a:rPr>
              <a:t>07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1FAFD"/>
        </a:solidFill>
        <a:effectLst/>
      </p:bgPr>
    </p:bg>
    <p:spTree>
      <p:nvGrpSpPr>
        <p:cNvPr id="1" name=""/>
        <p:cNvGrpSpPr/>
        <p:nvPr/>
      </p:nvGrpSpPr>
      <p:grpSpPr>
        <a:xfrm>
          <a:off x="0" y="0"/>
          <a:ext cx="0" cy="0"/>
          <a:chOff x="0" y="0"/>
          <a:chExt cx="0" cy="0"/>
        </a:xfrm>
      </p:grpSpPr>
      <p:sp>
        <p:nvSpPr>
          <p:cNvPr id="2" name="Oval 1"/>
          <p:cNvSpPr/>
          <p:nvPr/>
        </p:nvSpPr>
        <p:spPr>
          <a:xfrm>
            <a:off x="10652760" y="-411480"/>
            <a:ext cx="1920240" cy="1920240"/>
          </a:xfrm>
          <a:prstGeom prst="ellipse">
            <a:avLst/>
          </a:prstGeom>
          <a:solidFill>
            <a:srgbClr val="D7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9875520" y="5623560"/>
            <a:ext cx="2011680" cy="2011680"/>
          </a:xfrm>
          <a:prstGeom prst="ellipse">
            <a:avLst/>
          </a:prstGeom>
          <a:solidFill>
            <a:srgbClr val="E1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411480" y="5715000"/>
            <a:ext cx="1554480" cy="1554480"/>
          </a:xfrm>
          <a:prstGeom prst="ellipse">
            <a:avLst/>
          </a:prstGeom>
          <a:solidFill>
            <a:srgbClr val="EDE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rot="20100000">
            <a:off x="11292840" y="91440"/>
            <a:ext cx="228600" cy="96012"/>
          </a:xfrm>
          <a:prstGeom prst="ellipse">
            <a:avLst/>
          </a:prstGeom>
          <a:solidFill>
            <a:srgbClr val="5BB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rot="1500000">
            <a:off x="11494008" y="256032"/>
            <a:ext cx="256032" cy="107533"/>
          </a:xfrm>
          <a:prstGeom prst="ellipse">
            <a:avLst/>
          </a:prstGeom>
          <a:solidFill>
            <a:srgbClr val="2A79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rot="19500000">
            <a:off x="11146536" y="411479"/>
            <a:ext cx="219456" cy="92171"/>
          </a:xfrm>
          <a:prstGeom prst="ellipse">
            <a:avLst/>
          </a:prstGeom>
          <a:solidFill>
            <a:srgbClr val="5BB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rot="1500000">
            <a:off x="11402567" y="566928"/>
            <a:ext cx="201168" cy="84490"/>
          </a:xfrm>
          <a:prstGeom prst="ellipse">
            <a:avLst/>
          </a:prstGeom>
          <a:solidFill>
            <a:srgbClr val="2A79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rot="19500000">
            <a:off x="11036808" y="685800"/>
            <a:ext cx="201168" cy="84490"/>
          </a:xfrm>
          <a:prstGeom prst="ellipse">
            <a:avLst/>
          </a:prstGeom>
          <a:solidFill>
            <a:srgbClr val="5BB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0" name="Connector 9"/>
          <p:cNvCxnSpPr/>
          <p:nvPr/>
        </p:nvCxnSpPr>
        <p:spPr>
          <a:xfrm flipH="1">
            <a:off x="11311128" y="109728"/>
            <a:ext cx="73152" cy="758952"/>
          </a:xfrm>
          <a:prstGeom prst="line">
            <a:avLst/>
          </a:prstGeom>
          <a:ln w="13970">
            <a:solidFill>
              <a:srgbClr val="2A79A3"/>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502920" y="329184"/>
            <a:ext cx="502920" cy="329184"/>
          </a:xfrm>
          <a:prstGeom prst="roundRect">
            <a:avLst>
              <a:gd name="adj" fmla="val 12000"/>
            </a:avLst>
          </a:prstGeom>
          <a:solidFill>
            <a:srgbClr val="D7F0F8"/>
          </a:solidFill>
          <a:ln>
            <a:solidFill>
              <a:srgbClr val="D7F0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21208" y="347472"/>
            <a:ext cx="466344" cy="274320"/>
          </a:xfrm>
          <a:prstGeom prst="rect">
            <a:avLst/>
          </a:prstGeom>
          <a:noFill/>
        </p:spPr>
        <p:txBody>
          <a:bodyPr wrap="square" lIns="41148" tIns="22860" rIns="41148" bIns="22860" anchor="ctr">
            <a:spAutoFit/>
          </a:bodyPr>
          <a:lstStyle/>
          <a:p>
            <a:pPr algn="ctr"/>
            <a:r>
              <a:rPr sz="1000" b="1" i="0">
                <a:solidFill>
                  <a:srgbClr val="10395C"/>
                </a:solidFill>
                <a:latin typeface="Aptos"/>
              </a:rPr>
              <a:t>7</a:t>
            </a:r>
          </a:p>
        </p:txBody>
      </p:sp>
      <p:sp>
        <p:nvSpPr>
          <p:cNvPr id="13" name="TextBox 12"/>
          <p:cNvSpPr txBox="1"/>
          <p:nvPr/>
        </p:nvSpPr>
        <p:spPr>
          <a:xfrm>
            <a:off x="1115568" y="274320"/>
            <a:ext cx="9875520" cy="438912"/>
          </a:xfrm>
          <a:prstGeom prst="rect">
            <a:avLst/>
          </a:prstGeom>
          <a:noFill/>
        </p:spPr>
        <p:txBody>
          <a:bodyPr wrap="square" lIns="41148" tIns="22860" rIns="41148" bIns="22860" anchor="t">
            <a:spAutoFit/>
          </a:bodyPr>
          <a:lstStyle/>
          <a:p>
            <a:pPr algn="l"/>
            <a:r>
              <a:rPr sz="2300" b="1" i="0">
                <a:solidFill>
                  <a:srgbClr val="10395C"/>
                </a:solidFill>
                <a:latin typeface="Aptos"/>
              </a:rPr>
              <a:t>System Workflow</a:t>
            </a:r>
          </a:p>
        </p:txBody>
      </p:sp>
      <p:sp>
        <p:nvSpPr>
          <p:cNvPr id="14" name="TextBox 13"/>
          <p:cNvSpPr txBox="1"/>
          <p:nvPr/>
        </p:nvSpPr>
        <p:spPr>
          <a:xfrm>
            <a:off x="1133856" y="758952"/>
            <a:ext cx="9418320" cy="274320"/>
          </a:xfrm>
          <a:prstGeom prst="rect">
            <a:avLst/>
          </a:prstGeom>
          <a:noFill/>
        </p:spPr>
        <p:txBody>
          <a:bodyPr wrap="square" lIns="41148" tIns="22860" rIns="41148" bIns="22860" anchor="t">
            <a:spAutoFit/>
          </a:bodyPr>
          <a:lstStyle/>
          <a:p>
            <a:pPr algn="l"/>
            <a:r>
              <a:rPr sz="1080" b="0" i="0">
                <a:solidFill>
                  <a:srgbClr val="5D7684"/>
                </a:solidFill>
                <a:latin typeface="Aptos"/>
              </a:rPr>
              <a:t>From login to a completed registration</a:t>
            </a:r>
          </a:p>
        </p:txBody>
      </p:sp>
      <p:sp>
        <p:nvSpPr>
          <p:cNvPr id="15" name="Rectangle 14"/>
          <p:cNvSpPr/>
          <p:nvPr/>
        </p:nvSpPr>
        <p:spPr>
          <a:xfrm>
            <a:off x="1133856" y="1060704"/>
            <a:ext cx="1051560" cy="32004"/>
          </a:xfrm>
          <a:prstGeom prst="rect">
            <a:avLst/>
          </a:prstGeom>
          <a:solidFill>
            <a:srgbClr val="5BB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502920" y="1847088"/>
            <a:ext cx="1581912" cy="1024128"/>
          </a:xfrm>
          <a:prstGeom prst="roundRect">
            <a:avLst>
              <a:gd name="adj" fmla="val 12000"/>
            </a:avLst>
          </a:prstGeom>
          <a:solidFill>
            <a:srgbClr val="D7F0F8"/>
          </a:solidFill>
          <a:ln>
            <a:solidFill>
              <a:srgbClr val="D7F0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603504" y="1975104"/>
            <a:ext cx="365760" cy="36576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03504" y="1975104"/>
            <a:ext cx="365760" cy="365760"/>
          </a:xfrm>
          <a:prstGeom prst="rect">
            <a:avLst/>
          </a:prstGeom>
          <a:noFill/>
        </p:spPr>
        <p:txBody>
          <a:bodyPr wrap="square" lIns="41148" tIns="22860" rIns="41148" bIns="22860" anchor="ctr">
            <a:spAutoFit/>
          </a:bodyPr>
          <a:lstStyle/>
          <a:p>
            <a:pPr algn="ctr"/>
            <a:r>
              <a:rPr sz="900" b="1" i="0">
                <a:solidFill>
                  <a:srgbClr val="2A79A3"/>
                </a:solidFill>
                <a:latin typeface="Aptos"/>
              </a:rPr>
              <a:t>1</a:t>
            </a:r>
          </a:p>
        </p:txBody>
      </p:sp>
      <p:sp>
        <p:nvSpPr>
          <p:cNvPr id="19" name="TextBox 18"/>
          <p:cNvSpPr txBox="1"/>
          <p:nvPr/>
        </p:nvSpPr>
        <p:spPr>
          <a:xfrm>
            <a:off x="1033271" y="1993392"/>
            <a:ext cx="932688" cy="530352"/>
          </a:xfrm>
          <a:prstGeom prst="rect">
            <a:avLst/>
          </a:prstGeom>
          <a:noFill/>
        </p:spPr>
        <p:txBody>
          <a:bodyPr wrap="square" lIns="41148" tIns="22860" rIns="41148" bIns="22860" anchor="ctr">
            <a:spAutoFit/>
          </a:bodyPr>
          <a:lstStyle/>
          <a:p>
            <a:pPr algn="ctr"/>
            <a:r>
              <a:rPr sz="1030" b="1" i="0">
                <a:solidFill>
                  <a:srgbClr val="10395C"/>
                </a:solidFill>
                <a:latin typeface="Aptos"/>
              </a:rPr>
              <a:t>LOGIN</a:t>
            </a:r>
          </a:p>
        </p:txBody>
      </p:sp>
      <p:cxnSp>
        <p:nvCxnSpPr>
          <p:cNvPr id="20" name="Connector 19"/>
          <p:cNvCxnSpPr/>
          <p:nvPr/>
        </p:nvCxnSpPr>
        <p:spPr>
          <a:xfrm>
            <a:off x="2103120" y="2359152"/>
            <a:ext cx="283464" cy="0"/>
          </a:xfrm>
          <a:prstGeom prst="line">
            <a:avLst/>
          </a:prstGeom>
          <a:ln w="21590">
            <a:solidFill>
              <a:srgbClr val="5BBFCC"/>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2441448" y="1847088"/>
            <a:ext cx="1581912" cy="1024128"/>
          </a:xfrm>
          <a:prstGeom prst="roundRect">
            <a:avLst>
              <a:gd name="adj" fmla="val 12000"/>
            </a:avLst>
          </a:prstGeom>
          <a:solidFill>
            <a:srgbClr val="E1F8F1"/>
          </a:solidFill>
          <a:ln>
            <a:solidFill>
              <a:srgbClr val="E1F8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2542032" y="1975104"/>
            <a:ext cx="365760" cy="36576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2542032" y="1975104"/>
            <a:ext cx="365760" cy="365760"/>
          </a:xfrm>
          <a:prstGeom prst="rect">
            <a:avLst/>
          </a:prstGeom>
          <a:noFill/>
        </p:spPr>
        <p:txBody>
          <a:bodyPr wrap="square" lIns="41148" tIns="22860" rIns="41148" bIns="22860" anchor="ctr">
            <a:spAutoFit/>
          </a:bodyPr>
          <a:lstStyle/>
          <a:p>
            <a:pPr algn="ctr"/>
            <a:r>
              <a:rPr sz="900" b="1" i="0">
                <a:solidFill>
                  <a:srgbClr val="2A79A3"/>
                </a:solidFill>
                <a:latin typeface="Aptos"/>
              </a:rPr>
              <a:t>2</a:t>
            </a:r>
          </a:p>
        </p:txBody>
      </p:sp>
      <p:sp>
        <p:nvSpPr>
          <p:cNvPr id="24" name="TextBox 23"/>
          <p:cNvSpPr txBox="1"/>
          <p:nvPr/>
        </p:nvSpPr>
        <p:spPr>
          <a:xfrm>
            <a:off x="2971800" y="1993392"/>
            <a:ext cx="932688" cy="530352"/>
          </a:xfrm>
          <a:prstGeom prst="rect">
            <a:avLst/>
          </a:prstGeom>
          <a:noFill/>
        </p:spPr>
        <p:txBody>
          <a:bodyPr wrap="square" lIns="41148" tIns="22860" rIns="41148" bIns="22860" anchor="ctr">
            <a:spAutoFit/>
          </a:bodyPr>
          <a:lstStyle/>
          <a:p>
            <a:pPr algn="ctr"/>
            <a:r>
              <a:rPr sz="1030" b="1" i="0">
                <a:solidFill>
                  <a:srgbClr val="10395C"/>
                </a:solidFill>
                <a:latin typeface="Aptos"/>
              </a:rPr>
              <a:t>BROWSE
COURSES</a:t>
            </a:r>
          </a:p>
        </p:txBody>
      </p:sp>
      <p:cxnSp>
        <p:nvCxnSpPr>
          <p:cNvPr id="25" name="Connector 24"/>
          <p:cNvCxnSpPr/>
          <p:nvPr/>
        </p:nvCxnSpPr>
        <p:spPr>
          <a:xfrm>
            <a:off x="4041648" y="2359152"/>
            <a:ext cx="283464" cy="0"/>
          </a:xfrm>
          <a:prstGeom prst="line">
            <a:avLst/>
          </a:prstGeom>
          <a:ln w="21590">
            <a:solidFill>
              <a:srgbClr val="5BBFCC"/>
            </a:solidFill>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4379976" y="1847088"/>
            <a:ext cx="1581912" cy="1024128"/>
          </a:xfrm>
          <a:prstGeom prst="roundRect">
            <a:avLst>
              <a:gd name="adj" fmla="val 12000"/>
            </a:avLst>
          </a:prstGeom>
          <a:solidFill>
            <a:srgbClr val="EDECFC"/>
          </a:solidFill>
          <a:ln>
            <a:solidFill>
              <a:srgbClr val="EDEC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4480560" y="1975104"/>
            <a:ext cx="365760" cy="36576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480560" y="1975104"/>
            <a:ext cx="365760" cy="365760"/>
          </a:xfrm>
          <a:prstGeom prst="rect">
            <a:avLst/>
          </a:prstGeom>
          <a:noFill/>
        </p:spPr>
        <p:txBody>
          <a:bodyPr wrap="square" lIns="41148" tIns="22860" rIns="41148" bIns="22860" anchor="ctr">
            <a:spAutoFit/>
          </a:bodyPr>
          <a:lstStyle/>
          <a:p>
            <a:pPr algn="ctr"/>
            <a:r>
              <a:rPr sz="900" b="1" i="0">
                <a:solidFill>
                  <a:srgbClr val="2A79A3"/>
                </a:solidFill>
                <a:latin typeface="Aptos"/>
              </a:rPr>
              <a:t>3</a:t>
            </a:r>
          </a:p>
        </p:txBody>
      </p:sp>
      <p:sp>
        <p:nvSpPr>
          <p:cNvPr id="29" name="TextBox 28"/>
          <p:cNvSpPr txBox="1"/>
          <p:nvPr/>
        </p:nvSpPr>
        <p:spPr>
          <a:xfrm>
            <a:off x="4910328" y="1993392"/>
            <a:ext cx="932688" cy="530352"/>
          </a:xfrm>
          <a:prstGeom prst="rect">
            <a:avLst/>
          </a:prstGeom>
          <a:noFill/>
        </p:spPr>
        <p:txBody>
          <a:bodyPr wrap="square" lIns="41148" tIns="22860" rIns="41148" bIns="22860" anchor="ctr">
            <a:spAutoFit/>
          </a:bodyPr>
          <a:lstStyle/>
          <a:p>
            <a:pPr algn="ctr"/>
            <a:r>
              <a:rPr sz="1030" b="1" i="0">
                <a:solidFill>
                  <a:srgbClr val="10395C"/>
                </a:solidFill>
                <a:latin typeface="Aptos"/>
              </a:rPr>
              <a:t>SELECT
COURSES</a:t>
            </a:r>
          </a:p>
        </p:txBody>
      </p:sp>
      <p:cxnSp>
        <p:nvCxnSpPr>
          <p:cNvPr id="30" name="Connector 29"/>
          <p:cNvCxnSpPr/>
          <p:nvPr/>
        </p:nvCxnSpPr>
        <p:spPr>
          <a:xfrm>
            <a:off x="5980176" y="2359152"/>
            <a:ext cx="283464" cy="0"/>
          </a:xfrm>
          <a:prstGeom prst="line">
            <a:avLst/>
          </a:prstGeom>
          <a:ln w="21590">
            <a:solidFill>
              <a:srgbClr val="5BBFCC"/>
            </a:solidFill>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6318504" y="1847088"/>
            <a:ext cx="1581912" cy="1024128"/>
          </a:xfrm>
          <a:prstGeom prst="roundRect">
            <a:avLst>
              <a:gd name="adj" fmla="val 12000"/>
            </a:avLst>
          </a:prstGeom>
          <a:solidFill>
            <a:srgbClr val="FDEDE5"/>
          </a:solidFill>
          <a:ln>
            <a:solidFill>
              <a:srgbClr val="FDED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6419088" y="1975104"/>
            <a:ext cx="365760" cy="36576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419088" y="1975104"/>
            <a:ext cx="365760" cy="365760"/>
          </a:xfrm>
          <a:prstGeom prst="rect">
            <a:avLst/>
          </a:prstGeom>
          <a:noFill/>
        </p:spPr>
        <p:txBody>
          <a:bodyPr wrap="square" lIns="41148" tIns="22860" rIns="41148" bIns="22860" anchor="ctr">
            <a:spAutoFit/>
          </a:bodyPr>
          <a:lstStyle/>
          <a:p>
            <a:pPr algn="ctr"/>
            <a:r>
              <a:rPr sz="900" b="1" i="0">
                <a:solidFill>
                  <a:srgbClr val="2A79A3"/>
                </a:solidFill>
                <a:latin typeface="Aptos"/>
              </a:rPr>
              <a:t>4</a:t>
            </a:r>
          </a:p>
        </p:txBody>
      </p:sp>
      <p:sp>
        <p:nvSpPr>
          <p:cNvPr id="34" name="TextBox 33"/>
          <p:cNvSpPr txBox="1"/>
          <p:nvPr/>
        </p:nvSpPr>
        <p:spPr>
          <a:xfrm>
            <a:off x="6848856" y="1993392"/>
            <a:ext cx="932688" cy="530352"/>
          </a:xfrm>
          <a:prstGeom prst="rect">
            <a:avLst/>
          </a:prstGeom>
          <a:noFill/>
        </p:spPr>
        <p:txBody>
          <a:bodyPr wrap="square" lIns="41148" tIns="22860" rIns="41148" bIns="22860" anchor="ctr">
            <a:spAutoFit/>
          </a:bodyPr>
          <a:lstStyle/>
          <a:p>
            <a:pPr algn="ctr"/>
            <a:r>
              <a:rPr sz="1030" b="1" i="0">
                <a:solidFill>
                  <a:srgbClr val="10395C"/>
                </a:solidFill>
                <a:latin typeface="Aptos"/>
              </a:rPr>
              <a:t>CHECK
RULES</a:t>
            </a:r>
          </a:p>
        </p:txBody>
      </p:sp>
      <p:cxnSp>
        <p:nvCxnSpPr>
          <p:cNvPr id="35" name="Connector 34"/>
          <p:cNvCxnSpPr/>
          <p:nvPr/>
        </p:nvCxnSpPr>
        <p:spPr>
          <a:xfrm>
            <a:off x="7918704" y="2359152"/>
            <a:ext cx="283464" cy="0"/>
          </a:xfrm>
          <a:prstGeom prst="line">
            <a:avLst/>
          </a:prstGeom>
          <a:ln w="21590">
            <a:solidFill>
              <a:srgbClr val="5BBFCC"/>
            </a:solidFill>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8257032" y="1847088"/>
            <a:ext cx="1581912" cy="1024128"/>
          </a:xfrm>
          <a:prstGeom prst="roundRect">
            <a:avLst>
              <a:gd name="adj" fmla="val 12000"/>
            </a:avLst>
          </a:prstGeom>
          <a:solidFill>
            <a:srgbClr val="D7F0F8"/>
          </a:solidFill>
          <a:ln>
            <a:solidFill>
              <a:srgbClr val="D7F0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8357616" y="1975104"/>
            <a:ext cx="365760" cy="36576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8357616" y="1975104"/>
            <a:ext cx="365760" cy="365760"/>
          </a:xfrm>
          <a:prstGeom prst="rect">
            <a:avLst/>
          </a:prstGeom>
          <a:noFill/>
        </p:spPr>
        <p:txBody>
          <a:bodyPr wrap="square" lIns="41148" tIns="22860" rIns="41148" bIns="22860" anchor="ctr">
            <a:spAutoFit/>
          </a:bodyPr>
          <a:lstStyle/>
          <a:p>
            <a:pPr algn="ctr"/>
            <a:r>
              <a:rPr sz="900" b="1" i="0">
                <a:solidFill>
                  <a:srgbClr val="2A79A3"/>
                </a:solidFill>
                <a:latin typeface="Aptos"/>
              </a:rPr>
              <a:t>5</a:t>
            </a:r>
          </a:p>
        </p:txBody>
      </p:sp>
      <p:sp>
        <p:nvSpPr>
          <p:cNvPr id="39" name="TextBox 38"/>
          <p:cNvSpPr txBox="1"/>
          <p:nvPr/>
        </p:nvSpPr>
        <p:spPr>
          <a:xfrm>
            <a:off x="8787384" y="1993392"/>
            <a:ext cx="932688" cy="530352"/>
          </a:xfrm>
          <a:prstGeom prst="rect">
            <a:avLst/>
          </a:prstGeom>
          <a:noFill/>
        </p:spPr>
        <p:txBody>
          <a:bodyPr wrap="square" lIns="41148" tIns="22860" rIns="41148" bIns="22860" anchor="ctr">
            <a:spAutoFit/>
          </a:bodyPr>
          <a:lstStyle/>
          <a:p>
            <a:pPr algn="ctr"/>
            <a:r>
              <a:rPr sz="1030" b="1" i="0">
                <a:solidFill>
                  <a:srgbClr val="10395C"/>
                </a:solidFill>
                <a:latin typeface="Aptos"/>
              </a:rPr>
              <a:t>BUILD
TIMETABLE</a:t>
            </a:r>
          </a:p>
        </p:txBody>
      </p:sp>
      <p:cxnSp>
        <p:nvCxnSpPr>
          <p:cNvPr id="40" name="Connector 39"/>
          <p:cNvCxnSpPr/>
          <p:nvPr/>
        </p:nvCxnSpPr>
        <p:spPr>
          <a:xfrm>
            <a:off x="9857232" y="2359152"/>
            <a:ext cx="283464" cy="0"/>
          </a:xfrm>
          <a:prstGeom prst="line">
            <a:avLst/>
          </a:prstGeom>
          <a:ln w="21590">
            <a:solidFill>
              <a:srgbClr val="5BBFCC"/>
            </a:solidFill>
          </a:ln>
        </p:spPr>
        <p:style>
          <a:lnRef idx="2">
            <a:schemeClr val="accent1"/>
          </a:lnRef>
          <a:fillRef idx="0">
            <a:schemeClr val="accent1"/>
          </a:fillRef>
          <a:effectRef idx="1">
            <a:schemeClr val="accent1"/>
          </a:effectRef>
          <a:fontRef idx="minor">
            <a:schemeClr val="tx1"/>
          </a:fontRef>
        </p:style>
      </p:cxnSp>
      <p:sp>
        <p:nvSpPr>
          <p:cNvPr id="41" name="Rounded Rectangle 40"/>
          <p:cNvSpPr/>
          <p:nvPr/>
        </p:nvSpPr>
        <p:spPr>
          <a:xfrm>
            <a:off x="10195560" y="1847088"/>
            <a:ext cx="1581912" cy="1024128"/>
          </a:xfrm>
          <a:prstGeom prst="roundRect">
            <a:avLst>
              <a:gd name="adj" fmla="val 12000"/>
            </a:avLst>
          </a:prstGeom>
          <a:solidFill>
            <a:srgbClr val="E1F8F1"/>
          </a:solidFill>
          <a:ln>
            <a:solidFill>
              <a:srgbClr val="E1F8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10296144" y="1975104"/>
            <a:ext cx="365760" cy="36576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10296144" y="1975104"/>
            <a:ext cx="365760" cy="365760"/>
          </a:xfrm>
          <a:prstGeom prst="rect">
            <a:avLst/>
          </a:prstGeom>
          <a:noFill/>
        </p:spPr>
        <p:txBody>
          <a:bodyPr wrap="square" lIns="41148" tIns="22860" rIns="41148" bIns="22860" anchor="ctr">
            <a:spAutoFit/>
          </a:bodyPr>
          <a:lstStyle/>
          <a:p>
            <a:pPr algn="ctr"/>
            <a:r>
              <a:rPr sz="900" b="1" i="0">
                <a:solidFill>
                  <a:srgbClr val="2A79A3"/>
                </a:solidFill>
                <a:latin typeface="Aptos"/>
              </a:rPr>
              <a:t>6</a:t>
            </a:r>
          </a:p>
        </p:txBody>
      </p:sp>
      <p:sp>
        <p:nvSpPr>
          <p:cNvPr id="44" name="TextBox 43"/>
          <p:cNvSpPr txBox="1"/>
          <p:nvPr/>
        </p:nvSpPr>
        <p:spPr>
          <a:xfrm>
            <a:off x="10725912" y="1993392"/>
            <a:ext cx="932688" cy="530352"/>
          </a:xfrm>
          <a:prstGeom prst="rect">
            <a:avLst/>
          </a:prstGeom>
          <a:noFill/>
        </p:spPr>
        <p:txBody>
          <a:bodyPr wrap="square" lIns="41148" tIns="22860" rIns="41148" bIns="22860" anchor="ctr">
            <a:spAutoFit/>
          </a:bodyPr>
          <a:lstStyle/>
          <a:p>
            <a:pPr algn="ctr"/>
            <a:r>
              <a:rPr sz="1030" b="1" i="0">
                <a:solidFill>
                  <a:srgbClr val="10395C"/>
                </a:solidFill>
                <a:latin typeface="Aptos"/>
              </a:rPr>
              <a:t>REGISTER</a:t>
            </a:r>
          </a:p>
        </p:txBody>
      </p:sp>
      <p:sp>
        <p:nvSpPr>
          <p:cNvPr id="45" name="Rounded Rectangle 44"/>
          <p:cNvSpPr/>
          <p:nvPr/>
        </p:nvSpPr>
        <p:spPr>
          <a:xfrm>
            <a:off x="960120" y="3822191"/>
            <a:ext cx="10195560" cy="1115568"/>
          </a:xfrm>
          <a:prstGeom prst="roundRect">
            <a:avLst>
              <a:gd name="adj" fmla="val 12000"/>
            </a:avLst>
          </a:prstGeom>
          <a:solidFill>
            <a:srgbClr val="FFFFFF"/>
          </a:solidFill>
          <a:ln>
            <a:solidFill>
              <a:srgbClr val="C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1234440" y="4069080"/>
            <a:ext cx="1508760" cy="274320"/>
          </a:xfrm>
          <a:prstGeom prst="rect">
            <a:avLst/>
          </a:prstGeom>
          <a:noFill/>
        </p:spPr>
        <p:txBody>
          <a:bodyPr wrap="square" lIns="41148" tIns="22860" rIns="41148" bIns="22860" anchor="t">
            <a:spAutoFit/>
          </a:bodyPr>
          <a:lstStyle/>
          <a:p>
            <a:pPr algn="l"/>
            <a:r>
              <a:rPr sz="1150" b="1" i="0">
                <a:solidFill>
                  <a:srgbClr val="10395C"/>
                </a:solidFill>
                <a:latin typeface="Aptos"/>
              </a:rPr>
              <a:t>VALIDATION GATE</a:t>
            </a:r>
          </a:p>
        </p:txBody>
      </p:sp>
      <p:sp>
        <p:nvSpPr>
          <p:cNvPr id="47" name="Rounded Rectangle 46"/>
          <p:cNvSpPr/>
          <p:nvPr/>
        </p:nvSpPr>
        <p:spPr>
          <a:xfrm>
            <a:off x="2880360" y="4023360"/>
            <a:ext cx="1700784" cy="329184"/>
          </a:xfrm>
          <a:prstGeom prst="roundRect">
            <a:avLst>
              <a:gd name="adj" fmla="val 12000"/>
            </a:avLst>
          </a:prstGeom>
          <a:solidFill>
            <a:srgbClr val="D7F0F8"/>
          </a:solidFill>
          <a:ln>
            <a:solidFill>
              <a:srgbClr val="D7F0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2898648" y="4041648"/>
            <a:ext cx="1664208" cy="274320"/>
          </a:xfrm>
          <a:prstGeom prst="rect">
            <a:avLst/>
          </a:prstGeom>
          <a:noFill/>
        </p:spPr>
        <p:txBody>
          <a:bodyPr wrap="square" lIns="41148" tIns="22860" rIns="41148" bIns="22860" anchor="ctr">
            <a:spAutoFit/>
          </a:bodyPr>
          <a:lstStyle/>
          <a:p>
            <a:pPr algn="ctr"/>
            <a:r>
              <a:rPr sz="880" b="1" i="0">
                <a:solidFill>
                  <a:srgbClr val="10395C"/>
                </a:solidFill>
                <a:latin typeface="Aptos"/>
              </a:rPr>
              <a:t>✓ SEATS</a:t>
            </a:r>
          </a:p>
        </p:txBody>
      </p:sp>
      <p:sp>
        <p:nvSpPr>
          <p:cNvPr id="49" name="Rounded Rectangle 48"/>
          <p:cNvSpPr/>
          <p:nvPr/>
        </p:nvSpPr>
        <p:spPr>
          <a:xfrm>
            <a:off x="4873752" y="4023360"/>
            <a:ext cx="1700784" cy="329184"/>
          </a:xfrm>
          <a:prstGeom prst="roundRect">
            <a:avLst>
              <a:gd name="adj" fmla="val 12000"/>
            </a:avLst>
          </a:prstGeom>
          <a:solidFill>
            <a:srgbClr val="E1F8F1"/>
          </a:solidFill>
          <a:ln>
            <a:solidFill>
              <a:srgbClr val="E1F8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4892040" y="4041648"/>
            <a:ext cx="1664208" cy="274320"/>
          </a:xfrm>
          <a:prstGeom prst="rect">
            <a:avLst/>
          </a:prstGeom>
          <a:noFill/>
        </p:spPr>
        <p:txBody>
          <a:bodyPr wrap="square" lIns="41148" tIns="22860" rIns="41148" bIns="22860" anchor="ctr">
            <a:spAutoFit/>
          </a:bodyPr>
          <a:lstStyle/>
          <a:p>
            <a:pPr algn="ctr"/>
            <a:r>
              <a:rPr sz="880" b="1" i="0">
                <a:solidFill>
                  <a:srgbClr val="10395C"/>
                </a:solidFill>
                <a:latin typeface="Aptos"/>
              </a:rPr>
              <a:t>✓ CREDITS</a:t>
            </a:r>
          </a:p>
        </p:txBody>
      </p:sp>
      <p:sp>
        <p:nvSpPr>
          <p:cNvPr id="51" name="Rounded Rectangle 50"/>
          <p:cNvSpPr/>
          <p:nvPr/>
        </p:nvSpPr>
        <p:spPr>
          <a:xfrm>
            <a:off x="6867144" y="4023360"/>
            <a:ext cx="1700784" cy="329184"/>
          </a:xfrm>
          <a:prstGeom prst="roundRect">
            <a:avLst>
              <a:gd name="adj" fmla="val 12000"/>
            </a:avLst>
          </a:prstGeom>
          <a:solidFill>
            <a:srgbClr val="EDECFC"/>
          </a:solidFill>
          <a:ln>
            <a:solidFill>
              <a:srgbClr val="EDEC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6885431" y="4041648"/>
            <a:ext cx="1664208" cy="274320"/>
          </a:xfrm>
          <a:prstGeom prst="rect">
            <a:avLst/>
          </a:prstGeom>
          <a:noFill/>
        </p:spPr>
        <p:txBody>
          <a:bodyPr wrap="square" lIns="41148" tIns="22860" rIns="41148" bIns="22860" anchor="ctr">
            <a:spAutoFit/>
          </a:bodyPr>
          <a:lstStyle/>
          <a:p>
            <a:pPr algn="ctr"/>
            <a:r>
              <a:rPr sz="880" b="1" i="0">
                <a:solidFill>
                  <a:srgbClr val="10395C"/>
                </a:solidFill>
                <a:latin typeface="Aptos"/>
              </a:rPr>
              <a:t>✓ PREREQUISITES</a:t>
            </a:r>
          </a:p>
        </p:txBody>
      </p:sp>
      <p:sp>
        <p:nvSpPr>
          <p:cNvPr id="53" name="Rounded Rectangle 52"/>
          <p:cNvSpPr/>
          <p:nvPr/>
        </p:nvSpPr>
        <p:spPr>
          <a:xfrm>
            <a:off x="8860536" y="4023360"/>
            <a:ext cx="1700784" cy="329184"/>
          </a:xfrm>
          <a:prstGeom prst="roundRect">
            <a:avLst>
              <a:gd name="adj" fmla="val 12000"/>
            </a:avLst>
          </a:prstGeom>
          <a:solidFill>
            <a:srgbClr val="FDEDE5"/>
          </a:solidFill>
          <a:ln>
            <a:solidFill>
              <a:srgbClr val="FDED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8878824" y="4041648"/>
            <a:ext cx="1664208" cy="274320"/>
          </a:xfrm>
          <a:prstGeom prst="rect">
            <a:avLst/>
          </a:prstGeom>
          <a:noFill/>
        </p:spPr>
        <p:txBody>
          <a:bodyPr wrap="square" lIns="41148" tIns="22860" rIns="41148" bIns="22860" anchor="ctr">
            <a:spAutoFit/>
          </a:bodyPr>
          <a:lstStyle/>
          <a:p>
            <a:pPr algn="ctr"/>
            <a:r>
              <a:rPr sz="880" b="1" i="0">
                <a:solidFill>
                  <a:srgbClr val="10395C"/>
                </a:solidFill>
                <a:latin typeface="Aptos"/>
              </a:rPr>
              <a:t>✓ DAY / TIME</a:t>
            </a:r>
          </a:p>
        </p:txBody>
      </p:sp>
      <p:sp>
        <p:nvSpPr>
          <p:cNvPr id="55" name="TextBox 54"/>
          <p:cNvSpPr txBox="1"/>
          <p:nvPr/>
        </p:nvSpPr>
        <p:spPr>
          <a:xfrm>
            <a:off x="1600200" y="5376672"/>
            <a:ext cx="9052560" cy="274320"/>
          </a:xfrm>
          <a:prstGeom prst="rect">
            <a:avLst/>
          </a:prstGeom>
          <a:noFill/>
        </p:spPr>
        <p:txBody>
          <a:bodyPr wrap="square" lIns="41148" tIns="22860" rIns="41148" bIns="22860" anchor="t">
            <a:spAutoFit/>
          </a:bodyPr>
          <a:lstStyle/>
          <a:p>
            <a:pPr algn="ctr"/>
            <a:r>
              <a:rPr sz="1100" b="0" i="0">
                <a:solidFill>
                  <a:srgbClr val="5D7684"/>
                </a:solidFill>
                <a:latin typeface="Aptos"/>
              </a:rPr>
              <a:t>Final registration should occur only after the selected plan passes the required checks.</a:t>
            </a:r>
          </a:p>
        </p:txBody>
      </p:sp>
      <p:sp>
        <p:nvSpPr>
          <p:cNvPr id="56" name="TextBox 55"/>
          <p:cNvSpPr txBox="1"/>
          <p:nvPr/>
        </p:nvSpPr>
        <p:spPr>
          <a:xfrm>
            <a:off x="530352" y="6547104"/>
            <a:ext cx="4572000" cy="146304"/>
          </a:xfrm>
          <a:prstGeom prst="rect">
            <a:avLst/>
          </a:prstGeom>
          <a:noFill/>
        </p:spPr>
        <p:txBody>
          <a:bodyPr wrap="square" lIns="41148" tIns="22860" rIns="41148" bIns="22860" anchor="t">
            <a:spAutoFit/>
          </a:bodyPr>
          <a:lstStyle/>
          <a:p>
            <a:pPr algn="l"/>
            <a:r>
              <a:rPr sz="720" b="1" i="0">
                <a:solidFill>
                  <a:srgbClr val="5D7684"/>
                </a:solidFill>
                <a:latin typeface="Aptos"/>
              </a:rPr>
              <a:t>COURSE REGISTRATION &amp; TIMETABLE BUILDER</a:t>
            </a:r>
          </a:p>
        </p:txBody>
      </p:sp>
      <p:sp>
        <p:nvSpPr>
          <p:cNvPr id="57" name="TextBox 56"/>
          <p:cNvSpPr txBox="1"/>
          <p:nvPr/>
        </p:nvSpPr>
        <p:spPr>
          <a:xfrm>
            <a:off x="11201400" y="6510528"/>
            <a:ext cx="384048" cy="182880"/>
          </a:xfrm>
          <a:prstGeom prst="rect">
            <a:avLst/>
          </a:prstGeom>
          <a:noFill/>
        </p:spPr>
        <p:txBody>
          <a:bodyPr wrap="square" lIns="41148" tIns="22860" rIns="41148" bIns="22860" anchor="t">
            <a:spAutoFit/>
          </a:bodyPr>
          <a:lstStyle/>
          <a:p>
            <a:pPr algn="r"/>
            <a:r>
              <a:rPr sz="750" b="1" i="0">
                <a:solidFill>
                  <a:srgbClr val="5D7684"/>
                </a:solidFill>
                <a:latin typeface="Aptos"/>
              </a:rPr>
              <a:t>08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1FAFD"/>
        </a:solidFill>
        <a:effectLst/>
      </p:bgPr>
    </p:bg>
    <p:spTree>
      <p:nvGrpSpPr>
        <p:cNvPr id="1" name=""/>
        <p:cNvGrpSpPr/>
        <p:nvPr/>
      </p:nvGrpSpPr>
      <p:grpSpPr>
        <a:xfrm>
          <a:off x="0" y="0"/>
          <a:ext cx="0" cy="0"/>
          <a:chOff x="0" y="0"/>
          <a:chExt cx="0" cy="0"/>
        </a:xfrm>
      </p:grpSpPr>
      <p:sp>
        <p:nvSpPr>
          <p:cNvPr id="2" name="Oval 1"/>
          <p:cNvSpPr/>
          <p:nvPr/>
        </p:nvSpPr>
        <p:spPr>
          <a:xfrm>
            <a:off x="10652760" y="-411480"/>
            <a:ext cx="1920240" cy="1920240"/>
          </a:xfrm>
          <a:prstGeom prst="ellipse">
            <a:avLst/>
          </a:prstGeom>
          <a:solidFill>
            <a:srgbClr val="D7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9875520" y="5623560"/>
            <a:ext cx="2011680" cy="2011680"/>
          </a:xfrm>
          <a:prstGeom prst="ellipse">
            <a:avLst/>
          </a:prstGeom>
          <a:solidFill>
            <a:srgbClr val="E1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411480" y="5715000"/>
            <a:ext cx="1554480" cy="1554480"/>
          </a:xfrm>
          <a:prstGeom prst="ellipse">
            <a:avLst/>
          </a:prstGeom>
          <a:solidFill>
            <a:srgbClr val="EDE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rot="20100000">
            <a:off x="45720" y="91440"/>
            <a:ext cx="228600" cy="96012"/>
          </a:xfrm>
          <a:prstGeom prst="ellipse">
            <a:avLst/>
          </a:prstGeom>
          <a:solidFill>
            <a:srgbClr val="5BB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rot="1500000">
            <a:off x="246888" y="256032"/>
            <a:ext cx="256032" cy="107533"/>
          </a:xfrm>
          <a:prstGeom prst="ellipse">
            <a:avLst/>
          </a:prstGeom>
          <a:solidFill>
            <a:srgbClr val="2A79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rot="19500000">
            <a:off x="-100584" y="411479"/>
            <a:ext cx="219456" cy="92171"/>
          </a:xfrm>
          <a:prstGeom prst="ellipse">
            <a:avLst/>
          </a:prstGeom>
          <a:solidFill>
            <a:srgbClr val="5BB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rot="1500000">
            <a:off x="155448" y="566928"/>
            <a:ext cx="201168" cy="84490"/>
          </a:xfrm>
          <a:prstGeom prst="ellipse">
            <a:avLst/>
          </a:prstGeom>
          <a:solidFill>
            <a:srgbClr val="2A79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rot="19500000">
            <a:off x="-210312" y="685800"/>
            <a:ext cx="201168" cy="84490"/>
          </a:xfrm>
          <a:prstGeom prst="ellipse">
            <a:avLst/>
          </a:prstGeom>
          <a:solidFill>
            <a:srgbClr val="5BB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0" name="Connector 9"/>
          <p:cNvCxnSpPr/>
          <p:nvPr/>
        </p:nvCxnSpPr>
        <p:spPr>
          <a:xfrm flipH="1">
            <a:off x="64008" y="109728"/>
            <a:ext cx="73152" cy="758952"/>
          </a:xfrm>
          <a:prstGeom prst="line">
            <a:avLst/>
          </a:prstGeom>
          <a:ln w="13970">
            <a:solidFill>
              <a:srgbClr val="2A79A3"/>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502920" y="329184"/>
            <a:ext cx="502920" cy="329184"/>
          </a:xfrm>
          <a:prstGeom prst="roundRect">
            <a:avLst>
              <a:gd name="adj" fmla="val 12000"/>
            </a:avLst>
          </a:prstGeom>
          <a:solidFill>
            <a:srgbClr val="D7F0F8"/>
          </a:solidFill>
          <a:ln>
            <a:solidFill>
              <a:srgbClr val="D7F0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21208" y="347472"/>
            <a:ext cx="466344" cy="274320"/>
          </a:xfrm>
          <a:prstGeom prst="rect">
            <a:avLst/>
          </a:prstGeom>
          <a:noFill/>
        </p:spPr>
        <p:txBody>
          <a:bodyPr wrap="square" lIns="41148" tIns="22860" rIns="41148" bIns="22860" anchor="ctr">
            <a:spAutoFit/>
          </a:bodyPr>
          <a:lstStyle/>
          <a:p>
            <a:pPr algn="ctr"/>
            <a:r>
              <a:rPr sz="1000" b="1" i="0">
                <a:solidFill>
                  <a:srgbClr val="10395C"/>
                </a:solidFill>
                <a:latin typeface="Aptos"/>
              </a:rPr>
              <a:t>8</a:t>
            </a:r>
          </a:p>
        </p:txBody>
      </p:sp>
      <p:sp>
        <p:nvSpPr>
          <p:cNvPr id="13" name="TextBox 12"/>
          <p:cNvSpPr txBox="1"/>
          <p:nvPr/>
        </p:nvSpPr>
        <p:spPr>
          <a:xfrm>
            <a:off x="1115568" y="274320"/>
            <a:ext cx="9875520" cy="438912"/>
          </a:xfrm>
          <a:prstGeom prst="rect">
            <a:avLst/>
          </a:prstGeom>
          <a:noFill/>
        </p:spPr>
        <p:txBody>
          <a:bodyPr wrap="square" lIns="41148" tIns="22860" rIns="41148" bIns="22860" anchor="t">
            <a:spAutoFit/>
          </a:bodyPr>
          <a:lstStyle/>
          <a:p>
            <a:pPr algn="l"/>
            <a:r>
              <a:rPr sz="2300" b="1" i="0">
                <a:solidFill>
                  <a:srgbClr val="10395C"/>
                </a:solidFill>
                <a:latin typeface="Aptos"/>
              </a:rPr>
              <a:t>Main Website Pages</a:t>
            </a:r>
          </a:p>
        </p:txBody>
      </p:sp>
      <p:sp>
        <p:nvSpPr>
          <p:cNvPr id="14" name="TextBox 13"/>
          <p:cNvSpPr txBox="1"/>
          <p:nvPr/>
        </p:nvSpPr>
        <p:spPr>
          <a:xfrm>
            <a:off x="1133856" y="758952"/>
            <a:ext cx="9418320" cy="274320"/>
          </a:xfrm>
          <a:prstGeom prst="rect">
            <a:avLst/>
          </a:prstGeom>
          <a:noFill/>
        </p:spPr>
        <p:txBody>
          <a:bodyPr wrap="square" lIns="41148" tIns="22860" rIns="41148" bIns="22860" anchor="t">
            <a:spAutoFit/>
          </a:bodyPr>
          <a:lstStyle/>
          <a:p>
            <a:pPr algn="l"/>
            <a:r>
              <a:rPr sz="1080" b="0" i="0">
                <a:solidFill>
                  <a:srgbClr val="5D7684"/>
                </a:solidFill>
                <a:latin typeface="Aptos"/>
              </a:rPr>
              <a:t>A clear navigation structure for every user</a:t>
            </a:r>
          </a:p>
        </p:txBody>
      </p:sp>
      <p:sp>
        <p:nvSpPr>
          <p:cNvPr id="15" name="Rectangle 14"/>
          <p:cNvSpPr/>
          <p:nvPr/>
        </p:nvSpPr>
        <p:spPr>
          <a:xfrm>
            <a:off x="1133856" y="1060704"/>
            <a:ext cx="1051560" cy="32004"/>
          </a:xfrm>
          <a:prstGeom prst="rect">
            <a:avLst/>
          </a:prstGeom>
          <a:solidFill>
            <a:srgbClr val="5BB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594360" y="1389888"/>
            <a:ext cx="3456432" cy="1810512"/>
          </a:xfrm>
          <a:prstGeom prst="roundRect">
            <a:avLst>
              <a:gd name="adj" fmla="val 12000"/>
            </a:avLst>
          </a:prstGeom>
          <a:solidFill>
            <a:srgbClr val="FFFFFF"/>
          </a:solidFill>
          <a:ln>
            <a:solidFill>
              <a:srgbClr val="C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850392" y="1645920"/>
            <a:ext cx="530352" cy="530352"/>
          </a:xfrm>
          <a:prstGeom prst="ellipse">
            <a:avLst/>
          </a:prstGeom>
          <a:solidFill>
            <a:srgbClr val="D7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50392" y="1645920"/>
            <a:ext cx="530352" cy="530352"/>
          </a:xfrm>
          <a:prstGeom prst="rect">
            <a:avLst/>
          </a:prstGeom>
          <a:noFill/>
        </p:spPr>
        <p:txBody>
          <a:bodyPr wrap="square" lIns="41148" tIns="22860" rIns="41148" bIns="22860" anchor="ctr">
            <a:spAutoFit/>
          </a:bodyPr>
          <a:lstStyle/>
          <a:p>
            <a:pPr algn="ctr"/>
            <a:r>
              <a:rPr sz="1700" b="1" i="0">
                <a:solidFill>
                  <a:srgbClr val="2A79A3"/>
                </a:solidFill>
                <a:latin typeface="Aptos"/>
              </a:rPr>
              <a:t>⌂</a:t>
            </a:r>
          </a:p>
        </p:txBody>
      </p:sp>
      <p:sp>
        <p:nvSpPr>
          <p:cNvPr id="19" name="TextBox 18"/>
          <p:cNvSpPr txBox="1"/>
          <p:nvPr/>
        </p:nvSpPr>
        <p:spPr>
          <a:xfrm>
            <a:off x="1527048" y="1700784"/>
            <a:ext cx="2176272" cy="274320"/>
          </a:xfrm>
          <a:prstGeom prst="rect">
            <a:avLst/>
          </a:prstGeom>
          <a:noFill/>
        </p:spPr>
        <p:txBody>
          <a:bodyPr wrap="square" lIns="41148" tIns="22860" rIns="41148" bIns="22860" anchor="t">
            <a:spAutoFit/>
          </a:bodyPr>
          <a:lstStyle/>
          <a:p>
            <a:pPr algn="l"/>
            <a:r>
              <a:rPr sz="1180" b="1" i="0">
                <a:solidFill>
                  <a:srgbClr val="10395C"/>
                </a:solidFill>
                <a:latin typeface="Aptos"/>
              </a:rPr>
              <a:t>HOME / LOGIN</a:t>
            </a:r>
          </a:p>
        </p:txBody>
      </p:sp>
      <p:sp>
        <p:nvSpPr>
          <p:cNvPr id="20" name="TextBox 19"/>
          <p:cNvSpPr txBox="1"/>
          <p:nvPr/>
        </p:nvSpPr>
        <p:spPr>
          <a:xfrm>
            <a:off x="941832" y="2350008"/>
            <a:ext cx="2761488" cy="530352"/>
          </a:xfrm>
          <a:prstGeom prst="rect">
            <a:avLst/>
          </a:prstGeom>
          <a:noFill/>
        </p:spPr>
        <p:txBody>
          <a:bodyPr wrap="square" lIns="41148" tIns="22860" rIns="41148" bIns="22860" anchor="t">
            <a:spAutoFit/>
          </a:bodyPr>
          <a:lstStyle/>
          <a:p>
            <a:pPr algn="ctr"/>
            <a:r>
              <a:rPr sz="1030" b="0" i="0">
                <a:solidFill>
                  <a:srgbClr val="273D4E"/>
                </a:solidFill>
                <a:latin typeface="Aptos"/>
              </a:rPr>
              <a:t>Entry point
Sign in / Register</a:t>
            </a:r>
          </a:p>
        </p:txBody>
      </p:sp>
      <p:sp>
        <p:nvSpPr>
          <p:cNvPr id="21" name="Rounded Rectangle 20"/>
          <p:cNvSpPr/>
          <p:nvPr/>
        </p:nvSpPr>
        <p:spPr>
          <a:xfrm>
            <a:off x="4389120" y="1389888"/>
            <a:ext cx="3456432" cy="1810512"/>
          </a:xfrm>
          <a:prstGeom prst="roundRect">
            <a:avLst>
              <a:gd name="adj" fmla="val 12000"/>
            </a:avLst>
          </a:prstGeom>
          <a:solidFill>
            <a:srgbClr val="FFFFFF"/>
          </a:solidFill>
          <a:ln>
            <a:solidFill>
              <a:srgbClr val="C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4645152" y="1645920"/>
            <a:ext cx="530352" cy="530352"/>
          </a:xfrm>
          <a:prstGeom prst="ellipse">
            <a:avLst/>
          </a:prstGeom>
          <a:solidFill>
            <a:srgbClr val="E1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645152" y="1645920"/>
            <a:ext cx="530352" cy="530352"/>
          </a:xfrm>
          <a:prstGeom prst="rect">
            <a:avLst/>
          </a:prstGeom>
          <a:noFill/>
        </p:spPr>
        <p:txBody>
          <a:bodyPr wrap="square" lIns="41148" tIns="22860" rIns="41148" bIns="22860" anchor="ctr">
            <a:spAutoFit/>
          </a:bodyPr>
          <a:lstStyle/>
          <a:p>
            <a:pPr algn="ctr"/>
            <a:r>
              <a:rPr sz="1700" b="1" i="0">
                <a:solidFill>
                  <a:srgbClr val="2A79A3"/>
                </a:solidFill>
                <a:latin typeface="Aptos"/>
              </a:rPr>
              <a:t>S</a:t>
            </a:r>
          </a:p>
        </p:txBody>
      </p:sp>
      <p:sp>
        <p:nvSpPr>
          <p:cNvPr id="24" name="TextBox 23"/>
          <p:cNvSpPr txBox="1"/>
          <p:nvPr/>
        </p:nvSpPr>
        <p:spPr>
          <a:xfrm>
            <a:off x="5321808" y="1700784"/>
            <a:ext cx="2176272" cy="274320"/>
          </a:xfrm>
          <a:prstGeom prst="rect">
            <a:avLst/>
          </a:prstGeom>
          <a:noFill/>
        </p:spPr>
        <p:txBody>
          <a:bodyPr wrap="square" lIns="41148" tIns="22860" rIns="41148" bIns="22860" anchor="t">
            <a:spAutoFit/>
          </a:bodyPr>
          <a:lstStyle/>
          <a:p>
            <a:pPr algn="l"/>
            <a:r>
              <a:rPr sz="1180" b="1" i="0">
                <a:solidFill>
                  <a:srgbClr val="10395C"/>
                </a:solidFill>
                <a:latin typeface="Aptos"/>
              </a:rPr>
              <a:t>STUDENT DASHBOARD</a:t>
            </a:r>
          </a:p>
        </p:txBody>
      </p:sp>
      <p:sp>
        <p:nvSpPr>
          <p:cNvPr id="25" name="TextBox 24"/>
          <p:cNvSpPr txBox="1"/>
          <p:nvPr/>
        </p:nvSpPr>
        <p:spPr>
          <a:xfrm>
            <a:off x="4736592" y="2350008"/>
            <a:ext cx="2761488" cy="530352"/>
          </a:xfrm>
          <a:prstGeom prst="rect">
            <a:avLst/>
          </a:prstGeom>
          <a:noFill/>
        </p:spPr>
        <p:txBody>
          <a:bodyPr wrap="square" lIns="41148" tIns="22860" rIns="41148" bIns="22860" anchor="t">
            <a:spAutoFit/>
          </a:bodyPr>
          <a:lstStyle/>
          <a:p>
            <a:pPr algn="ctr"/>
            <a:r>
              <a:rPr sz="1030" b="0" i="0">
                <a:solidFill>
                  <a:srgbClr val="273D4E"/>
                </a:solidFill>
                <a:latin typeface="Aptos"/>
              </a:rPr>
              <a:t>Profile
Quick actions
Credits</a:t>
            </a:r>
          </a:p>
        </p:txBody>
      </p:sp>
      <p:sp>
        <p:nvSpPr>
          <p:cNvPr id="26" name="Rounded Rectangle 25"/>
          <p:cNvSpPr/>
          <p:nvPr/>
        </p:nvSpPr>
        <p:spPr>
          <a:xfrm>
            <a:off x="8183880" y="1389888"/>
            <a:ext cx="3456432" cy="1810512"/>
          </a:xfrm>
          <a:prstGeom prst="roundRect">
            <a:avLst>
              <a:gd name="adj" fmla="val 12000"/>
            </a:avLst>
          </a:prstGeom>
          <a:solidFill>
            <a:srgbClr val="FFFFFF"/>
          </a:solidFill>
          <a:ln>
            <a:solidFill>
              <a:srgbClr val="C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8439912" y="1645920"/>
            <a:ext cx="530352" cy="530352"/>
          </a:xfrm>
          <a:prstGeom prst="ellipse">
            <a:avLst/>
          </a:prstGeom>
          <a:solidFill>
            <a:srgbClr val="EDE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439912" y="1645920"/>
            <a:ext cx="530352" cy="530352"/>
          </a:xfrm>
          <a:prstGeom prst="rect">
            <a:avLst/>
          </a:prstGeom>
          <a:noFill/>
        </p:spPr>
        <p:txBody>
          <a:bodyPr wrap="square" lIns="41148" tIns="22860" rIns="41148" bIns="22860" anchor="ctr">
            <a:spAutoFit/>
          </a:bodyPr>
          <a:lstStyle/>
          <a:p>
            <a:pPr algn="ctr"/>
            <a:r>
              <a:rPr sz="1700" b="1" i="0">
                <a:solidFill>
                  <a:srgbClr val="2A79A3"/>
                </a:solidFill>
                <a:latin typeface="Aptos"/>
              </a:rPr>
              <a:t>C</a:t>
            </a:r>
          </a:p>
        </p:txBody>
      </p:sp>
      <p:sp>
        <p:nvSpPr>
          <p:cNvPr id="29" name="TextBox 28"/>
          <p:cNvSpPr txBox="1"/>
          <p:nvPr/>
        </p:nvSpPr>
        <p:spPr>
          <a:xfrm>
            <a:off x="9116568" y="1700784"/>
            <a:ext cx="2176272" cy="274320"/>
          </a:xfrm>
          <a:prstGeom prst="rect">
            <a:avLst/>
          </a:prstGeom>
          <a:noFill/>
        </p:spPr>
        <p:txBody>
          <a:bodyPr wrap="square" lIns="41148" tIns="22860" rIns="41148" bIns="22860" anchor="t">
            <a:spAutoFit/>
          </a:bodyPr>
          <a:lstStyle/>
          <a:p>
            <a:pPr algn="l"/>
            <a:r>
              <a:rPr sz="1180" b="1" i="0">
                <a:solidFill>
                  <a:srgbClr val="10395C"/>
                </a:solidFill>
                <a:latin typeface="Aptos"/>
              </a:rPr>
              <a:t>COURSE CATALOG</a:t>
            </a:r>
          </a:p>
        </p:txBody>
      </p:sp>
      <p:sp>
        <p:nvSpPr>
          <p:cNvPr id="30" name="TextBox 29"/>
          <p:cNvSpPr txBox="1"/>
          <p:nvPr/>
        </p:nvSpPr>
        <p:spPr>
          <a:xfrm>
            <a:off x="8531352" y="2350008"/>
            <a:ext cx="2761488" cy="530352"/>
          </a:xfrm>
          <a:prstGeom prst="rect">
            <a:avLst/>
          </a:prstGeom>
          <a:noFill/>
        </p:spPr>
        <p:txBody>
          <a:bodyPr wrap="square" lIns="41148" tIns="22860" rIns="41148" bIns="22860" anchor="t">
            <a:spAutoFit/>
          </a:bodyPr>
          <a:lstStyle/>
          <a:p>
            <a:pPr algn="ctr"/>
            <a:r>
              <a:rPr sz="1030" b="0" i="0">
                <a:solidFill>
                  <a:srgbClr val="273D4E"/>
                </a:solidFill>
                <a:latin typeface="Aptos"/>
              </a:rPr>
              <a:t>Search
Filters
Course details</a:t>
            </a:r>
          </a:p>
        </p:txBody>
      </p:sp>
      <p:sp>
        <p:nvSpPr>
          <p:cNvPr id="31" name="Rounded Rectangle 30"/>
          <p:cNvSpPr/>
          <p:nvPr/>
        </p:nvSpPr>
        <p:spPr>
          <a:xfrm>
            <a:off x="594360" y="3538728"/>
            <a:ext cx="3456432" cy="1810512"/>
          </a:xfrm>
          <a:prstGeom prst="roundRect">
            <a:avLst>
              <a:gd name="adj" fmla="val 12000"/>
            </a:avLst>
          </a:prstGeom>
          <a:solidFill>
            <a:srgbClr val="FFFFFF"/>
          </a:solidFill>
          <a:ln>
            <a:solidFill>
              <a:srgbClr val="C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850392" y="3794760"/>
            <a:ext cx="530352" cy="530352"/>
          </a:xfrm>
          <a:prstGeom prst="ellipse">
            <a:avLst/>
          </a:prstGeom>
          <a:solidFill>
            <a:srgbClr val="FDED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50392" y="3794760"/>
            <a:ext cx="530352" cy="530352"/>
          </a:xfrm>
          <a:prstGeom prst="rect">
            <a:avLst/>
          </a:prstGeom>
          <a:noFill/>
        </p:spPr>
        <p:txBody>
          <a:bodyPr wrap="square" lIns="41148" tIns="22860" rIns="41148" bIns="22860" anchor="ctr">
            <a:spAutoFit/>
          </a:bodyPr>
          <a:lstStyle/>
          <a:p>
            <a:pPr algn="ctr"/>
            <a:r>
              <a:rPr sz="1700" b="1" i="0">
                <a:solidFill>
                  <a:srgbClr val="2A79A3"/>
                </a:solidFill>
                <a:latin typeface="Aptos"/>
              </a:rPr>
              <a:t>T</a:t>
            </a:r>
          </a:p>
        </p:txBody>
      </p:sp>
      <p:sp>
        <p:nvSpPr>
          <p:cNvPr id="34" name="TextBox 33"/>
          <p:cNvSpPr txBox="1"/>
          <p:nvPr/>
        </p:nvSpPr>
        <p:spPr>
          <a:xfrm>
            <a:off x="1527048" y="3849624"/>
            <a:ext cx="2176272" cy="274320"/>
          </a:xfrm>
          <a:prstGeom prst="rect">
            <a:avLst/>
          </a:prstGeom>
          <a:noFill/>
        </p:spPr>
        <p:txBody>
          <a:bodyPr wrap="square" lIns="41148" tIns="22860" rIns="41148" bIns="22860" anchor="t">
            <a:spAutoFit/>
          </a:bodyPr>
          <a:lstStyle/>
          <a:p>
            <a:pPr algn="l"/>
            <a:r>
              <a:rPr sz="1180" b="1" i="0">
                <a:solidFill>
                  <a:srgbClr val="10395C"/>
                </a:solidFill>
                <a:latin typeface="Aptos"/>
              </a:rPr>
              <a:t>TIMETABLE</a:t>
            </a:r>
          </a:p>
        </p:txBody>
      </p:sp>
      <p:sp>
        <p:nvSpPr>
          <p:cNvPr id="35" name="TextBox 34"/>
          <p:cNvSpPr txBox="1"/>
          <p:nvPr/>
        </p:nvSpPr>
        <p:spPr>
          <a:xfrm>
            <a:off x="941832" y="4498848"/>
            <a:ext cx="2761488" cy="530352"/>
          </a:xfrm>
          <a:prstGeom prst="rect">
            <a:avLst/>
          </a:prstGeom>
          <a:noFill/>
        </p:spPr>
        <p:txBody>
          <a:bodyPr wrap="square" lIns="41148" tIns="22860" rIns="41148" bIns="22860" anchor="t">
            <a:spAutoFit/>
          </a:bodyPr>
          <a:lstStyle/>
          <a:p>
            <a:pPr algn="ctr"/>
            <a:r>
              <a:rPr sz="1030" b="0" i="0">
                <a:solidFill>
                  <a:srgbClr val="273D4E"/>
                </a:solidFill>
                <a:latin typeface="Aptos"/>
              </a:rPr>
              <a:t>Weekly view
Clash warnings</a:t>
            </a:r>
          </a:p>
        </p:txBody>
      </p:sp>
      <p:sp>
        <p:nvSpPr>
          <p:cNvPr id="36" name="Rounded Rectangle 35"/>
          <p:cNvSpPr/>
          <p:nvPr/>
        </p:nvSpPr>
        <p:spPr>
          <a:xfrm>
            <a:off x="4389120" y="3538728"/>
            <a:ext cx="3456432" cy="1810512"/>
          </a:xfrm>
          <a:prstGeom prst="roundRect">
            <a:avLst>
              <a:gd name="adj" fmla="val 12000"/>
            </a:avLst>
          </a:prstGeom>
          <a:solidFill>
            <a:srgbClr val="FFFFFF"/>
          </a:solidFill>
          <a:ln>
            <a:solidFill>
              <a:srgbClr val="C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4645152" y="3794760"/>
            <a:ext cx="530352" cy="530352"/>
          </a:xfrm>
          <a:prstGeom prst="ellipse">
            <a:avLst/>
          </a:prstGeom>
          <a:solidFill>
            <a:srgbClr val="D7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4645152" y="3794760"/>
            <a:ext cx="530352" cy="530352"/>
          </a:xfrm>
          <a:prstGeom prst="rect">
            <a:avLst/>
          </a:prstGeom>
          <a:noFill/>
        </p:spPr>
        <p:txBody>
          <a:bodyPr wrap="square" lIns="41148" tIns="22860" rIns="41148" bIns="22860" anchor="ctr">
            <a:spAutoFit/>
          </a:bodyPr>
          <a:lstStyle/>
          <a:p>
            <a:pPr algn="ctr"/>
            <a:r>
              <a:rPr sz="1700" b="1" i="0">
                <a:solidFill>
                  <a:srgbClr val="2A79A3"/>
                </a:solidFill>
                <a:latin typeface="Aptos"/>
              </a:rPr>
              <a:t>M</a:t>
            </a:r>
          </a:p>
        </p:txBody>
      </p:sp>
      <p:sp>
        <p:nvSpPr>
          <p:cNvPr id="39" name="TextBox 38"/>
          <p:cNvSpPr txBox="1"/>
          <p:nvPr/>
        </p:nvSpPr>
        <p:spPr>
          <a:xfrm>
            <a:off x="5321808" y="3849624"/>
            <a:ext cx="2176272" cy="274320"/>
          </a:xfrm>
          <a:prstGeom prst="rect">
            <a:avLst/>
          </a:prstGeom>
          <a:noFill/>
        </p:spPr>
        <p:txBody>
          <a:bodyPr wrap="square" lIns="41148" tIns="22860" rIns="41148" bIns="22860" anchor="t">
            <a:spAutoFit/>
          </a:bodyPr>
          <a:lstStyle/>
          <a:p>
            <a:pPr algn="l"/>
            <a:r>
              <a:rPr sz="1180" b="1" i="0">
                <a:solidFill>
                  <a:srgbClr val="10395C"/>
                </a:solidFill>
                <a:latin typeface="Aptos"/>
              </a:rPr>
              <a:t>MY COURSES</a:t>
            </a:r>
          </a:p>
        </p:txBody>
      </p:sp>
      <p:sp>
        <p:nvSpPr>
          <p:cNvPr id="40" name="TextBox 39"/>
          <p:cNvSpPr txBox="1"/>
          <p:nvPr/>
        </p:nvSpPr>
        <p:spPr>
          <a:xfrm>
            <a:off x="4736592" y="4498848"/>
            <a:ext cx="2761488" cy="530352"/>
          </a:xfrm>
          <a:prstGeom prst="rect">
            <a:avLst/>
          </a:prstGeom>
          <a:noFill/>
        </p:spPr>
        <p:txBody>
          <a:bodyPr wrap="square" lIns="41148" tIns="22860" rIns="41148" bIns="22860" anchor="t">
            <a:spAutoFit/>
          </a:bodyPr>
          <a:lstStyle/>
          <a:p>
            <a:pPr algn="ctr"/>
            <a:r>
              <a:rPr sz="1030" b="0" i="0">
                <a:solidFill>
                  <a:srgbClr val="273D4E"/>
                </a:solidFill>
                <a:latin typeface="Aptos"/>
              </a:rPr>
              <a:t>Registered courses
Drop course</a:t>
            </a:r>
          </a:p>
        </p:txBody>
      </p:sp>
      <p:sp>
        <p:nvSpPr>
          <p:cNvPr id="41" name="Rounded Rectangle 40"/>
          <p:cNvSpPr/>
          <p:nvPr/>
        </p:nvSpPr>
        <p:spPr>
          <a:xfrm>
            <a:off x="8183880" y="3538728"/>
            <a:ext cx="3456432" cy="1810512"/>
          </a:xfrm>
          <a:prstGeom prst="roundRect">
            <a:avLst>
              <a:gd name="adj" fmla="val 12000"/>
            </a:avLst>
          </a:prstGeom>
          <a:solidFill>
            <a:srgbClr val="FFFFFF"/>
          </a:solidFill>
          <a:ln>
            <a:solidFill>
              <a:srgbClr val="C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8439912" y="3794760"/>
            <a:ext cx="530352" cy="530352"/>
          </a:xfrm>
          <a:prstGeom prst="ellipse">
            <a:avLst/>
          </a:prstGeom>
          <a:solidFill>
            <a:srgbClr val="E1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8439912" y="3794760"/>
            <a:ext cx="530352" cy="530352"/>
          </a:xfrm>
          <a:prstGeom prst="rect">
            <a:avLst/>
          </a:prstGeom>
          <a:noFill/>
        </p:spPr>
        <p:txBody>
          <a:bodyPr wrap="square" lIns="41148" tIns="22860" rIns="41148" bIns="22860" anchor="ctr">
            <a:spAutoFit/>
          </a:bodyPr>
          <a:lstStyle/>
          <a:p>
            <a:pPr algn="ctr"/>
            <a:r>
              <a:rPr sz="1700" b="1" i="0">
                <a:solidFill>
                  <a:srgbClr val="2A79A3"/>
                </a:solidFill>
                <a:latin typeface="Aptos"/>
              </a:rPr>
              <a:t>A</a:t>
            </a:r>
          </a:p>
        </p:txBody>
      </p:sp>
      <p:sp>
        <p:nvSpPr>
          <p:cNvPr id="44" name="TextBox 43"/>
          <p:cNvSpPr txBox="1"/>
          <p:nvPr/>
        </p:nvSpPr>
        <p:spPr>
          <a:xfrm>
            <a:off x="9116568" y="3849624"/>
            <a:ext cx="2176272" cy="274320"/>
          </a:xfrm>
          <a:prstGeom prst="rect">
            <a:avLst/>
          </a:prstGeom>
          <a:noFill/>
        </p:spPr>
        <p:txBody>
          <a:bodyPr wrap="square" lIns="41148" tIns="22860" rIns="41148" bIns="22860" anchor="t">
            <a:spAutoFit/>
          </a:bodyPr>
          <a:lstStyle/>
          <a:p>
            <a:pPr algn="l"/>
            <a:r>
              <a:rPr sz="1180" b="1" i="0">
                <a:solidFill>
                  <a:srgbClr val="10395C"/>
                </a:solidFill>
                <a:latin typeface="Aptos"/>
              </a:rPr>
              <a:t>ADMIN DASHBOARD</a:t>
            </a:r>
          </a:p>
        </p:txBody>
      </p:sp>
      <p:sp>
        <p:nvSpPr>
          <p:cNvPr id="45" name="TextBox 44"/>
          <p:cNvSpPr txBox="1"/>
          <p:nvPr/>
        </p:nvSpPr>
        <p:spPr>
          <a:xfrm>
            <a:off x="8531352" y="4498848"/>
            <a:ext cx="2761488" cy="530352"/>
          </a:xfrm>
          <a:prstGeom prst="rect">
            <a:avLst/>
          </a:prstGeom>
          <a:noFill/>
        </p:spPr>
        <p:txBody>
          <a:bodyPr wrap="square" lIns="41148" tIns="22860" rIns="41148" bIns="22860" anchor="t">
            <a:spAutoFit/>
          </a:bodyPr>
          <a:lstStyle/>
          <a:p>
            <a:pPr algn="ctr"/>
            <a:r>
              <a:rPr sz="1030" b="0" i="0">
                <a:solidFill>
                  <a:srgbClr val="273D4E"/>
                </a:solidFill>
                <a:latin typeface="Aptos"/>
              </a:rPr>
              <a:t>Users • Courses
Schedules • Reports</a:t>
            </a:r>
          </a:p>
        </p:txBody>
      </p:sp>
      <p:sp>
        <p:nvSpPr>
          <p:cNvPr id="46" name="TextBox 45"/>
          <p:cNvSpPr txBox="1"/>
          <p:nvPr/>
        </p:nvSpPr>
        <p:spPr>
          <a:xfrm>
            <a:off x="530352" y="6547104"/>
            <a:ext cx="4572000" cy="146304"/>
          </a:xfrm>
          <a:prstGeom prst="rect">
            <a:avLst/>
          </a:prstGeom>
          <a:noFill/>
        </p:spPr>
        <p:txBody>
          <a:bodyPr wrap="square" lIns="41148" tIns="22860" rIns="41148" bIns="22860" anchor="t">
            <a:spAutoFit/>
          </a:bodyPr>
          <a:lstStyle/>
          <a:p>
            <a:pPr algn="l"/>
            <a:r>
              <a:rPr sz="720" b="1" i="0">
                <a:solidFill>
                  <a:srgbClr val="5D7684"/>
                </a:solidFill>
                <a:latin typeface="Aptos"/>
              </a:rPr>
              <a:t>COURSE REGISTRATION &amp; TIMETABLE BUILDER</a:t>
            </a:r>
          </a:p>
        </p:txBody>
      </p:sp>
      <p:sp>
        <p:nvSpPr>
          <p:cNvPr id="47" name="TextBox 46"/>
          <p:cNvSpPr txBox="1"/>
          <p:nvPr/>
        </p:nvSpPr>
        <p:spPr>
          <a:xfrm>
            <a:off x="11201400" y="6510528"/>
            <a:ext cx="384048" cy="182880"/>
          </a:xfrm>
          <a:prstGeom prst="rect">
            <a:avLst/>
          </a:prstGeom>
          <a:noFill/>
        </p:spPr>
        <p:txBody>
          <a:bodyPr wrap="square" lIns="41148" tIns="22860" rIns="41148" bIns="22860" anchor="t">
            <a:spAutoFit/>
          </a:bodyPr>
          <a:lstStyle/>
          <a:p>
            <a:pPr algn="r"/>
            <a:r>
              <a:rPr sz="750" b="1" i="0">
                <a:solidFill>
                  <a:srgbClr val="5D7684"/>
                </a:solidFill>
                <a:latin typeface="Aptos"/>
              </a:rPr>
              <a:t>09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1FAFD"/>
        </a:solidFill>
        <a:effectLst/>
      </p:bgPr>
    </p:bg>
    <p:spTree>
      <p:nvGrpSpPr>
        <p:cNvPr id="1" name=""/>
        <p:cNvGrpSpPr/>
        <p:nvPr/>
      </p:nvGrpSpPr>
      <p:grpSpPr>
        <a:xfrm>
          <a:off x="0" y="0"/>
          <a:ext cx="0" cy="0"/>
          <a:chOff x="0" y="0"/>
          <a:chExt cx="0" cy="0"/>
        </a:xfrm>
      </p:grpSpPr>
      <p:sp>
        <p:nvSpPr>
          <p:cNvPr id="2" name="Oval 1"/>
          <p:cNvSpPr/>
          <p:nvPr/>
        </p:nvSpPr>
        <p:spPr>
          <a:xfrm>
            <a:off x="10652760" y="-411480"/>
            <a:ext cx="1920240" cy="1920240"/>
          </a:xfrm>
          <a:prstGeom prst="ellipse">
            <a:avLst/>
          </a:prstGeom>
          <a:solidFill>
            <a:srgbClr val="D7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9875520" y="5623560"/>
            <a:ext cx="2011680" cy="2011680"/>
          </a:xfrm>
          <a:prstGeom prst="ellipse">
            <a:avLst/>
          </a:prstGeom>
          <a:solidFill>
            <a:srgbClr val="E1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411480" y="5715000"/>
            <a:ext cx="1554480" cy="1554480"/>
          </a:xfrm>
          <a:prstGeom prst="ellipse">
            <a:avLst/>
          </a:prstGeom>
          <a:solidFill>
            <a:srgbClr val="EDE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rot="20100000">
            <a:off x="11292840" y="91440"/>
            <a:ext cx="228600" cy="96012"/>
          </a:xfrm>
          <a:prstGeom prst="ellipse">
            <a:avLst/>
          </a:prstGeom>
          <a:solidFill>
            <a:srgbClr val="5BB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rot="1500000">
            <a:off x="11494008" y="256032"/>
            <a:ext cx="256032" cy="107533"/>
          </a:xfrm>
          <a:prstGeom prst="ellipse">
            <a:avLst/>
          </a:prstGeom>
          <a:solidFill>
            <a:srgbClr val="2A79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rot="19500000">
            <a:off x="11146536" y="411479"/>
            <a:ext cx="219456" cy="92171"/>
          </a:xfrm>
          <a:prstGeom prst="ellipse">
            <a:avLst/>
          </a:prstGeom>
          <a:solidFill>
            <a:srgbClr val="5BB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rot="1500000">
            <a:off x="11402567" y="566928"/>
            <a:ext cx="201168" cy="84490"/>
          </a:xfrm>
          <a:prstGeom prst="ellipse">
            <a:avLst/>
          </a:prstGeom>
          <a:solidFill>
            <a:srgbClr val="2A79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rot="19500000">
            <a:off x="11036808" y="685800"/>
            <a:ext cx="201168" cy="84490"/>
          </a:xfrm>
          <a:prstGeom prst="ellipse">
            <a:avLst/>
          </a:prstGeom>
          <a:solidFill>
            <a:srgbClr val="5BB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0" name="Connector 9"/>
          <p:cNvCxnSpPr/>
          <p:nvPr/>
        </p:nvCxnSpPr>
        <p:spPr>
          <a:xfrm flipH="1">
            <a:off x="11311128" y="109728"/>
            <a:ext cx="73152" cy="758952"/>
          </a:xfrm>
          <a:prstGeom prst="line">
            <a:avLst/>
          </a:prstGeom>
          <a:ln w="13970">
            <a:solidFill>
              <a:srgbClr val="2A79A3"/>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502920" y="329184"/>
            <a:ext cx="502920" cy="329184"/>
          </a:xfrm>
          <a:prstGeom prst="roundRect">
            <a:avLst>
              <a:gd name="adj" fmla="val 12000"/>
            </a:avLst>
          </a:prstGeom>
          <a:solidFill>
            <a:srgbClr val="D7F0F8"/>
          </a:solidFill>
          <a:ln>
            <a:solidFill>
              <a:srgbClr val="D7F0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21208" y="347472"/>
            <a:ext cx="466344" cy="274320"/>
          </a:xfrm>
          <a:prstGeom prst="rect">
            <a:avLst/>
          </a:prstGeom>
          <a:noFill/>
        </p:spPr>
        <p:txBody>
          <a:bodyPr wrap="square" lIns="41148" tIns="22860" rIns="41148" bIns="22860" anchor="ctr">
            <a:spAutoFit/>
          </a:bodyPr>
          <a:lstStyle/>
          <a:p>
            <a:pPr algn="ctr"/>
            <a:r>
              <a:rPr sz="1000" b="1" i="0">
                <a:solidFill>
                  <a:srgbClr val="10395C"/>
                </a:solidFill>
                <a:latin typeface="Aptos"/>
              </a:rPr>
              <a:t>9</a:t>
            </a:r>
          </a:p>
        </p:txBody>
      </p:sp>
      <p:sp>
        <p:nvSpPr>
          <p:cNvPr id="13" name="TextBox 12"/>
          <p:cNvSpPr txBox="1"/>
          <p:nvPr/>
        </p:nvSpPr>
        <p:spPr>
          <a:xfrm>
            <a:off x="1115568" y="274320"/>
            <a:ext cx="9875520" cy="438912"/>
          </a:xfrm>
          <a:prstGeom prst="rect">
            <a:avLst/>
          </a:prstGeom>
          <a:noFill/>
        </p:spPr>
        <p:txBody>
          <a:bodyPr wrap="square" lIns="41148" tIns="22860" rIns="41148" bIns="22860" anchor="t">
            <a:spAutoFit/>
          </a:bodyPr>
          <a:lstStyle/>
          <a:p>
            <a:pPr algn="l"/>
            <a:r>
              <a:rPr sz="2300" b="1" i="0">
                <a:solidFill>
                  <a:srgbClr val="10395C"/>
                </a:solidFill>
                <a:latin typeface="Aptos"/>
              </a:rPr>
              <a:t>Key Features</a:t>
            </a:r>
          </a:p>
        </p:txBody>
      </p:sp>
      <p:sp>
        <p:nvSpPr>
          <p:cNvPr id="14" name="TextBox 13"/>
          <p:cNvSpPr txBox="1"/>
          <p:nvPr/>
        </p:nvSpPr>
        <p:spPr>
          <a:xfrm>
            <a:off x="1133856" y="758952"/>
            <a:ext cx="9418320" cy="274320"/>
          </a:xfrm>
          <a:prstGeom prst="rect">
            <a:avLst/>
          </a:prstGeom>
          <a:noFill/>
        </p:spPr>
        <p:txBody>
          <a:bodyPr wrap="square" lIns="41148" tIns="22860" rIns="41148" bIns="22860" anchor="t">
            <a:spAutoFit/>
          </a:bodyPr>
          <a:lstStyle/>
          <a:p>
            <a:pPr algn="l"/>
            <a:r>
              <a:rPr sz="1080" b="0" i="0">
                <a:solidFill>
                  <a:srgbClr val="5D7684"/>
                </a:solidFill>
                <a:latin typeface="Aptos"/>
              </a:rPr>
              <a:t>The core capabilities that make the platform useful</a:t>
            </a:r>
          </a:p>
        </p:txBody>
      </p:sp>
      <p:sp>
        <p:nvSpPr>
          <p:cNvPr id="15" name="Rectangle 14"/>
          <p:cNvSpPr/>
          <p:nvPr/>
        </p:nvSpPr>
        <p:spPr>
          <a:xfrm>
            <a:off x="1133856" y="1060704"/>
            <a:ext cx="1051560" cy="32004"/>
          </a:xfrm>
          <a:prstGeom prst="rect">
            <a:avLst/>
          </a:prstGeom>
          <a:solidFill>
            <a:srgbClr val="5BB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502920" y="1417320"/>
            <a:ext cx="2578608" cy="1874519"/>
          </a:xfrm>
          <a:prstGeom prst="roundRect">
            <a:avLst>
              <a:gd name="adj" fmla="val 12000"/>
            </a:avLst>
          </a:prstGeom>
          <a:solidFill>
            <a:srgbClr val="FFFFFF"/>
          </a:solidFill>
          <a:ln>
            <a:solidFill>
              <a:srgbClr val="C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667512" y="1618488"/>
            <a:ext cx="384048" cy="384048"/>
          </a:xfrm>
          <a:prstGeom prst="ellipse">
            <a:avLst/>
          </a:prstGeom>
          <a:solidFill>
            <a:srgbClr val="D7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67512" y="1618488"/>
            <a:ext cx="384048" cy="384048"/>
          </a:xfrm>
          <a:prstGeom prst="rect">
            <a:avLst/>
          </a:prstGeom>
          <a:noFill/>
        </p:spPr>
        <p:txBody>
          <a:bodyPr wrap="square" lIns="41148" tIns="22860" rIns="41148" bIns="22860" anchor="ctr">
            <a:spAutoFit/>
          </a:bodyPr>
          <a:lstStyle/>
          <a:p>
            <a:pPr algn="ctr"/>
            <a:r>
              <a:rPr sz="900" b="1" i="0">
                <a:solidFill>
                  <a:srgbClr val="2A79A3"/>
                </a:solidFill>
                <a:latin typeface="Aptos"/>
              </a:rPr>
              <a:t>1</a:t>
            </a:r>
          </a:p>
        </p:txBody>
      </p:sp>
      <p:sp>
        <p:nvSpPr>
          <p:cNvPr id="19" name="TextBox 18"/>
          <p:cNvSpPr txBox="1"/>
          <p:nvPr/>
        </p:nvSpPr>
        <p:spPr>
          <a:xfrm>
            <a:off x="1124712" y="1645920"/>
            <a:ext cx="1719072" cy="411480"/>
          </a:xfrm>
          <a:prstGeom prst="rect">
            <a:avLst/>
          </a:prstGeom>
          <a:noFill/>
        </p:spPr>
        <p:txBody>
          <a:bodyPr wrap="square" lIns="41148" tIns="22860" rIns="41148" bIns="22860" anchor="t">
            <a:spAutoFit/>
          </a:bodyPr>
          <a:lstStyle/>
          <a:p>
            <a:pPr algn="l"/>
            <a:r>
              <a:rPr sz="1040" b="1" i="0">
                <a:solidFill>
                  <a:srgbClr val="10395C"/>
                </a:solidFill>
                <a:latin typeface="Aptos"/>
              </a:rPr>
              <a:t>COURSE CATALOG</a:t>
            </a:r>
          </a:p>
        </p:txBody>
      </p:sp>
      <p:sp>
        <p:nvSpPr>
          <p:cNvPr id="20" name="TextBox 19"/>
          <p:cNvSpPr txBox="1"/>
          <p:nvPr/>
        </p:nvSpPr>
        <p:spPr>
          <a:xfrm>
            <a:off x="758952" y="2313432"/>
            <a:ext cx="2048256" cy="594360"/>
          </a:xfrm>
          <a:prstGeom prst="rect">
            <a:avLst/>
          </a:prstGeom>
          <a:noFill/>
        </p:spPr>
        <p:txBody>
          <a:bodyPr wrap="square" lIns="41148" tIns="22860" rIns="41148" bIns="22860" anchor="t">
            <a:spAutoFit/>
          </a:bodyPr>
          <a:lstStyle/>
          <a:p>
            <a:pPr algn="ctr"/>
            <a:r>
              <a:rPr sz="980" b="0" i="0">
                <a:solidFill>
                  <a:srgbClr val="273D4E"/>
                </a:solidFill>
                <a:latin typeface="Aptos"/>
              </a:rPr>
              <a:t>Search, filters, faculty, credits, timing, seats</a:t>
            </a:r>
          </a:p>
        </p:txBody>
      </p:sp>
      <p:sp>
        <p:nvSpPr>
          <p:cNvPr id="21" name="Rounded Rectangle 20"/>
          <p:cNvSpPr/>
          <p:nvPr/>
        </p:nvSpPr>
        <p:spPr>
          <a:xfrm>
            <a:off x="3383280" y="1417320"/>
            <a:ext cx="2578608" cy="1874519"/>
          </a:xfrm>
          <a:prstGeom prst="roundRect">
            <a:avLst>
              <a:gd name="adj" fmla="val 12000"/>
            </a:avLst>
          </a:prstGeom>
          <a:solidFill>
            <a:srgbClr val="FFFFFF"/>
          </a:solidFill>
          <a:ln>
            <a:solidFill>
              <a:srgbClr val="C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3547872" y="1618488"/>
            <a:ext cx="384048" cy="384048"/>
          </a:xfrm>
          <a:prstGeom prst="ellipse">
            <a:avLst/>
          </a:prstGeom>
          <a:solidFill>
            <a:srgbClr val="E1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547872" y="1618488"/>
            <a:ext cx="384048" cy="384048"/>
          </a:xfrm>
          <a:prstGeom prst="rect">
            <a:avLst/>
          </a:prstGeom>
          <a:noFill/>
        </p:spPr>
        <p:txBody>
          <a:bodyPr wrap="square" lIns="41148" tIns="22860" rIns="41148" bIns="22860" anchor="ctr">
            <a:spAutoFit/>
          </a:bodyPr>
          <a:lstStyle/>
          <a:p>
            <a:pPr algn="ctr"/>
            <a:r>
              <a:rPr sz="900" b="1" i="0">
                <a:solidFill>
                  <a:srgbClr val="2A79A3"/>
                </a:solidFill>
                <a:latin typeface="Aptos"/>
              </a:rPr>
              <a:t>2</a:t>
            </a:r>
          </a:p>
        </p:txBody>
      </p:sp>
      <p:sp>
        <p:nvSpPr>
          <p:cNvPr id="24" name="TextBox 23"/>
          <p:cNvSpPr txBox="1"/>
          <p:nvPr/>
        </p:nvSpPr>
        <p:spPr>
          <a:xfrm>
            <a:off x="4005072" y="1645920"/>
            <a:ext cx="1719072" cy="411480"/>
          </a:xfrm>
          <a:prstGeom prst="rect">
            <a:avLst/>
          </a:prstGeom>
          <a:noFill/>
        </p:spPr>
        <p:txBody>
          <a:bodyPr wrap="square" lIns="41148" tIns="22860" rIns="41148" bIns="22860" anchor="t">
            <a:spAutoFit/>
          </a:bodyPr>
          <a:lstStyle/>
          <a:p>
            <a:pPr algn="l"/>
            <a:r>
              <a:rPr sz="1040" b="1" i="0">
                <a:solidFill>
                  <a:srgbClr val="10395C"/>
                </a:solidFill>
                <a:latin typeface="Aptos"/>
              </a:rPr>
              <a:t>SMART REGISTRATION</a:t>
            </a:r>
          </a:p>
        </p:txBody>
      </p:sp>
      <p:sp>
        <p:nvSpPr>
          <p:cNvPr id="25" name="TextBox 24"/>
          <p:cNvSpPr txBox="1"/>
          <p:nvPr/>
        </p:nvSpPr>
        <p:spPr>
          <a:xfrm>
            <a:off x="3639312" y="2313432"/>
            <a:ext cx="2048256" cy="594360"/>
          </a:xfrm>
          <a:prstGeom prst="rect">
            <a:avLst/>
          </a:prstGeom>
          <a:noFill/>
        </p:spPr>
        <p:txBody>
          <a:bodyPr wrap="square" lIns="41148" tIns="22860" rIns="41148" bIns="22860" anchor="t">
            <a:spAutoFit/>
          </a:bodyPr>
          <a:lstStyle/>
          <a:p>
            <a:pPr algn="ctr"/>
            <a:r>
              <a:rPr sz="980" b="0" i="0">
                <a:solidFill>
                  <a:srgbClr val="273D4E"/>
                </a:solidFill>
                <a:latin typeface="Aptos"/>
              </a:rPr>
              <a:t>Add, remove, register and drop courses</a:t>
            </a:r>
          </a:p>
        </p:txBody>
      </p:sp>
      <p:sp>
        <p:nvSpPr>
          <p:cNvPr id="26" name="Rounded Rectangle 25"/>
          <p:cNvSpPr/>
          <p:nvPr/>
        </p:nvSpPr>
        <p:spPr>
          <a:xfrm>
            <a:off x="6263640" y="1417320"/>
            <a:ext cx="2578608" cy="1874519"/>
          </a:xfrm>
          <a:prstGeom prst="roundRect">
            <a:avLst>
              <a:gd name="adj" fmla="val 12000"/>
            </a:avLst>
          </a:prstGeom>
          <a:solidFill>
            <a:srgbClr val="FFFFFF"/>
          </a:solidFill>
          <a:ln>
            <a:solidFill>
              <a:srgbClr val="C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6428231" y="1618488"/>
            <a:ext cx="384048" cy="384048"/>
          </a:xfrm>
          <a:prstGeom prst="ellipse">
            <a:avLst/>
          </a:prstGeom>
          <a:solidFill>
            <a:srgbClr val="EDE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428231" y="1618488"/>
            <a:ext cx="384048" cy="384048"/>
          </a:xfrm>
          <a:prstGeom prst="rect">
            <a:avLst/>
          </a:prstGeom>
          <a:noFill/>
        </p:spPr>
        <p:txBody>
          <a:bodyPr wrap="square" lIns="41148" tIns="22860" rIns="41148" bIns="22860" anchor="ctr">
            <a:spAutoFit/>
          </a:bodyPr>
          <a:lstStyle/>
          <a:p>
            <a:pPr algn="ctr"/>
            <a:r>
              <a:rPr sz="900" b="1" i="0">
                <a:solidFill>
                  <a:srgbClr val="2A79A3"/>
                </a:solidFill>
                <a:latin typeface="Aptos"/>
              </a:rPr>
              <a:t>3</a:t>
            </a:r>
          </a:p>
        </p:txBody>
      </p:sp>
      <p:sp>
        <p:nvSpPr>
          <p:cNvPr id="29" name="TextBox 28"/>
          <p:cNvSpPr txBox="1"/>
          <p:nvPr/>
        </p:nvSpPr>
        <p:spPr>
          <a:xfrm>
            <a:off x="6885431" y="1645920"/>
            <a:ext cx="1719072" cy="411480"/>
          </a:xfrm>
          <a:prstGeom prst="rect">
            <a:avLst/>
          </a:prstGeom>
          <a:noFill/>
        </p:spPr>
        <p:txBody>
          <a:bodyPr wrap="square" lIns="41148" tIns="22860" rIns="41148" bIns="22860" anchor="t">
            <a:spAutoFit/>
          </a:bodyPr>
          <a:lstStyle/>
          <a:p>
            <a:pPr algn="l"/>
            <a:r>
              <a:rPr sz="1040" b="1" i="0">
                <a:solidFill>
                  <a:srgbClr val="10395C"/>
                </a:solidFill>
                <a:latin typeface="Aptos"/>
              </a:rPr>
              <a:t>CREDIT CALCULATION</a:t>
            </a:r>
          </a:p>
        </p:txBody>
      </p:sp>
      <p:sp>
        <p:nvSpPr>
          <p:cNvPr id="30" name="TextBox 29"/>
          <p:cNvSpPr txBox="1"/>
          <p:nvPr/>
        </p:nvSpPr>
        <p:spPr>
          <a:xfrm>
            <a:off x="6519672" y="2313432"/>
            <a:ext cx="2048256" cy="594360"/>
          </a:xfrm>
          <a:prstGeom prst="rect">
            <a:avLst/>
          </a:prstGeom>
          <a:noFill/>
        </p:spPr>
        <p:txBody>
          <a:bodyPr wrap="square" lIns="41148" tIns="22860" rIns="41148" bIns="22860" anchor="t">
            <a:spAutoFit/>
          </a:bodyPr>
          <a:lstStyle/>
          <a:p>
            <a:pPr algn="ctr"/>
            <a:r>
              <a:rPr sz="980" b="0" i="0">
                <a:solidFill>
                  <a:srgbClr val="273D4E"/>
                </a:solidFill>
                <a:latin typeface="Aptos"/>
              </a:rPr>
              <a:t>Automatic total of selected course credits</a:t>
            </a:r>
          </a:p>
        </p:txBody>
      </p:sp>
      <p:sp>
        <p:nvSpPr>
          <p:cNvPr id="31" name="Rounded Rectangle 30"/>
          <p:cNvSpPr/>
          <p:nvPr/>
        </p:nvSpPr>
        <p:spPr>
          <a:xfrm>
            <a:off x="9144000" y="1417320"/>
            <a:ext cx="2578608" cy="1874519"/>
          </a:xfrm>
          <a:prstGeom prst="roundRect">
            <a:avLst>
              <a:gd name="adj" fmla="val 12000"/>
            </a:avLst>
          </a:prstGeom>
          <a:solidFill>
            <a:srgbClr val="FFFFFF"/>
          </a:solidFill>
          <a:ln>
            <a:solidFill>
              <a:srgbClr val="C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9308592" y="1618488"/>
            <a:ext cx="384048" cy="384048"/>
          </a:xfrm>
          <a:prstGeom prst="ellipse">
            <a:avLst/>
          </a:prstGeom>
          <a:solidFill>
            <a:srgbClr val="FDED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9308592" y="1618488"/>
            <a:ext cx="384048" cy="384048"/>
          </a:xfrm>
          <a:prstGeom prst="rect">
            <a:avLst/>
          </a:prstGeom>
          <a:noFill/>
        </p:spPr>
        <p:txBody>
          <a:bodyPr wrap="square" lIns="41148" tIns="22860" rIns="41148" bIns="22860" anchor="ctr">
            <a:spAutoFit/>
          </a:bodyPr>
          <a:lstStyle/>
          <a:p>
            <a:pPr algn="ctr"/>
            <a:r>
              <a:rPr sz="900" b="1" i="0">
                <a:solidFill>
                  <a:srgbClr val="2A79A3"/>
                </a:solidFill>
                <a:latin typeface="Aptos"/>
              </a:rPr>
              <a:t>4</a:t>
            </a:r>
          </a:p>
        </p:txBody>
      </p:sp>
      <p:sp>
        <p:nvSpPr>
          <p:cNvPr id="34" name="TextBox 33"/>
          <p:cNvSpPr txBox="1"/>
          <p:nvPr/>
        </p:nvSpPr>
        <p:spPr>
          <a:xfrm>
            <a:off x="9765792" y="1645920"/>
            <a:ext cx="1719072" cy="411480"/>
          </a:xfrm>
          <a:prstGeom prst="rect">
            <a:avLst/>
          </a:prstGeom>
          <a:noFill/>
        </p:spPr>
        <p:txBody>
          <a:bodyPr wrap="square" lIns="41148" tIns="22860" rIns="41148" bIns="22860" anchor="t">
            <a:spAutoFit/>
          </a:bodyPr>
          <a:lstStyle/>
          <a:p>
            <a:pPr algn="l"/>
            <a:r>
              <a:rPr sz="1040" b="1" i="0">
                <a:solidFill>
                  <a:srgbClr val="10395C"/>
                </a:solidFill>
                <a:latin typeface="Aptos"/>
              </a:rPr>
              <a:t>CLASH DETECTION</a:t>
            </a:r>
          </a:p>
        </p:txBody>
      </p:sp>
      <p:sp>
        <p:nvSpPr>
          <p:cNvPr id="35" name="TextBox 34"/>
          <p:cNvSpPr txBox="1"/>
          <p:nvPr/>
        </p:nvSpPr>
        <p:spPr>
          <a:xfrm>
            <a:off x="9400032" y="2313432"/>
            <a:ext cx="2048256" cy="594360"/>
          </a:xfrm>
          <a:prstGeom prst="rect">
            <a:avLst/>
          </a:prstGeom>
          <a:noFill/>
        </p:spPr>
        <p:txBody>
          <a:bodyPr wrap="square" lIns="41148" tIns="22860" rIns="41148" bIns="22860" anchor="t">
            <a:spAutoFit/>
          </a:bodyPr>
          <a:lstStyle/>
          <a:p>
            <a:pPr algn="ctr"/>
            <a:r>
              <a:rPr sz="980" b="0" i="0">
                <a:solidFill>
                  <a:srgbClr val="273D4E"/>
                </a:solidFill>
                <a:latin typeface="Aptos"/>
              </a:rPr>
              <a:t>Checks day + time overlap before registration</a:t>
            </a:r>
          </a:p>
        </p:txBody>
      </p:sp>
      <p:sp>
        <p:nvSpPr>
          <p:cNvPr id="36" name="Rounded Rectangle 35"/>
          <p:cNvSpPr/>
          <p:nvPr/>
        </p:nvSpPr>
        <p:spPr>
          <a:xfrm>
            <a:off x="502920" y="3657600"/>
            <a:ext cx="2578608" cy="1874519"/>
          </a:xfrm>
          <a:prstGeom prst="roundRect">
            <a:avLst>
              <a:gd name="adj" fmla="val 12000"/>
            </a:avLst>
          </a:prstGeom>
          <a:solidFill>
            <a:srgbClr val="FFFFFF"/>
          </a:solidFill>
          <a:ln>
            <a:solidFill>
              <a:srgbClr val="C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667512" y="3858768"/>
            <a:ext cx="384048" cy="384048"/>
          </a:xfrm>
          <a:prstGeom prst="ellipse">
            <a:avLst/>
          </a:prstGeom>
          <a:solidFill>
            <a:srgbClr val="D7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67512" y="3858768"/>
            <a:ext cx="384048" cy="384048"/>
          </a:xfrm>
          <a:prstGeom prst="rect">
            <a:avLst/>
          </a:prstGeom>
          <a:noFill/>
        </p:spPr>
        <p:txBody>
          <a:bodyPr wrap="square" lIns="41148" tIns="22860" rIns="41148" bIns="22860" anchor="ctr">
            <a:spAutoFit/>
          </a:bodyPr>
          <a:lstStyle/>
          <a:p>
            <a:pPr algn="ctr"/>
            <a:r>
              <a:rPr sz="900" b="1" i="0">
                <a:solidFill>
                  <a:srgbClr val="499D7E"/>
                </a:solidFill>
                <a:latin typeface="Aptos"/>
              </a:rPr>
              <a:t>5</a:t>
            </a:r>
          </a:p>
        </p:txBody>
      </p:sp>
      <p:sp>
        <p:nvSpPr>
          <p:cNvPr id="39" name="TextBox 38"/>
          <p:cNvSpPr txBox="1"/>
          <p:nvPr/>
        </p:nvSpPr>
        <p:spPr>
          <a:xfrm>
            <a:off x="1124712" y="3886200"/>
            <a:ext cx="1719072" cy="411480"/>
          </a:xfrm>
          <a:prstGeom prst="rect">
            <a:avLst/>
          </a:prstGeom>
          <a:noFill/>
        </p:spPr>
        <p:txBody>
          <a:bodyPr wrap="square" lIns="41148" tIns="22860" rIns="41148" bIns="22860" anchor="t">
            <a:spAutoFit/>
          </a:bodyPr>
          <a:lstStyle/>
          <a:p>
            <a:pPr algn="l"/>
            <a:r>
              <a:rPr sz="1040" b="1" i="0">
                <a:solidFill>
                  <a:srgbClr val="10395C"/>
                </a:solidFill>
                <a:latin typeface="Aptos"/>
              </a:rPr>
              <a:t>TIMETABLE BUILDER</a:t>
            </a:r>
          </a:p>
        </p:txBody>
      </p:sp>
      <p:sp>
        <p:nvSpPr>
          <p:cNvPr id="40" name="TextBox 39"/>
          <p:cNvSpPr txBox="1"/>
          <p:nvPr/>
        </p:nvSpPr>
        <p:spPr>
          <a:xfrm>
            <a:off x="758952" y="4553712"/>
            <a:ext cx="2048256" cy="594360"/>
          </a:xfrm>
          <a:prstGeom prst="rect">
            <a:avLst/>
          </a:prstGeom>
          <a:noFill/>
        </p:spPr>
        <p:txBody>
          <a:bodyPr wrap="square" lIns="41148" tIns="22860" rIns="41148" bIns="22860" anchor="t">
            <a:spAutoFit/>
          </a:bodyPr>
          <a:lstStyle/>
          <a:p>
            <a:pPr algn="ctr"/>
            <a:r>
              <a:rPr sz="980" b="0" i="0">
                <a:solidFill>
                  <a:srgbClr val="273D4E"/>
                </a:solidFill>
                <a:latin typeface="Aptos"/>
              </a:rPr>
              <a:t>Turns selected courses into a weekly visual plan</a:t>
            </a:r>
          </a:p>
        </p:txBody>
      </p:sp>
      <p:sp>
        <p:nvSpPr>
          <p:cNvPr id="41" name="Rounded Rectangle 40"/>
          <p:cNvSpPr/>
          <p:nvPr/>
        </p:nvSpPr>
        <p:spPr>
          <a:xfrm>
            <a:off x="3383280" y="3657600"/>
            <a:ext cx="2578608" cy="1874519"/>
          </a:xfrm>
          <a:prstGeom prst="roundRect">
            <a:avLst>
              <a:gd name="adj" fmla="val 12000"/>
            </a:avLst>
          </a:prstGeom>
          <a:solidFill>
            <a:srgbClr val="FFFFFF"/>
          </a:solidFill>
          <a:ln>
            <a:solidFill>
              <a:srgbClr val="C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3547872" y="3858768"/>
            <a:ext cx="384048" cy="384048"/>
          </a:xfrm>
          <a:prstGeom prst="ellipse">
            <a:avLst/>
          </a:prstGeom>
          <a:solidFill>
            <a:srgbClr val="E1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3547872" y="3858768"/>
            <a:ext cx="384048" cy="384048"/>
          </a:xfrm>
          <a:prstGeom prst="rect">
            <a:avLst/>
          </a:prstGeom>
          <a:noFill/>
        </p:spPr>
        <p:txBody>
          <a:bodyPr wrap="square" lIns="41148" tIns="22860" rIns="41148" bIns="22860" anchor="ctr">
            <a:spAutoFit/>
          </a:bodyPr>
          <a:lstStyle/>
          <a:p>
            <a:pPr algn="ctr"/>
            <a:r>
              <a:rPr sz="900" b="1" i="0">
                <a:solidFill>
                  <a:srgbClr val="499D7E"/>
                </a:solidFill>
                <a:latin typeface="Aptos"/>
              </a:rPr>
              <a:t>6</a:t>
            </a:r>
          </a:p>
        </p:txBody>
      </p:sp>
      <p:sp>
        <p:nvSpPr>
          <p:cNvPr id="44" name="TextBox 43"/>
          <p:cNvSpPr txBox="1"/>
          <p:nvPr/>
        </p:nvSpPr>
        <p:spPr>
          <a:xfrm>
            <a:off x="4005072" y="3886200"/>
            <a:ext cx="1719072" cy="411480"/>
          </a:xfrm>
          <a:prstGeom prst="rect">
            <a:avLst/>
          </a:prstGeom>
          <a:noFill/>
        </p:spPr>
        <p:txBody>
          <a:bodyPr wrap="square" lIns="41148" tIns="22860" rIns="41148" bIns="22860" anchor="t">
            <a:spAutoFit/>
          </a:bodyPr>
          <a:lstStyle/>
          <a:p>
            <a:pPr algn="l"/>
            <a:r>
              <a:rPr sz="1040" b="1" i="0">
                <a:solidFill>
                  <a:srgbClr val="10395C"/>
                </a:solidFill>
                <a:latin typeface="Aptos"/>
              </a:rPr>
              <a:t>ADMIN PANEL</a:t>
            </a:r>
          </a:p>
        </p:txBody>
      </p:sp>
      <p:sp>
        <p:nvSpPr>
          <p:cNvPr id="45" name="TextBox 44"/>
          <p:cNvSpPr txBox="1"/>
          <p:nvPr/>
        </p:nvSpPr>
        <p:spPr>
          <a:xfrm>
            <a:off x="3639312" y="4553712"/>
            <a:ext cx="2048256" cy="594360"/>
          </a:xfrm>
          <a:prstGeom prst="rect">
            <a:avLst/>
          </a:prstGeom>
          <a:noFill/>
        </p:spPr>
        <p:txBody>
          <a:bodyPr wrap="square" lIns="41148" tIns="22860" rIns="41148" bIns="22860" anchor="t">
            <a:spAutoFit/>
          </a:bodyPr>
          <a:lstStyle/>
          <a:p>
            <a:pPr algn="ctr"/>
            <a:r>
              <a:rPr sz="980" b="0" i="0">
                <a:solidFill>
                  <a:srgbClr val="273D4E"/>
                </a:solidFill>
                <a:latin typeface="Aptos"/>
              </a:rPr>
              <a:t>Central management of users, courses, rooms and schedules</a:t>
            </a:r>
          </a:p>
        </p:txBody>
      </p:sp>
      <p:sp>
        <p:nvSpPr>
          <p:cNvPr id="46" name="Rounded Rectangle 45"/>
          <p:cNvSpPr/>
          <p:nvPr/>
        </p:nvSpPr>
        <p:spPr>
          <a:xfrm>
            <a:off x="6263640" y="3657600"/>
            <a:ext cx="2578608" cy="1874519"/>
          </a:xfrm>
          <a:prstGeom prst="roundRect">
            <a:avLst>
              <a:gd name="adj" fmla="val 12000"/>
            </a:avLst>
          </a:prstGeom>
          <a:solidFill>
            <a:srgbClr val="FFFFFF"/>
          </a:solidFill>
          <a:ln>
            <a:solidFill>
              <a:srgbClr val="C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p:cNvSpPr/>
          <p:nvPr/>
        </p:nvSpPr>
        <p:spPr>
          <a:xfrm>
            <a:off x="6428231" y="3858768"/>
            <a:ext cx="384048" cy="384048"/>
          </a:xfrm>
          <a:prstGeom prst="ellipse">
            <a:avLst/>
          </a:prstGeom>
          <a:solidFill>
            <a:srgbClr val="EDE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6428231" y="3858768"/>
            <a:ext cx="384048" cy="384048"/>
          </a:xfrm>
          <a:prstGeom prst="rect">
            <a:avLst/>
          </a:prstGeom>
          <a:noFill/>
        </p:spPr>
        <p:txBody>
          <a:bodyPr wrap="square" lIns="41148" tIns="22860" rIns="41148" bIns="22860" anchor="ctr">
            <a:spAutoFit/>
          </a:bodyPr>
          <a:lstStyle/>
          <a:p>
            <a:pPr algn="ctr"/>
            <a:r>
              <a:rPr sz="900" b="1" i="0">
                <a:solidFill>
                  <a:srgbClr val="499D7E"/>
                </a:solidFill>
                <a:latin typeface="Aptos"/>
              </a:rPr>
              <a:t>7</a:t>
            </a:r>
          </a:p>
        </p:txBody>
      </p:sp>
      <p:sp>
        <p:nvSpPr>
          <p:cNvPr id="49" name="TextBox 48"/>
          <p:cNvSpPr txBox="1"/>
          <p:nvPr/>
        </p:nvSpPr>
        <p:spPr>
          <a:xfrm>
            <a:off x="6885431" y="3886200"/>
            <a:ext cx="1719072" cy="411480"/>
          </a:xfrm>
          <a:prstGeom prst="rect">
            <a:avLst/>
          </a:prstGeom>
          <a:noFill/>
        </p:spPr>
        <p:txBody>
          <a:bodyPr wrap="square" lIns="41148" tIns="22860" rIns="41148" bIns="22860" anchor="t">
            <a:spAutoFit/>
          </a:bodyPr>
          <a:lstStyle/>
          <a:p>
            <a:pPr algn="l"/>
            <a:r>
              <a:rPr sz="1040" b="1" i="0">
                <a:solidFill>
                  <a:srgbClr val="10395C"/>
                </a:solidFill>
                <a:latin typeface="Aptos"/>
              </a:rPr>
              <a:t>CAPACITY CHECK</a:t>
            </a:r>
          </a:p>
        </p:txBody>
      </p:sp>
      <p:sp>
        <p:nvSpPr>
          <p:cNvPr id="50" name="TextBox 49"/>
          <p:cNvSpPr txBox="1"/>
          <p:nvPr/>
        </p:nvSpPr>
        <p:spPr>
          <a:xfrm>
            <a:off x="6519672" y="4553712"/>
            <a:ext cx="2048256" cy="594360"/>
          </a:xfrm>
          <a:prstGeom prst="rect">
            <a:avLst/>
          </a:prstGeom>
          <a:noFill/>
        </p:spPr>
        <p:txBody>
          <a:bodyPr wrap="square" lIns="41148" tIns="22860" rIns="41148" bIns="22860" anchor="t">
            <a:spAutoFit/>
          </a:bodyPr>
          <a:lstStyle/>
          <a:p>
            <a:pPr algn="ctr"/>
            <a:r>
              <a:rPr sz="980" b="0" i="0">
                <a:solidFill>
                  <a:srgbClr val="273D4E"/>
                </a:solidFill>
                <a:latin typeface="Aptos"/>
              </a:rPr>
              <a:t>Blocks registration when a course is full</a:t>
            </a:r>
          </a:p>
        </p:txBody>
      </p:sp>
      <p:sp>
        <p:nvSpPr>
          <p:cNvPr id="51" name="Rounded Rectangle 50"/>
          <p:cNvSpPr/>
          <p:nvPr/>
        </p:nvSpPr>
        <p:spPr>
          <a:xfrm>
            <a:off x="9144000" y="3657600"/>
            <a:ext cx="2578608" cy="1874519"/>
          </a:xfrm>
          <a:prstGeom prst="roundRect">
            <a:avLst>
              <a:gd name="adj" fmla="val 12000"/>
            </a:avLst>
          </a:prstGeom>
          <a:solidFill>
            <a:srgbClr val="FFFFFF"/>
          </a:solidFill>
          <a:ln>
            <a:solidFill>
              <a:srgbClr val="C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val 51"/>
          <p:cNvSpPr/>
          <p:nvPr/>
        </p:nvSpPr>
        <p:spPr>
          <a:xfrm>
            <a:off x="9308592" y="3858768"/>
            <a:ext cx="384048" cy="384048"/>
          </a:xfrm>
          <a:prstGeom prst="ellipse">
            <a:avLst/>
          </a:prstGeom>
          <a:solidFill>
            <a:srgbClr val="FDED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9308592" y="3858768"/>
            <a:ext cx="384048" cy="384048"/>
          </a:xfrm>
          <a:prstGeom prst="rect">
            <a:avLst/>
          </a:prstGeom>
          <a:noFill/>
        </p:spPr>
        <p:txBody>
          <a:bodyPr wrap="square" lIns="41148" tIns="22860" rIns="41148" bIns="22860" anchor="ctr">
            <a:spAutoFit/>
          </a:bodyPr>
          <a:lstStyle/>
          <a:p>
            <a:pPr algn="ctr"/>
            <a:r>
              <a:rPr sz="900" b="1" i="0">
                <a:solidFill>
                  <a:srgbClr val="499D7E"/>
                </a:solidFill>
                <a:latin typeface="Aptos"/>
              </a:rPr>
              <a:t>8</a:t>
            </a:r>
          </a:p>
        </p:txBody>
      </p:sp>
      <p:sp>
        <p:nvSpPr>
          <p:cNvPr id="54" name="TextBox 53"/>
          <p:cNvSpPr txBox="1"/>
          <p:nvPr/>
        </p:nvSpPr>
        <p:spPr>
          <a:xfrm>
            <a:off x="9765792" y="3886200"/>
            <a:ext cx="1719072" cy="411480"/>
          </a:xfrm>
          <a:prstGeom prst="rect">
            <a:avLst/>
          </a:prstGeom>
          <a:noFill/>
        </p:spPr>
        <p:txBody>
          <a:bodyPr wrap="square" lIns="41148" tIns="22860" rIns="41148" bIns="22860" anchor="t">
            <a:spAutoFit/>
          </a:bodyPr>
          <a:lstStyle/>
          <a:p>
            <a:pPr algn="l"/>
            <a:r>
              <a:rPr sz="1040" b="1" i="0">
                <a:solidFill>
                  <a:srgbClr val="10395C"/>
                </a:solidFill>
                <a:latin typeface="Aptos"/>
              </a:rPr>
              <a:t>REPORTING</a:t>
            </a:r>
          </a:p>
        </p:txBody>
      </p:sp>
      <p:sp>
        <p:nvSpPr>
          <p:cNvPr id="55" name="TextBox 54"/>
          <p:cNvSpPr txBox="1"/>
          <p:nvPr/>
        </p:nvSpPr>
        <p:spPr>
          <a:xfrm>
            <a:off x="9400032" y="4553712"/>
            <a:ext cx="2048256" cy="594360"/>
          </a:xfrm>
          <a:prstGeom prst="rect">
            <a:avLst/>
          </a:prstGeom>
          <a:noFill/>
        </p:spPr>
        <p:txBody>
          <a:bodyPr wrap="square" lIns="41148" tIns="22860" rIns="41148" bIns="22860" anchor="t">
            <a:spAutoFit/>
          </a:bodyPr>
          <a:lstStyle/>
          <a:p>
            <a:pPr algn="ctr"/>
            <a:r>
              <a:rPr sz="980" b="0" i="0">
                <a:solidFill>
                  <a:srgbClr val="273D4E"/>
                </a:solidFill>
                <a:latin typeface="Aptos"/>
              </a:rPr>
              <a:t>View registration information for better administration</a:t>
            </a:r>
          </a:p>
        </p:txBody>
      </p:sp>
      <p:sp>
        <p:nvSpPr>
          <p:cNvPr id="56" name="TextBox 55"/>
          <p:cNvSpPr txBox="1"/>
          <p:nvPr/>
        </p:nvSpPr>
        <p:spPr>
          <a:xfrm>
            <a:off x="530352" y="6547104"/>
            <a:ext cx="4572000" cy="146304"/>
          </a:xfrm>
          <a:prstGeom prst="rect">
            <a:avLst/>
          </a:prstGeom>
          <a:noFill/>
        </p:spPr>
        <p:txBody>
          <a:bodyPr wrap="square" lIns="41148" tIns="22860" rIns="41148" bIns="22860" anchor="t">
            <a:spAutoFit/>
          </a:bodyPr>
          <a:lstStyle/>
          <a:p>
            <a:pPr algn="l"/>
            <a:r>
              <a:rPr sz="720" b="1" i="0">
                <a:solidFill>
                  <a:srgbClr val="5D7684"/>
                </a:solidFill>
                <a:latin typeface="Aptos"/>
              </a:rPr>
              <a:t>COURSE REGISTRATION &amp; TIMETABLE BUILDER</a:t>
            </a:r>
          </a:p>
        </p:txBody>
      </p:sp>
      <p:sp>
        <p:nvSpPr>
          <p:cNvPr id="57" name="TextBox 56"/>
          <p:cNvSpPr txBox="1"/>
          <p:nvPr/>
        </p:nvSpPr>
        <p:spPr>
          <a:xfrm>
            <a:off x="11201400" y="6510528"/>
            <a:ext cx="384048" cy="182880"/>
          </a:xfrm>
          <a:prstGeom prst="rect">
            <a:avLst/>
          </a:prstGeom>
          <a:noFill/>
        </p:spPr>
        <p:txBody>
          <a:bodyPr wrap="square" lIns="41148" tIns="22860" rIns="41148" bIns="22860" anchor="t">
            <a:spAutoFit/>
          </a:bodyPr>
          <a:lstStyle/>
          <a:p>
            <a:pPr algn="r"/>
            <a:r>
              <a:rPr sz="750" b="1" i="0">
                <a:solidFill>
                  <a:srgbClr val="5D7684"/>
                </a:solidFill>
                <a:latin typeface="Aptos"/>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1FAFD"/>
        </a:solidFill>
        <a:effectLst/>
      </p:bgPr>
    </p:bg>
    <p:spTree>
      <p:nvGrpSpPr>
        <p:cNvPr id="1" name=""/>
        <p:cNvGrpSpPr/>
        <p:nvPr/>
      </p:nvGrpSpPr>
      <p:grpSpPr>
        <a:xfrm>
          <a:off x="0" y="0"/>
          <a:ext cx="0" cy="0"/>
          <a:chOff x="0" y="0"/>
          <a:chExt cx="0" cy="0"/>
        </a:xfrm>
      </p:grpSpPr>
      <p:sp>
        <p:nvSpPr>
          <p:cNvPr id="2" name="Oval 1"/>
          <p:cNvSpPr/>
          <p:nvPr/>
        </p:nvSpPr>
        <p:spPr>
          <a:xfrm>
            <a:off x="10652760" y="-411480"/>
            <a:ext cx="1920240" cy="1920240"/>
          </a:xfrm>
          <a:prstGeom prst="ellipse">
            <a:avLst/>
          </a:prstGeom>
          <a:solidFill>
            <a:srgbClr val="D7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9875520" y="5623560"/>
            <a:ext cx="2011680" cy="2011680"/>
          </a:xfrm>
          <a:prstGeom prst="ellipse">
            <a:avLst/>
          </a:prstGeom>
          <a:solidFill>
            <a:srgbClr val="E1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411480" y="5715000"/>
            <a:ext cx="1554480" cy="1554480"/>
          </a:xfrm>
          <a:prstGeom prst="ellipse">
            <a:avLst/>
          </a:prstGeom>
          <a:solidFill>
            <a:srgbClr val="EDE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rot="20100000">
            <a:off x="45720" y="91440"/>
            <a:ext cx="228600" cy="96012"/>
          </a:xfrm>
          <a:prstGeom prst="ellipse">
            <a:avLst/>
          </a:prstGeom>
          <a:solidFill>
            <a:srgbClr val="5BB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rot="1500000">
            <a:off x="246888" y="256032"/>
            <a:ext cx="256032" cy="107533"/>
          </a:xfrm>
          <a:prstGeom prst="ellipse">
            <a:avLst/>
          </a:prstGeom>
          <a:solidFill>
            <a:srgbClr val="2A79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rot="19500000">
            <a:off x="-100584" y="411479"/>
            <a:ext cx="219456" cy="92171"/>
          </a:xfrm>
          <a:prstGeom prst="ellipse">
            <a:avLst/>
          </a:prstGeom>
          <a:solidFill>
            <a:srgbClr val="5BB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rot="1500000">
            <a:off x="155448" y="566928"/>
            <a:ext cx="201168" cy="84490"/>
          </a:xfrm>
          <a:prstGeom prst="ellipse">
            <a:avLst/>
          </a:prstGeom>
          <a:solidFill>
            <a:srgbClr val="2A79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rot="19500000">
            <a:off x="-210312" y="685800"/>
            <a:ext cx="201168" cy="84490"/>
          </a:xfrm>
          <a:prstGeom prst="ellipse">
            <a:avLst/>
          </a:prstGeom>
          <a:solidFill>
            <a:srgbClr val="5BB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0" name="Connector 9"/>
          <p:cNvCxnSpPr/>
          <p:nvPr/>
        </p:nvCxnSpPr>
        <p:spPr>
          <a:xfrm flipH="1">
            <a:off x="64008" y="109728"/>
            <a:ext cx="73152" cy="758952"/>
          </a:xfrm>
          <a:prstGeom prst="line">
            <a:avLst/>
          </a:prstGeom>
          <a:ln w="13970">
            <a:solidFill>
              <a:srgbClr val="2A79A3"/>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502920" y="329184"/>
            <a:ext cx="502920" cy="329184"/>
          </a:xfrm>
          <a:prstGeom prst="roundRect">
            <a:avLst>
              <a:gd name="adj" fmla="val 12000"/>
            </a:avLst>
          </a:prstGeom>
          <a:solidFill>
            <a:srgbClr val="D7F0F8"/>
          </a:solidFill>
          <a:ln>
            <a:solidFill>
              <a:srgbClr val="D7F0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21208" y="347472"/>
            <a:ext cx="466344" cy="274320"/>
          </a:xfrm>
          <a:prstGeom prst="rect">
            <a:avLst/>
          </a:prstGeom>
          <a:noFill/>
        </p:spPr>
        <p:txBody>
          <a:bodyPr wrap="square" lIns="41148" tIns="22860" rIns="41148" bIns="22860" anchor="ctr">
            <a:spAutoFit/>
          </a:bodyPr>
          <a:lstStyle/>
          <a:p>
            <a:pPr algn="ctr"/>
            <a:r>
              <a:rPr sz="1000" b="1" i="0">
                <a:solidFill>
                  <a:srgbClr val="10395C"/>
                </a:solidFill>
                <a:latin typeface="Aptos"/>
              </a:rPr>
              <a:t>10</a:t>
            </a:r>
          </a:p>
        </p:txBody>
      </p:sp>
      <p:sp>
        <p:nvSpPr>
          <p:cNvPr id="13" name="TextBox 12"/>
          <p:cNvSpPr txBox="1"/>
          <p:nvPr/>
        </p:nvSpPr>
        <p:spPr>
          <a:xfrm>
            <a:off x="1115568" y="274320"/>
            <a:ext cx="9875520" cy="438912"/>
          </a:xfrm>
          <a:prstGeom prst="rect">
            <a:avLst/>
          </a:prstGeom>
          <a:noFill/>
        </p:spPr>
        <p:txBody>
          <a:bodyPr wrap="square" lIns="41148" tIns="22860" rIns="41148" bIns="22860" anchor="t">
            <a:spAutoFit/>
          </a:bodyPr>
          <a:lstStyle/>
          <a:p>
            <a:pPr algn="l"/>
            <a:r>
              <a:rPr sz="2300" b="1" i="0">
                <a:solidFill>
                  <a:srgbClr val="10395C"/>
                </a:solidFill>
                <a:latin typeface="Aptos"/>
              </a:rPr>
              <a:t>Course Catalog &amp; Course Details</a:t>
            </a:r>
          </a:p>
        </p:txBody>
      </p:sp>
      <p:sp>
        <p:nvSpPr>
          <p:cNvPr id="14" name="TextBox 13"/>
          <p:cNvSpPr txBox="1"/>
          <p:nvPr/>
        </p:nvSpPr>
        <p:spPr>
          <a:xfrm>
            <a:off x="1133856" y="758952"/>
            <a:ext cx="9418320" cy="274320"/>
          </a:xfrm>
          <a:prstGeom prst="rect">
            <a:avLst/>
          </a:prstGeom>
          <a:noFill/>
        </p:spPr>
        <p:txBody>
          <a:bodyPr wrap="square" lIns="41148" tIns="22860" rIns="41148" bIns="22860" anchor="t">
            <a:spAutoFit/>
          </a:bodyPr>
          <a:lstStyle/>
          <a:p>
            <a:pPr algn="l"/>
            <a:r>
              <a:rPr sz="1080" b="0" i="0">
                <a:solidFill>
                  <a:srgbClr val="5D7684"/>
                </a:solidFill>
                <a:latin typeface="Aptos"/>
              </a:rPr>
              <a:t>Students can compare important information before adding a course</a:t>
            </a:r>
          </a:p>
        </p:txBody>
      </p:sp>
      <p:sp>
        <p:nvSpPr>
          <p:cNvPr id="15" name="Rectangle 14"/>
          <p:cNvSpPr/>
          <p:nvPr/>
        </p:nvSpPr>
        <p:spPr>
          <a:xfrm>
            <a:off x="1133856" y="1060704"/>
            <a:ext cx="1051560" cy="32004"/>
          </a:xfrm>
          <a:prstGeom prst="rect">
            <a:avLst/>
          </a:prstGeom>
          <a:solidFill>
            <a:srgbClr val="5BB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16" name="Table 15"/>
          <p:cNvGraphicFramePr>
            <a:graphicFrameLocks noGrp="1"/>
          </p:cNvGraphicFramePr>
          <p:nvPr/>
        </p:nvGraphicFramePr>
        <p:xfrm>
          <a:off x="594360" y="1417320"/>
          <a:ext cx="6537960" cy="2606040"/>
        </p:xfrm>
        <a:graphic>
          <a:graphicData uri="http://schemas.openxmlformats.org/drawingml/2006/table">
            <a:tbl>
              <a:tblPr firstRow="1" bandRow="1">
                <a:tableStyleId>{5C22544A-7EE6-4342-B048-85BDC9FD1C3A}</a:tableStyleId>
              </a:tblPr>
              <a:tblGrid>
                <a:gridCol w="960120">
                  <a:extLst>
                    <a:ext uri="{9D8B030D-6E8A-4147-A177-3AD203B41FA5}">
                      <a16:colId xmlns:a16="http://schemas.microsoft.com/office/drawing/2014/main" val="20000"/>
                    </a:ext>
                  </a:extLst>
                </a:gridCol>
                <a:gridCol w="1508760">
                  <a:extLst>
                    <a:ext uri="{9D8B030D-6E8A-4147-A177-3AD203B41FA5}">
                      <a16:colId xmlns:a16="http://schemas.microsoft.com/office/drawing/2014/main" val="20001"/>
                    </a:ext>
                  </a:extLst>
                </a:gridCol>
                <a:gridCol w="86868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gridCol w="1143000">
                  <a:extLst>
                    <a:ext uri="{9D8B030D-6E8A-4147-A177-3AD203B41FA5}">
                      <a16:colId xmlns:a16="http://schemas.microsoft.com/office/drawing/2014/main" val="20004"/>
                    </a:ext>
                  </a:extLst>
                </a:gridCol>
                <a:gridCol w="914400">
                  <a:extLst>
                    <a:ext uri="{9D8B030D-6E8A-4147-A177-3AD203B41FA5}">
                      <a16:colId xmlns:a16="http://schemas.microsoft.com/office/drawing/2014/main" val="20005"/>
                    </a:ext>
                  </a:extLst>
                </a:gridCol>
              </a:tblGrid>
              <a:tr h="521208">
                <a:tc>
                  <a:txBody>
                    <a:bodyPr/>
                    <a:lstStyle/>
                    <a:p>
                      <a:pPr algn="ctr">
                        <a:defRPr sz="910" b="1">
                          <a:solidFill>
                            <a:srgbClr val="FFFFFF"/>
                          </a:solidFill>
                          <a:latin typeface="Aptos"/>
                        </a:defRPr>
                      </a:pPr>
                      <a:r>
                        <a:t>CODE</a:t>
                      </a:r>
                    </a:p>
                  </a:txBody>
                  <a:tcPr marL="36576" marR="36576">
                    <a:solidFill>
                      <a:srgbClr val="10395C"/>
                    </a:solidFill>
                  </a:tcPr>
                </a:tc>
                <a:tc>
                  <a:txBody>
                    <a:bodyPr/>
                    <a:lstStyle/>
                    <a:p>
                      <a:pPr algn="ctr">
                        <a:defRPr sz="910" b="1">
                          <a:solidFill>
                            <a:srgbClr val="FFFFFF"/>
                          </a:solidFill>
                          <a:latin typeface="Aptos"/>
                        </a:defRPr>
                      </a:pPr>
                      <a:r>
                        <a:t>COURSE</a:t>
                      </a:r>
                    </a:p>
                  </a:txBody>
                  <a:tcPr marL="36576" marR="36576">
                    <a:solidFill>
                      <a:srgbClr val="10395C"/>
                    </a:solidFill>
                  </a:tcPr>
                </a:tc>
                <a:tc>
                  <a:txBody>
                    <a:bodyPr/>
                    <a:lstStyle/>
                    <a:p>
                      <a:pPr algn="ctr">
                        <a:defRPr sz="910" b="1">
                          <a:solidFill>
                            <a:srgbClr val="FFFFFF"/>
                          </a:solidFill>
                          <a:latin typeface="Aptos"/>
                        </a:defRPr>
                      </a:pPr>
                      <a:r>
                        <a:t>CREDITS</a:t>
                      </a:r>
                    </a:p>
                  </a:txBody>
                  <a:tcPr marL="36576" marR="36576">
                    <a:solidFill>
                      <a:srgbClr val="10395C"/>
                    </a:solidFill>
                  </a:tcPr>
                </a:tc>
                <a:tc>
                  <a:txBody>
                    <a:bodyPr/>
                    <a:lstStyle/>
                    <a:p>
                      <a:pPr algn="ctr">
                        <a:defRPr sz="910" b="1">
                          <a:solidFill>
                            <a:srgbClr val="FFFFFF"/>
                          </a:solidFill>
                          <a:latin typeface="Aptos"/>
                        </a:defRPr>
                      </a:pPr>
                      <a:r>
                        <a:t>FACULTY</a:t>
                      </a:r>
                    </a:p>
                  </a:txBody>
                  <a:tcPr marL="36576" marR="36576">
                    <a:solidFill>
                      <a:srgbClr val="10395C"/>
                    </a:solidFill>
                  </a:tcPr>
                </a:tc>
                <a:tc>
                  <a:txBody>
                    <a:bodyPr/>
                    <a:lstStyle/>
                    <a:p>
                      <a:pPr algn="ctr">
                        <a:defRPr sz="910" b="1">
                          <a:solidFill>
                            <a:srgbClr val="FFFFFF"/>
                          </a:solidFill>
                          <a:latin typeface="Aptos"/>
                        </a:defRPr>
                      </a:pPr>
                      <a:r>
                        <a:t>TIMING</a:t>
                      </a:r>
                    </a:p>
                  </a:txBody>
                  <a:tcPr marL="36576" marR="36576">
                    <a:solidFill>
                      <a:srgbClr val="10395C"/>
                    </a:solidFill>
                  </a:tcPr>
                </a:tc>
                <a:tc>
                  <a:txBody>
                    <a:bodyPr/>
                    <a:lstStyle/>
                    <a:p>
                      <a:pPr algn="ctr">
                        <a:defRPr sz="910" b="1">
                          <a:solidFill>
                            <a:srgbClr val="FFFFFF"/>
                          </a:solidFill>
                          <a:latin typeface="Aptos"/>
                        </a:defRPr>
                      </a:pPr>
                      <a:r>
                        <a:t>SEATS</a:t>
                      </a:r>
                    </a:p>
                  </a:txBody>
                  <a:tcPr marL="36576" marR="36576">
                    <a:solidFill>
                      <a:srgbClr val="10395C"/>
                    </a:solidFill>
                  </a:tcPr>
                </a:tc>
                <a:extLst>
                  <a:ext uri="{0D108BD9-81ED-4DB2-BD59-A6C34878D82A}">
                    <a16:rowId xmlns:a16="http://schemas.microsoft.com/office/drawing/2014/main" val="10000"/>
                  </a:ext>
                </a:extLst>
              </a:tr>
              <a:tr h="521208">
                <a:tc>
                  <a:txBody>
                    <a:bodyPr/>
                    <a:lstStyle/>
                    <a:p>
                      <a:pPr algn="ctr">
                        <a:defRPr sz="910" b="0">
                          <a:solidFill>
                            <a:srgbClr val="273D4E"/>
                          </a:solidFill>
                          <a:latin typeface="Aptos"/>
                        </a:defRPr>
                      </a:pPr>
                      <a:r>
                        <a:t>CSE101</a:t>
                      </a:r>
                    </a:p>
                  </a:txBody>
                  <a:tcPr marL="36576" marR="36576">
                    <a:solidFill>
                      <a:srgbClr val="FFFFFF"/>
                    </a:solidFill>
                  </a:tcPr>
                </a:tc>
                <a:tc>
                  <a:txBody>
                    <a:bodyPr/>
                    <a:lstStyle/>
                    <a:p>
                      <a:pPr algn="ctr">
                        <a:defRPr sz="910" b="0">
                          <a:solidFill>
                            <a:srgbClr val="273D4E"/>
                          </a:solidFill>
                          <a:latin typeface="Aptos"/>
                        </a:defRPr>
                      </a:pPr>
                      <a:r>
                        <a:t>Programming</a:t>
                      </a:r>
                    </a:p>
                  </a:txBody>
                  <a:tcPr marL="36576" marR="36576">
                    <a:solidFill>
                      <a:srgbClr val="FFFFFF"/>
                    </a:solidFill>
                  </a:tcPr>
                </a:tc>
                <a:tc>
                  <a:txBody>
                    <a:bodyPr/>
                    <a:lstStyle/>
                    <a:p>
                      <a:pPr algn="ctr">
                        <a:defRPr sz="910" b="0">
                          <a:solidFill>
                            <a:srgbClr val="273D4E"/>
                          </a:solidFill>
                          <a:latin typeface="Aptos"/>
                        </a:defRPr>
                      </a:pPr>
                      <a:r>
                        <a:t>4</a:t>
                      </a:r>
                    </a:p>
                  </a:txBody>
                  <a:tcPr marL="36576" marR="36576">
                    <a:solidFill>
                      <a:srgbClr val="FFFFFF"/>
                    </a:solidFill>
                  </a:tcPr>
                </a:tc>
                <a:tc>
                  <a:txBody>
                    <a:bodyPr/>
                    <a:lstStyle/>
                    <a:p>
                      <a:pPr algn="ctr">
                        <a:defRPr sz="910" b="0">
                          <a:solidFill>
                            <a:srgbClr val="273D4E"/>
                          </a:solidFill>
                          <a:latin typeface="Aptos"/>
                        </a:defRPr>
                      </a:pPr>
                      <a:r>
                        <a:t>Dr. Rao</a:t>
                      </a:r>
                    </a:p>
                  </a:txBody>
                  <a:tcPr marL="36576" marR="36576">
                    <a:solidFill>
                      <a:srgbClr val="FFFFFF"/>
                    </a:solidFill>
                  </a:tcPr>
                </a:tc>
                <a:tc>
                  <a:txBody>
                    <a:bodyPr/>
                    <a:lstStyle/>
                    <a:p>
                      <a:pPr algn="ctr">
                        <a:defRPr sz="910" b="0">
                          <a:solidFill>
                            <a:srgbClr val="273D4E"/>
                          </a:solidFill>
                          <a:latin typeface="Aptos"/>
                        </a:defRPr>
                      </a:pPr>
                      <a:r>
                        <a:t>Mon 9–10</a:t>
                      </a:r>
                    </a:p>
                  </a:txBody>
                  <a:tcPr marL="36576" marR="36576">
                    <a:solidFill>
                      <a:srgbClr val="FFFFFF"/>
                    </a:solidFill>
                  </a:tcPr>
                </a:tc>
                <a:tc>
                  <a:txBody>
                    <a:bodyPr/>
                    <a:lstStyle/>
                    <a:p>
                      <a:pPr algn="ctr">
                        <a:defRPr sz="910" b="0">
                          <a:solidFill>
                            <a:srgbClr val="273D4E"/>
                          </a:solidFill>
                          <a:latin typeface="Aptos"/>
                        </a:defRPr>
                      </a:pPr>
                      <a:r>
                        <a:t>12 / 40</a:t>
                      </a:r>
                    </a:p>
                  </a:txBody>
                  <a:tcPr marL="36576" marR="36576">
                    <a:solidFill>
                      <a:srgbClr val="FFFFFF"/>
                    </a:solidFill>
                  </a:tcPr>
                </a:tc>
                <a:extLst>
                  <a:ext uri="{0D108BD9-81ED-4DB2-BD59-A6C34878D82A}">
                    <a16:rowId xmlns:a16="http://schemas.microsoft.com/office/drawing/2014/main" val="10001"/>
                  </a:ext>
                </a:extLst>
              </a:tr>
              <a:tr h="521208">
                <a:tc>
                  <a:txBody>
                    <a:bodyPr/>
                    <a:lstStyle/>
                    <a:p>
                      <a:pPr algn="ctr">
                        <a:defRPr sz="910" b="0">
                          <a:solidFill>
                            <a:srgbClr val="273D4E"/>
                          </a:solidFill>
                          <a:latin typeface="Aptos"/>
                        </a:defRPr>
                      </a:pPr>
                      <a:r>
                        <a:t>MAT101</a:t>
                      </a:r>
                    </a:p>
                  </a:txBody>
                  <a:tcPr marL="36576" marR="36576">
                    <a:solidFill>
                      <a:srgbClr val="FFFFFF"/>
                    </a:solidFill>
                  </a:tcPr>
                </a:tc>
                <a:tc>
                  <a:txBody>
                    <a:bodyPr/>
                    <a:lstStyle/>
                    <a:p>
                      <a:pPr algn="ctr">
                        <a:defRPr sz="910" b="0">
                          <a:solidFill>
                            <a:srgbClr val="273D4E"/>
                          </a:solidFill>
                          <a:latin typeface="Aptos"/>
                        </a:defRPr>
                      </a:pPr>
                      <a:r>
                        <a:t>Mathematics</a:t>
                      </a:r>
                    </a:p>
                  </a:txBody>
                  <a:tcPr marL="36576" marR="36576">
                    <a:solidFill>
                      <a:srgbClr val="FFFFFF"/>
                    </a:solidFill>
                  </a:tcPr>
                </a:tc>
                <a:tc>
                  <a:txBody>
                    <a:bodyPr/>
                    <a:lstStyle/>
                    <a:p>
                      <a:pPr algn="ctr">
                        <a:defRPr sz="910" b="0">
                          <a:solidFill>
                            <a:srgbClr val="273D4E"/>
                          </a:solidFill>
                          <a:latin typeface="Aptos"/>
                        </a:defRPr>
                      </a:pPr>
                      <a:r>
                        <a:t>3</a:t>
                      </a:r>
                    </a:p>
                  </a:txBody>
                  <a:tcPr marL="36576" marR="36576">
                    <a:solidFill>
                      <a:srgbClr val="FFFFFF"/>
                    </a:solidFill>
                  </a:tcPr>
                </a:tc>
                <a:tc>
                  <a:txBody>
                    <a:bodyPr/>
                    <a:lstStyle/>
                    <a:p>
                      <a:pPr algn="ctr">
                        <a:defRPr sz="910" b="0">
                          <a:solidFill>
                            <a:srgbClr val="273D4E"/>
                          </a:solidFill>
                          <a:latin typeface="Aptos"/>
                        </a:defRPr>
                      </a:pPr>
                      <a:r>
                        <a:t>Dr. Kumar</a:t>
                      </a:r>
                    </a:p>
                  </a:txBody>
                  <a:tcPr marL="36576" marR="36576">
                    <a:solidFill>
                      <a:srgbClr val="FFFFFF"/>
                    </a:solidFill>
                  </a:tcPr>
                </a:tc>
                <a:tc>
                  <a:txBody>
                    <a:bodyPr/>
                    <a:lstStyle/>
                    <a:p>
                      <a:pPr algn="ctr">
                        <a:defRPr sz="910" b="0">
                          <a:solidFill>
                            <a:srgbClr val="273D4E"/>
                          </a:solidFill>
                          <a:latin typeface="Aptos"/>
                        </a:defRPr>
                      </a:pPr>
                      <a:r>
                        <a:t>Tue 10–11</a:t>
                      </a:r>
                    </a:p>
                  </a:txBody>
                  <a:tcPr marL="36576" marR="36576">
                    <a:solidFill>
                      <a:srgbClr val="FFFFFF"/>
                    </a:solidFill>
                  </a:tcPr>
                </a:tc>
                <a:tc>
                  <a:txBody>
                    <a:bodyPr/>
                    <a:lstStyle/>
                    <a:p>
                      <a:pPr algn="ctr">
                        <a:defRPr sz="910" b="0">
                          <a:solidFill>
                            <a:srgbClr val="273D4E"/>
                          </a:solidFill>
                          <a:latin typeface="Aptos"/>
                        </a:defRPr>
                      </a:pPr>
                      <a:r>
                        <a:t>8 / 35</a:t>
                      </a:r>
                    </a:p>
                  </a:txBody>
                  <a:tcPr marL="36576" marR="36576">
                    <a:solidFill>
                      <a:srgbClr val="FFFFFF"/>
                    </a:solidFill>
                  </a:tcPr>
                </a:tc>
                <a:extLst>
                  <a:ext uri="{0D108BD9-81ED-4DB2-BD59-A6C34878D82A}">
                    <a16:rowId xmlns:a16="http://schemas.microsoft.com/office/drawing/2014/main" val="10002"/>
                  </a:ext>
                </a:extLst>
              </a:tr>
              <a:tr h="521208">
                <a:tc>
                  <a:txBody>
                    <a:bodyPr/>
                    <a:lstStyle/>
                    <a:p>
                      <a:pPr algn="ctr">
                        <a:defRPr sz="910" b="0">
                          <a:solidFill>
                            <a:srgbClr val="273D4E"/>
                          </a:solidFill>
                          <a:latin typeface="Aptos"/>
                        </a:defRPr>
                      </a:pPr>
                      <a:r>
                        <a:t>PHY101</a:t>
                      </a:r>
                    </a:p>
                  </a:txBody>
                  <a:tcPr marL="36576" marR="36576">
                    <a:solidFill>
                      <a:srgbClr val="FFFFFF"/>
                    </a:solidFill>
                  </a:tcPr>
                </a:tc>
                <a:tc>
                  <a:txBody>
                    <a:bodyPr/>
                    <a:lstStyle/>
                    <a:p>
                      <a:pPr algn="ctr">
                        <a:defRPr sz="910" b="0">
                          <a:solidFill>
                            <a:srgbClr val="273D4E"/>
                          </a:solidFill>
                          <a:latin typeface="Aptos"/>
                        </a:defRPr>
                      </a:pPr>
                      <a:r>
                        <a:t>Physics</a:t>
                      </a:r>
                    </a:p>
                  </a:txBody>
                  <a:tcPr marL="36576" marR="36576">
                    <a:solidFill>
                      <a:srgbClr val="FFFFFF"/>
                    </a:solidFill>
                  </a:tcPr>
                </a:tc>
                <a:tc>
                  <a:txBody>
                    <a:bodyPr/>
                    <a:lstStyle/>
                    <a:p>
                      <a:pPr algn="ctr">
                        <a:defRPr sz="910" b="0">
                          <a:solidFill>
                            <a:srgbClr val="273D4E"/>
                          </a:solidFill>
                          <a:latin typeface="Aptos"/>
                        </a:defRPr>
                      </a:pPr>
                      <a:r>
                        <a:t>3</a:t>
                      </a:r>
                    </a:p>
                  </a:txBody>
                  <a:tcPr marL="36576" marR="36576">
                    <a:solidFill>
                      <a:srgbClr val="FFFFFF"/>
                    </a:solidFill>
                  </a:tcPr>
                </a:tc>
                <a:tc>
                  <a:txBody>
                    <a:bodyPr/>
                    <a:lstStyle/>
                    <a:p>
                      <a:pPr algn="ctr">
                        <a:defRPr sz="910" b="0">
                          <a:solidFill>
                            <a:srgbClr val="273D4E"/>
                          </a:solidFill>
                          <a:latin typeface="Aptos"/>
                        </a:defRPr>
                      </a:pPr>
                      <a:r>
                        <a:t>Dr. Singh</a:t>
                      </a:r>
                    </a:p>
                  </a:txBody>
                  <a:tcPr marL="36576" marR="36576">
                    <a:solidFill>
                      <a:srgbClr val="FFFFFF"/>
                    </a:solidFill>
                  </a:tcPr>
                </a:tc>
                <a:tc>
                  <a:txBody>
                    <a:bodyPr/>
                    <a:lstStyle/>
                    <a:p>
                      <a:pPr algn="ctr">
                        <a:defRPr sz="910" b="0">
                          <a:solidFill>
                            <a:srgbClr val="273D4E"/>
                          </a:solidFill>
                          <a:latin typeface="Aptos"/>
                        </a:defRPr>
                      </a:pPr>
                      <a:r>
                        <a:t>Wed 11–12</a:t>
                      </a:r>
                    </a:p>
                  </a:txBody>
                  <a:tcPr marL="36576" marR="36576">
                    <a:solidFill>
                      <a:srgbClr val="FFFFFF"/>
                    </a:solidFill>
                  </a:tcPr>
                </a:tc>
                <a:tc>
                  <a:txBody>
                    <a:bodyPr/>
                    <a:lstStyle/>
                    <a:p>
                      <a:pPr algn="ctr">
                        <a:defRPr sz="910" b="0">
                          <a:solidFill>
                            <a:srgbClr val="273D4E"/>
                          </a:solidFill>
                          <a:latin typeface="Aptos"/>
                        </a:defRPr>
                      </a:pPr>
                      <a:r>
                        <a:t>20 / 40</a:t>
                      </a:r>
                    </a:p>
                  </a:txBody>
                  <a:tcPr marL="36576" marR="36576">
                    <a:solidFill>
                      <a:srgbClr val="FFFFFF"/>
                    </a:solidFill>
                  </a:tcPr>
                </a:tc>
                <a:extLst>
                  <a:ext uri="{0D108BD9-81ED-4DB2-BD59-A6C34878D82A}">
                    <a16:rowId xmlns:a16="http://schemas.microsoft.com/office/drawing/2014/main" val="10003"/>
                  </a:ext>
                </a:extLst>
              </a:tr>
              <a:tr h="521208">
                <a:tc>
                  <a:txBody>
                    <a:bodyPr/>
                    <a:lstStyle/>
                    <a:p>
                      <a:pPr algn="ctr">
                        <a:defRPr sz="910" b="0">
                          <a:solidFill>
                            <a:srgbClr val="273D4E"/>
                          </a:solidFill>
                          <a:latin typeface="Aptos"/>
                        </a:defRPr>
                      </a:pPr>
                      <a:r>
                        <a:t>ENG101</a:t>
                      </a:r>
                    </a:p>
                  </a:txBody>
                  <a:tcPr marL="36576" marR="36576">
                    <a:solidFill>
                      <a:srgbClr val="FFFFFF"/>
                    </a:solidFill>
                  </a:tcPr>
                </a:tc>
                <a:tc>
                  <a:txBody>
                    <a:bodyPr/>
                    <a:lstStyle/>
                    <a:p>
                      <a:pPr algn="ctr">
                        <a:defRPr sz="910" b="0">
                          <a:solidFill>
                            <a:srgbClr val="273D4E"/>
                          </a:solidFill>
                          <a:latin typeface="Aptos"/>
                        </a:defRPr>
                      </a:pPr>
                      <a:r>
                        <a:t>English</a:t>
                      </a:r>
                    </a:p>
                  </a:txBody>
                  <a:tcPr marL="36576" marR="36576">
                    <a:solidFill>
                      <a:srgbClr val="FFFFFF"/>
                    </a:solidFill>
                  </a:tcPr>
                </a:tc>
                <a:tc>
                  <a:txBody>
                    <a:bodyPr/>
                    <a:lstStyle/>
                    <a:p>
                      <a:pPr algn="ctr">
                        <a:defRPr sz="910" b="0">
                          <a:solidFill>
                            <a:srgbClr val="273D4E"/>
                          </a:solidFill>
                          <a:latin typeface="Aptos"/>
                        </a:defRPr>
                      </a:pPr>
                      <a:r>
                        <a:t>2</a:t>
                      </a:r>
                    </a:p>
                  </a:txBody>
                  <a:tcPr marL="36576" marR="36576">
                    <a:solidFill>
                      <a:srgbClr val="FFFFFF"/>
                    </a:solidFill>
                  </a:tcPr>
                </a:tc>
                <a:tc>
                  <a:txBody>
                    <a:bodyPr/>
                    <a:lstStyle/>
                    <a:p>
                      <a:pPr algn="ctr">
                        <a:defRPr sz="910" b="0">
                          <a:solidFill>
                            <a:srgbClr val="273D4E"/>
                          </a:solidFill>
                          <a:latin typeface="Aptos"/>
                        </a:defRPr>
                      </a:pPr>
                      <a:r>
                        <a:t>Dr. Patel</a:t>
                      </a:r>
                    </a:p>
                  </a:txBody>
                  <a:tcPr marL="36576" marR="36576">
                    <a:solidFill>
                      <a:srgbClr val="FFFFFF"/>
                    </a:solidFill>
                  </a:tcPr>
                </a:tc>
                <a:tc>
                  <a:txBody>
                    <a:bodyPr/>
                    <a:lstStyle/>
                    <a:p>
                      <a:pPr algn="ctr">
                        <a:defRPr sz="910" b="0">
                          <a:solidFill>
                            <a:srgbClr val="273D4E"/>
                          </a:solidFill>
                          <a:latin typeface="Aptos"/>
                        </a:defRPr>
                      </a:pPr>
                      <a:r>
                        <a:t>Fri 12–1</a:t>
                      </a:r>
                    </a:p>
                  </a:txBody>
                  <a:tcPr marL="36576" marR="36576">
                    <a:solidFill>
                      <a:srgbClr val="FFFFFF"/>
                    </a:solidFill>
                  </a:tcPr>
                </a:tc>
                <a:tc>
                  <a:txBody>
                    <a:bodyPr/>
                    <a:lstStyle/>
                    <a:p>
                      <a:pPr algn="ctr">
                        <a:defRPr sz="910" b="0">
                          <a:solidFill>
                            <a:srgbClr val="273D4E"/>
                          </a:solidFill>
                          <a:latin typeface="Aptos"/>
                        </a:defRPr>
                      </a:pPr>
                      <a:r>
                        <a:t>25 / 40</a:t>
                      </a:r>
                    </a:p>
                  </a:txBody>
                  <a:tcPr marL="36576" marR="36576">
                    <a:solidFill>
                      <a:srgbClr val="FFFFFF"/>
                    </a:solidFill>
                  </a:tcPr>
                </a:tc>
                <a:extLst>
                  <a:ext uri="{0D108BD9-81ED-4DB2-BD59-A6C34878D82A}">
                    <a16:rowId xmlns:a16="http://schemas.microsoft.com/office/drawing/2014/main" val="10004"/>
                  </a:ext>
                </a:extLst>
              </a:tr>
            </a:tbl>
          </a:graphicData>
        </a:graphic>
      </p:graphicFrame>
      <p:sp>
        <p:nvSpPr>
          <p:cNvPr id="17" name="TextBox 16"/>
          <p:cNvSpPr txBox="1"/>
          <p:nvPr/>
        </p:nvSpPr>
        <p:spPr>
          <a:xfrm>
            <a:off x="749808" y="4315968"/>
            <a:ext cx="1325880" cy="228600"/>
          </a:xfrm>
          <a:prstGeom prst="rect">
            <a:avLst/>
          </a:prstGeom>
          <a:noFill/>
        </p:spPr>
        <p:txBody>
          <a:bodyPr wrap="square" lIns="41148" tIns="22860" rIns="41148" bIns="22860" anchor="t">
            <a:spAutoFit/>
          </a:bodyPr>
          <a:lstStyle/>
          <a:p>
            <a:pPr algn="l"/>
            <a:r>
              <a:rPr sz="1000" b="1" i="0">
                <a:solidFill>
                  <a:srgbClr val="10395C"/>
                </a:solidFill>
                <a:latin typeface="Aptos"/>
              </a:rPr>
              <a:t>USEFUL FILTERS</a:t>
            </a:r>
          </a:p>
        </p:txBody>
      </p:sp>
      <p:sp>
        <p:nvSpPr>
          <p:cNvPr id="18" name="Rounded Rectangle 17"/>
          <p:cNvSpPr/>
          <p:nvPr/>
        </p:nvSpPr>
        <p:spPr>
          <a:xfrm>
            <a:off x="749808" y="4645152"/>
            <a:ext cx="1627632" cy="329184"/>
          </a:xfrm>
          <a:prstGeom prst="roundRect">
            <a:avLst>
              <a:gd name="adj" fmla="val 12000"/>
            </a:avLst>
          </a:prstGeom>
          <a:solidFill>
            <a:srgbClr val="EDECFC"/>
          </a:solidFill>
          <a:ln>
            <a:solidFill>
              <a:srgbClr val="EDEC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68096" y="4663440"/>
            <a:ext cx="1591056" cy="274320"/>
          </a:xfrm>
          <a:prstGeom prst="rect">
            <a:avLst/>
          </a:prstGeom>
          <a:noFill/>
        </p:spPr>
        <p:txBody>
          <a:bodyPr wrap="square" lIns="41148" tIns="22860" rIns="41148" bIns="22860" anchor="ctr">
            <a:spAutoFit/>
          </a:bodyPr>
          <a:lstStyle/>
          <a:p>
            <a:pPr algn="ctr"/>
            <a:r>
              <a:rPr sz="810" b="1" i="0">
                <a:solidFill>
                  <a:srgbClr val="10395C"/>
                </a:solidFill>
                <a:latin typeface="Aptos"/>
              </a:rPr>
              <a:t>Department</a:t>
            </a:r>
          </a:p>
        </p:txBody>
      </p:sp>
      <p:sp>
        <p:nvSpPr>
          <p:cNvPr id="20" name="Rounded Rectangle 19"/>
          <p:cNvSpPr/>
          <p:nvPr/>
        </p:nvSpPr>
        <p:spPr>
          <a:xfrm>
            <a:off x="2624327" y="4645152"/>
            <a:ext cx="1627632" cy="329184"/>
          </a:xfrm>
          <a:prstGeom prst="roundRect">
            <a:avLst>
              <a:gd name="adj" fmla="val 12000"/>
            </a:avLst>
          </a:prstGeom>
          <a:solidFill>
            <a:srgbClr val="E1F8F1"/>
          </a:solidFill>
          <a:ln>
            <a:solidFill>
              <a:srgbClr val="E1F8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642615" y="4663440"/>
            <a:ext cx="1591056" cy="274320"/>
          </a:xfrm>
          <a:prstGeom prst="rect">
            <a:avLst/>
          </a:prstGeom>
          <a:noFill/>
        </p:spPr>
        <p:txBody>
          <a:bodyPr wrap="square" lIns="41148" tIns="22860" rIns="41148" bIns="22860" anchor="ctr">
            <a:spAutoFit/>
          </a:bodyPr>
          <a:lstStyle/>
          <a:p>
            <a:pPr algn="ctr"/>
            <a:r>
              <a:rPr sz="810" b="1" i="0">
                <a:solidFill>
                  <a:srgbClr val="10395C"/>
                </a:solidFill>
                <a:latin typeface="Aptos"/>
              </a:rPr>
              <a:t>Credits</a:t>
            </a:r>
          </a:p>
        </p:txBody>
      </p:sp>
      <p:sp>
        <p:nvSpPr>
          <p:cNvPr id="22" name="Rounded Rectangle 21"/>
          <p:cNvSpPr/>
          <p:nvPr/>
        </p:nvSpPr>
        <p:spPr>
          <a:xfrm>
            <a:off x="4498848" y="4645152"/>
            <a:ext cx="1627632" cy="329184"/>
          </a:xfrm>
          <a:prstGeom prst="roundRect">
            <a:avLst>
              <a:gd name="adj" fmla="val 12000"/>
            </a:avLst>
          </a:prstGeom>
          <a:solidFill>
            <a:srgbClr val="EDECFC"/>
          </a:solidFill>
          <a:ln>
            <a:solidFill>
              <a:srgbClr val="EDEC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517136" y="4663440"/>
            <a:ext cx="1591056" cy="274320"/>
          </a:xfrm>
          <a:prstGeom prst="rect">
            <a:avLst/>
          </a:prstGeom>
          <a:noFill/>
        </p:spPr>
        <p:txBody>
          <a:bodyPr wrap="square" lIns="41148" tIns="22860" rIns="41148" bIns="22860" anchor="ctr">
            <a:spAutoFit/>
          </a:bodyPr>
          <a:lstStyle/>
          <a:p>
            <a:pPr algn="ctr"/>
            <a:r>
              <a:rPr sz="810" b="1" i="0">
                <a:solidFill>
                  <a:srgbClr val="10395C"/>
                </a:solidFill>
                <a:latin typeface="Aptos"/>
              </a:rPr>
              <a:t>Faculty</a:t>
            </a:r>
          </a:p>
        </p:txBody>
      </p:sp>
      <p:sp>
        <p:nvSpPr>
          <p:cNvPr id="24" name="Rounded Rectangle 23"/>
          <p:cNvSpPr/>
          <p:nvPr/>
        </p:nvSpPr>
        <p:spPr>
          <a:xfrm>
            <a:off x="749808" y="5102352"/>
            <a:ext cx="1627632" cy="329184"/>
          </a:xfrm>
          <a:prstGeom prst="roundRect">
            <a:avLst>
              <a:gd name="adj" fmla="val 12000"/>
            </a:avLst>
          </a:prstGeom>
          <a:solidFill>
            <a:srgbClr val="E1F8F1"/>
          </a:solidFill>
          <a:ln>
            <a:solidFill>
              <a:srgbClr val="E1F8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68096" y="5120640"/>
            <a:ext cx="1591056" cy="274320"/>
          </a:xfrm>
          <a:prstGeom prst="rect">
            <a:avLst/>
          </a:prstGeom>
          <a:noFill/>
        </p:spPr>
        <p:txBody>
          <a:bodyPr wrap="square" lIns="41148" tIns="22860" rIns="41148" bIns="22860" anchor="ctr">
            <a:spAutoFit/>
          </a:bodyPr>
          <a:lstStyle/>
          <a:p>
            <a:pPr algn="ctr"/>
            <a:r>
              <a:rPr sz="810" b="1" i="0">
                <a:solidFill>
                  <a:srgbClr val="10395C"/>
                </a:solidFill>
                <a:latin typeface="Aptos"/>
              </a:rPr>
              <a:t>Day</a:t>
            </a:r>
          </a:p>
        </p:txBody>
      </p:sp>
      <p:sp>
        <p:nvSpPr>
          <p:cNvPr id="26" name="Rounded Rectangle 25"/>
          <p:cNvSpPr/>
          <p:nvPr/>
        </p:nvSpPr>
        <p:spPr>
          <a:xfrm>
            <a:off x="2624327" y="5102352"/>
            <a:ext cx="1627632" cy="329184"/>
          </a:xfrm>
          <a:prstGeom prst="roundRect">
            <a:avLst>
              <a:gd name="adj" fmla="val 12000"/>
            </a:avLst>
          </a:prstGeom>
          <a:solidFill>
            <a:srgbClr val="EDECFC"/>
          </a:solidFill>
          <a:ln>
            <a:solidFill>
              <a:srgbClr val="EDEC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642615" y="5120640"/>
            <a:ext cx="1591056" cy="274320"/>
          </a:xfrm>
          <a:prstGeom prst="rect">
            <a:avLst/>
          </a:prstGeom>
          <a:noFill/>
        </p:spPr>
        <p:txBody>
          <a:bodyPr wrap="square" lIns="41148" tIns="22860" rIns="41148" bIns="22860" anchor="ctr">
            <a:spAutoFit/>
          </a:bodyPr>
          <a:lstStyle/>
          <a:p>
            <a:pPr algn="ctr"/>
            <a:r>
              <a:rPr sz="810" b="1" i="0">
                <a:solidFill>
                  <a:srgbClr val="10395C"/>
                </a:solidFill>
                <a:latin typeface="Aptos"/>
              </a:rPr>
              <a:t>Time</a:t>
            </a:r>
          </a:p>
        </p:txBody>
      </p:sp>
      <p:sp>
        <p:nvSpPr>
          <p:cNvPr id="28" name="Rounded Rectangle 27"/>
          <p:cNvSpPr/>
          <p:nvPr/>
        </p:nvSpPr>
        <p:spPr>
          <a:xfrm>
            <a:off x="4498848" y="5102352"/>
            <a:ext cx="1627632" cy="329184"/>
          </a:xfrm>
          <a:prstGeom prst="roundRect">
            <a:avLst>
              <a:gd name="adj" fmla="val 12000"/>
            </a:avLst>
          </a:prstGeom>
          <a:solidFill>
            <a:srgbClr val="E1F8F1"/>
          </a:solidFill>
          <a:ln>
            <a:solidFill>
              <a:srgbClr val="E1F8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517136" y="5120640"/>
            <a:ext cx="1591056" cy="274320"/>
          </a:xfrm>
          <a:prstGeom prst="rect">
            <a:avLst/>
          </a:prstGeom>
          <a:noFill/>
        </p:spPr>
        <p:txBody>
          <a:bodyPr wrap="square" lIns="41148" tIns="22860" rIns="41148" bIns="22860" anchor="ctr">
            <a:spAutoFit/>
          </a:bodyPr>
          <a:lstStyle/>
          <a:p>
            <a:pPr algn="ctr"/>
            <a:r>
              <a:rPr sz="810" b="1" i="0">
                <a:solidFill>
                  <a:srgbClr val="10395C"/>
                </a:solidFill>
                <a:latin typeface="Aptos"/>
              </a:rPr>
              <a:t>Availability</a:t>
            </a:r>
          </a:p>
        </p:txBody>
      </p:sp>
      <p:sp>
        <p:nvSpPr>
          <p:cNvPr id="30" name="Rounded Rectangle 29"/>
          <p:cNvSpPr/>
          <p:nvPr/>
        </p:nvSpPr>
        <p:spPr>
          <a:xfrm>
            <a:off x="7452360" y="1417320"/>
            <a:ext cx="4114800" cy="4590288"/>
          </a:xfrm>
          <a:prstGeom prst="roundRect">
            <a:avLst>
              <a:gd name="adj" fmla="val 12000"/>
            </a:avLst>
          </a:prstGeom>
          <a:solidFill>
            <a:srgbClr val="FFFFFF"/>
          </a:solidFill>
          <a:ln>
            <a:solidFill>
              <a:srgbClr val="C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30"/>
          <p:cNvSpPr/>
          <p:nvPr/>
        </p:nvSpPr>
        <p:spPr>
          <a:xfrm>
            <a:off x="7754112" y="1719072"/>
            <a:ext cx="1691640" cy="329184"/>
          </a:xfrm>
          <a:prstGeom prst="roundRect">
            <a:avLst>
              <a:gd name="adj" fmla="val 12000"/>
            </a:avLst>
          </a:prstGeom>
          <a:solidFill>
            <a:srgbClr val="D7F0F8"/>
          </a:solidFill>
          <a:ln>
            <a:solidFill>
              <a:srgbClr val="D7F0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772400" y="1737360"/>
            <a:ext cx="1655064" cy="274320"/>
          </a:xfrm>
          <a:prstGeom prst="rect">
            <a:avLst/>
          </a:prstGeom>
          <a:noFill/>
        </p:spPr>
        <p:txBody>
          <a:bodyPr wrap="square" lIns="41148" tIns="22860" rIns="41148" bIns="22860" anchor="ctr">
            <a:spAutoFit/>
          </a:bodyPr>
          <a:lstStyle/>
          <a:p>
            <a:pPr algn="ctr"/>
            <a:r>
              <a:rPr sz="869" b="1" i="0">
                <a:solidFill>
                  <a:srgbClr val="10395C"/>
                </a:solidFill>
                <a:latin typeface="Aptos"/>
              </a:rPr>
              <a:t>COURSE DETAILS</a:t>
            </a:r>
          </a:p>
        </p:txBody>
      </p:sp>
      <p:sp>
        <p:nvSpPr>
          <p:cNvPr id="33" name="TextBox 32"/>
          <p:cNvSpPr txBox="1"/>
          <p:nvPr/>
        </p:nvSpPr>
        <p:spPr>
          <a:xfrm>
            <a:off x="7754112" y="2176272"/>
            <a:ext cx="3429000" cy="384048"/>
          </a:xfrm>
          <a:prstGeom prst="rect">
            <a:avLst/>
          </a:prstGeom>
          <a:noFill/>
        </p:spPr>
        <p:txBody>
          <a:bodyPr wrap="square" lIns="41148" tIns="22860" rIns="41148" bIns="22860" anchor="t">
            <a:spAutoFit/>
          </a:bodyPr>
          <a:lstStyle/>
          <a:p>
            <a:pPr algn="l"/>
            <a:r>
              <a:rPr sz="1300" b="1" i="0">
                <a:solidFill>
                  <a:srgbClr val="10395C"/>
                </a:solidFill>
                <a:latin typeface="Aptos"/>
              </a:rPr>
              <a:t>CSE101 – Programming Fundamentals</a:t>
            </a:r>
          </a:p>
        </p:txBody>
      </p:sp>
      <p:sp>
        <p:nvSpPr>
          <p:cNvPr id="34" name="TextBox 33"/>
          <p:cNvSpPr txBox="1"/>
          <p:nvPr/>
        </p:nvSpPr>
        <p:spPr>
          <a:xfrm>
            <a:off x="7818120" y="2706624"/>
            <a:ext cx="3154680" cy="228600"/>
          </a:xfrm>
          <a:prstGeom prst="rect">
            <a:avLst/>
          </a:prstGeom>
          <a:noFill/>
        </p:spPr>
        <p:txBody>
          <a:bodyPr wrap="square" lIns="41148" tIns="22860" rIns="41148" bIns="22860" anchor="t">
            <a:spAutoFit/>
          </a:bodyPr>
          <a:lstStyle/>
          <a:p>
            <a:pPr algn="l"/>
            <a:r>
              <a:rPr sz="1050" b="0" i="0">
                <a:solidFill>
                  <a:srgbClr val="273D4E"/>
                </a:solidFill>
                <a:latin typeface="Aptos"/>
              </a:rPr>
              <a:t>Credits: 4</a:t>
            </a:r>
          </a:p>
        </p:txBody>
      </p:sp>
      <p:sp>
        <p:nvSpPr>
          <p:cNvPr id="35" name="TextBox 34"/>
          <p:cNvSpPr txBox="1"/>
          <p:nvPr/>
        </p:nvSpPr>
        <p:spPr>
          <a:xfrm>
            <a:off x="7818120" y="3090672"/>
            <a:ext cx="3154680" cy="228600"/>
          </a:xfrm>
          <a:prstGeom prst="rect">
            <a:avLst/>
          </a:prstGeom>
          <a:noFill/>
        </p:spPr>
        <p:txBody>
          <a:bodyPr wrap="square" lIns="41148" tIns="22860" rIns="41148" bIns="22860" anchor="t">
            <a:spAutoFit/>
          </a:bodyPr>
          <a:lstStyle/>
          <a:p>
            <a:pPr algn="l"/>
            <a:r>
              <a:rPr sz="1050" b="0" i="0">
                <a:solidFill>
                  <a:srgbClr val="273D4E"/>
                </a:solidFill>
                <a:latin typeface="Aptos"/>
              </a:rPr>
              <a:t>Faculty: Dr. Rao</a:t>
            </a:r>
          </a:p>
        </p:txBody>
      </p:sp>
      <p:sp>
        <p:nvSpPr>
          <p:cNvPr id="36" name="TextBox 35"/>
          <p:cNvSpPr txBox="1"/>
          <p:nvPr/>
        </p:nvSpPr>
        <p:spPr>
          <a:xfrm>
            <a:off x="7818120" y="3474720"/>
            <a:ext cx="3154680" cy="228600"/>
          </a:xfrm>
          <a:prstGeom prst="rect">
            <a:avLst/>
          </a:prstGeom>
          <a:noFill/>
        </p:spPr>
        <p:txBody>
          <a:bodyPr wrap="square" lIns="41148" tIns="22860" rIns="41148" bIns="22860" anchor="t">
            <a:spAutoFit/>
          </a:bodyPr>
          <a:lstStyle/>
          <a:p>
            <a:pPr algn="l"/>
            <a:r>
              <a:rPr sz="1050" b="0" i="0">
                <a:solidFill>
                  <a:srgbClr val="273D4E"/>
                </a:solidFill>
                <a:latin typeface="Aptos"/>
              </a:rPr>
              <a:t>Days: Mon, Wed</a:t>
            </a:r>
          </a:p>
        </p:txBody>
      </p:sp>
      <p:sp>
        <p:nvSpPr>
          <p:cNvPr id="37" name="TextBox 36"/>
          <p:cNvSpPr txBox="1"/>
          <p:nvPr/>
        </p:nvSpPr>
        <p:spPr>
          <a:xfrm>
            <a:off x="7818120" y="3858768"/>
            <a:ext cx="3154680" cy="228600"/>
          </a:xfrm>
          <a:prstGeom prst="rect">
            <a:avLst/>
          </a:prstGeom>
          <a:noFill/>
        </p:spPr>
        <p:txBody>
          <a:bodyPr wrap="square" lIns="41148" tIns="22860" rIns="41148" bIns="22860" anchor="t">
            <a:spAutoFit/>
          </a:bodyPr>
          <a:lstStyle/>
          <a:p>
            <a:pPr algn="l"/>
            <a:r>
              <a:rPr sz="1050" b="0" i="0">
                <a:solidFill>
                  <a:srgbClr val="273D4E"/>
                </a:solidFill>
                <a:latin typeface="Aptos"/>
              </a:rPr>
              <a:t>Time: 09:00–10:00</a:t>
            </a:r>
          </a:p>
        </p:txBody>
      </p:sp>
      <p:sp>
        <p:nvSpPr>
          <p:cNvPr id="38" name="TextBox 37"/>
          <p:cNvSpPr txBox="1"/>
          <p:nvPr/>
        </p:nvSpPr>
        <p:spPr>
          <a:xfrm>
            <a:off x="7818120" y="4242816"/>
            <a:ext cx="3154680" cy="228600"/>
          </a:xfrm>
          <a:prstGeom prst="rect">
            <a:avLst/>
          </a:prstGeom>
          <a:noFill/>
        </p:spPr>
        <p:txBody>
          <a:bodyPr wrap="square" lIns="41148" tIns="22860" rIns="41148" bIns="22860" anchor="t">
            <a:spAutoFit/>
          </a:bodyPr>
          <a:lstStyle/>
          <a:p>
            <a:pPr algn="l"/>
            <a:r>
              <a:rPr sz="1050" b="0" i="0">
                <a:solidFill>
                  <a:srgbClr val="273D4E"/>
                </a:solidFill>
                <a:latin typeface="Aptos"/>
              </a:rPr>
              <a:t>Room: Block A-204</a:t>
            </a:r>
          </a:p>
        </p:txBody>
      </p:sp>
      <p:sp>
        <p:nvSpPr>
          <p:cNvPr id="39" name="TextBox 38"/>
          <p:cNvSpPr txBox="1"/>
          <p:nvPr/>
        </p:nvSpPr>
        <p:spPr>
          <a:xfrm>
            <a:off x="7818120" y="4626864"/>
            <a:ext cx="3154680" cy="228600"/>
          </a:xfrm>
          <a:prstGeom prst="rect">
            <a:avLst/>
          </a:prstGeom>
          <a:noFill/>
        </p:spPr>
        <p:txBody>
          <a:bodyPr wrap="square" lIns="41148" tIns="22860" rIns="41148" bIns="22860" anchor="t">
            <a:spAutoFit/>
          </a:bodyPr>
          <a:lstStyle/>
          <a:p>
            <a:pPr algn="l"/>
            <a:r>
              <a:rPr sz="1050" b="0" i="0">
                <a:solidFill>
                  <a:srgbClr val="273D4E"/>
                </a:solidFill>
                <a:latin typeface="Aptos"/>
              </a:rPr>
              <a:t>Seats: 12 / 40</a:t>
            </a:r>
          </a:p>
        </p:txBody>
      </p:sp>
      <p:sp>
        <p:nvSpPr>
          <p:cNvPr id="40" name="TextBox 39"/>
          <p:cNvSpPr txBox="1"/>
          <p:nvPr/>
        </p:nvSpPr>
        <p:spPr>
          <a:xfrm>
            <a:off x="7818120" y="5010912"/>
            <a:ext cx="3154680" cy="228600"/>
          </a:xfrm>
          <a:prstGeom prst="rect">
            <a:avLst/>
          </a:prstGeom>
          <a:noFill/>
        </p:spPr>
        <p:txBody>
          <a:bodyPr wrap="square" lIns="41148" tIns="22860" rIns="41148" bIns="22860" anchor="t">
            <a:spAutoFit/>
          </a:bodyPr>
          <a:lstStyle/>
          <a:p>
            <a:pPr algn="l"/>
            <a:r>
              <a:rPr sz="1050" b="0" i="0">
                <a:solidFill>
                  <a:srgbClr val="273D4E"/>
                </a:solidFill>
                <a:latin typeface="Aptos"/>
              </a:rPr>
              <a:t>Prerequisite: None</a:t>
            </a:r>
          </a:p>
        </p:txBody>
      </p:sp>
      <p:sp>
        <p:nvSpPr>
          <p:cNvPr id="41" name="Rounded Rectangle 40"/>
          <p:cNvSpPr/>
          <p:nvPr/>
        </p:nvSpPr>
        <p:spPr>
          <a:xfrm>
            <a:off x="8394192" y="5468112"/>
            <a:ext cx="2011680" cy="329184"/>
          </a:xfrm>
          <a:prstGeom prst="roundRect">
            <a:avLst>
              <a:gd name="adj" fmla="val 12000"/>
            </a:avLst>
          </a:prstGeom>
          <a:solidFill>
            <a:srgbClr val="E1F8F1"/>
          </a:solidFill>
          <a:ln>
            <a:solidFill>
              <a:srgbClr val="E1F8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8412480" y="5486400"/>
            <a:ext cx="1975104" cy="274320"/>
          </a:xfrm>
          <a:prstGeom prst="rect">
            <a:avLst/>
          </a:prstGeom>
          <a:noFill/>
        </p:spPr>
        <p:txBody>
          <a:bodyPr wrap="square" lIns="41148" tIns="22860" rIns="41148" bIns="22860" anchor="ctr">
            <a:spAutoFit/>
          </a:bodyPr>
          <a:lstStyle/>
          <a:p>
            <a:pPr algn="ctr"/>
            <a:r>
              <a:rPr sz="900" b="1" i="0">
                <a:solidFill>
                  <a:srgbClr val="10395C"/>
                </a:solidFill>
                <a:latin typeface="Aptos"/>
              </a:rPr>
              <a:t>+ ADD COURSE</a:t>
            </a:r>
          </a:p>
        </p:txBody>
      </p:sp>
      <p:sp>
        <p:nvSpPr>
          <p:cNvPr id="43" name="TextBox 42"/>
          <p:cNvSpPr txBox="1"/>
          <p:nvPr/>
        </p:nvSpPr>
        <p:spPr>
          <a:xfrm>
            <a:off x="530352" y="6547104"/>
            <a:ext cx="4572000" cy="146304"/>
          </a:xfrm>
          <a:prstGeom prst="rect">
            <a:avLst/>
          </a:prstGeom>
          <a:noFill/>
        </p:spPr>
        <p:txBody>
          <a:bodyPr wrap="square" lIns="41148" tIns="22860" rIns="41148" bIns="22860" anchor="t">
            <a:spAutoFit/>
          </a:bodyPr>
          <a:lstStyle/>
          <a:p>
            <a:pPr algn="l"/>
            <a:r>
              <a:rPr sz="720" b="1" i="0">
                <a:solidFill>
                  <a:srgbClr val="5D7684"/>
                </a:solidFill>
                <a:latin typeface="Aptos"/>
              </a:rPr>
              <a:t>COURSE REGISTRATION &amp; TIMETABLE BUILDER</a:t>
            </a:r>
          </a:p>
        </p:txBody>
      </p:sp>
      <p:sp>
        <p:nvSpPr>
          <p:cNvPr id="44" name="TextBox 43"/>
          <p:cNvSpPr txBox="1"/>
          <p:nvPr/>
        </p:nvSpPr>
        <p:spPr>
          <a:xfrm>
            <a:off x="11201400" y="6510528"/>
            <a:ext cx="384048" cy="182880"/>
          </a:xfrm>
          <a:prstGeom prst="rect">
            <a:avLst/>
          </a:prstGeom>
          <a:noFill/>
        </p:spPr>
        <p:txBody>
          <a:bodyPr wrap="square" lIns="41148" tIns="22860" rIns="41148" bIns="22860" anchor="t">
            <a:spAutoFit/>
          </a:bodyPr>
          <a:lstStyle/>
          <a:p>
            <a:pPr algn="r"/>
            <a:r>
              <a:rPr sz="750" b="1" i="0">
                <a:solidFill>
                  <a:srgbClr val="5D7684"/>
                </a:solidFill>
                <a:latin typeface="Aptos"/>
              </a:rP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1FAFD"/>
        </a:solidFill>
        <a:effectLst/>
      </p:bgPr>
    </p:bg>
    <p:spTree>
      <p:nvGrpSpPr>
        <p:cNvPr id="1" name=""/>
        <p:cNvGrpSpPr/>
        <p:nvPr/>
      </p:nvGrpSpPr>
      <p:grpSpPr>
        <a:xfrm>
          <a:off x="0" y="0"/>
          <a:ext cx="0" cy="0"/>
          <a:chOff x="0" y="0"/>
          <a:chExt cx="0" cy="0"/>
        </a:xfrm>
      </p:grpSpPr>
      <p:sp>
        <p:nvSpPr>
          <p:cNvPr id="2" name="Oval 1"/>
          <p:cNvSpPr/>
          <p:nvPr/>
        </p:nvSpPr>
        <p:spPr>
          <a:xfrm>
            <a:off x="10652760" y="-411480"/>
            <a:ext cx="1920240" cy="1920240"/>
          </a:xfrm>
          <a:prstGeom prst="ellipse">
            <a:avLst/>
          </a:prstGeom>
          <a:solidFill>
            <a:srgbClr val="D7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9875520" y="5623560"/>
            <a:ext cx="2011680" cy="2011680"/>
          </a:xfrm>
          <a:prstGeom prst="ellipse">
            <a:avLst/>
          </a:prstGeom>
          <a:solidFill>
            <a:srgbClr val="E1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411480" y="5715000"/>
            <a:ext cx="1554480" cy="1554480"/>
          </a:xfrm>
          <a:prstGeom prst="ellipse">
            <a:avLst/>
          </a:prstGeom>
          <a:solidFill>
            <a:srgbClr val="EDE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rot="20100000">
            <a:off x="11292840" y="91440"/>
            <a:ext cx="228600" cy="96012"/>
          </a:xfrm>
          <a:prstGeom prst="ellipse">
            <a:avLst/>
          </a:prstGeom>
          <a:solidFill>
            <a:srgbClr val="5BB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rot="1500000">
            <a:off x="11494008" y="256032"/>
            <a:ext cx="256032" cy="107533"/>
          </a:xfrm>
          <a:prstGeom prst="ellipse">
            <a:avLst/>
          </a:prstGeom>
          <a:solidFill>
            <a:srgbClr val="2A79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rot="19500000">
            <a:off x="11146536" y="411479"/>
            <a:ext cx="219456" cy="92171"/>
          </a:xfrm>
          <a:prstGeom prst="ellipse">
            <a:avLst/>
          </a:prstGeom>
          <a:solidFill>
            <a:srgbClr val="5BB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rot="1500000">
            <a:off x="11402567" y="566928"/>
            <a:ext cx="201168" cy="84490"/>
          </a:xfrm>
          <a:prstGeom prst="ellipse">
            <a:avLst/>
          </a:prstGeom>
          <a:solidFill>
            <a:srgbClr val="2A79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rot="19500000">
            <a:off x="11036808" y="685800"/>
            <a:ext cx="201168" cy="84490"/>
          </a:xfrm>
          <a:prstGeom prst="ellipse">
            <a:avLst/>
          </a:prstGeom>
          <a:solidFill>
            <a:srgbClr val="5BB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0" name="Connector 9"/>
          <p:cNvCxnSpPr/>
          <p:nvPr/>
        </p:nvCxnSpPr>
        <p:spPr>
          <a:xfrm flipH="1">
            <a:off x="11311128" y="109728"/>
            <a:ext cx="73152" cy="758952"/>
          </a:xfrm>
          <a:prstGeom prst="line">
            <a:avLst/>
          </a:prstGeom>
          <a:ln w="13970">
            <a:solidFill>
              <a:srgbClr val="2A79A3"/>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502920" y="329184"/>
            <a:ext cx="502920" cy="329184"/>
          </a:xfrm>
          <a:prstGeom prst="roundRect">
            <a:avLst>
              <a:gd name="adj" fmla="val 12000"/>
            </a:avLst>
          </a:prstGeom>
          <a:solidFill>
            <a:srgbClr val="D7F0F8"/>
          </a:solidFill>
          <a:ln>
            <a:solidFill>
              <a:srgbClr val="D7F0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21208" y="347472"/>
            <a:ext cx="466344" cy="274320"/>
          </a:xfrm>
          <a:prstGeom prst="rect">
            <a:avLst/>
          </a:prstGeom>
          <a:noFill/>
        </p:spPr>
        <p:txBody>
          <a:bodyPr wrap="square" lIns="41148" tIns="22860" rIns="41148" bIns="22860" anchor="ctr">
            <a:spAutoFit/>
          </a:bodyPr>
          <a:lstStyle/>
          <a:p>
            <a:pPr algn="ctr"/>
            <a:r>
              <a:rPr sz="1000" b="1" i="0">
                <a:solidFill>
                  <a:srgbClr val="10395C"/>
                </a:solidFill>
                <a:latin typeface="Aptos"/>
              </a:rPr>
              <a:t>11</a:t>
            </a:r>
          </a:p>
        </p:txBody>
      </p:sp>
      <p:sp>
        <p:nvSpPr>
          <p:cNvPr id="13" name="TextBox 12"/>
          <p:cNvSpPr txBox="1"/>
          <p:nvPr/>
        </p:nvSpPr>
        <p:spPr>
          <a:xfrm>
            <a:off x="1115568" y="274320"/>
            <a:ext cx="9875520" cy="438912"/>
          </a:xfrm>
          <a:prstGeom prst="rect">
            <a:avLst/>
          </a:prstGeom>
          <a:noFill/>
        </p:spPr>
        <p:txBody>
          <a:bodyPr wrap="square" lIns="41148" tIns="22860" rIns="41148" bIns="22860" anchor="t">
            <a:spAutoFit/>
          </a:bodyPr>
          <a:lstStyle/>
          <a:p>
            <a:pPr algn="l"/>
            <a:r>
              <a:rPr sz="2300" b="1" i="0">
                <a:solidFill>
                  <a:srgbClr val="10395C"/>
                </a:solidFill>
                <a:latin typeface="Aptos"/>
              </a:rPr>
              <a:t>Timetable Builder</a:t>
            </a:r>
          </a:p>
        </p:txBody>
      </p:sp>
      <p:sp>
        <p:nvSpPr>
          <p:cNvPr id="14" name="TextBox 13"/>
          <p:cNvSpPr txBox="1"/>
          <p:nvPr/>
        </p:nvSpPr>
        <p:spPr>
          <a:xfrm>
            <a:off x="1133856" y="758952"/>
            <a:ext cx="9418320" cy="274320"/>
          </a:xfrm>
          <a:prstGeom prst="rect">
            <a:avLst/>
          </a:prstGeom>
          <a:noFill/>
        </p:spPr>
        <p:txBody>
          <a:bodyPr wrap="square" lIns="41148" tIns="22860" rIns="41148" bIns="22860" anchor="t">
            <a:spAutoFit/>
          </a:bodyPr>
          <a:lstStyle/>
          <a:p>
            <a:pPr algn="l"/>
            <a:r>
              <a:rPr sz="1080" b="0" i="0">
                <a:solidFill>
                  <a:srgbClr val="5D7684"/>
                </a:solidFill>
                <a:latin typeface="Aptos"/>
              </a:rPr>
              <a:t>Selected courses become a visual weekly plan</a:t>
            </a:r>
          </a:p>
        </p:txBody>
      </p:sp>
      <p:sp>
        <p:nvSpPr>
          <p:cNvPr id="15" name="Rectangle 14"/>
          <p:cNvSpPr/>
          <p:nvPr/>
        </p:nvSpPr>
        <p:spPr>
          <a:xfrm>
            <a:off x="1133856" y="1060704"/>
            <a:ext cx="1051560" cy="32004"/>
          </a:xfrm>
          <a:prstGeom prst="rect">
            <a:avLst/>
          </a:prstGeom>
          <a:solidFill>
            <a:srgbClr val="5BB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594360" y="1417320"/>
            <a:ext cx="1499616" cy="438912"/>
          </a:xfrm>
          <a:prstGeom prst="roundRect">
            <a:avLst>
              <a:gd name="adj" fmla="val 0"/>
            </a:avLst>
          </a:prstGeom>
          <a:solidFill>
            <a:srgbClr val="D7F0F8"/>
          </a:solidFill>
          <a:ln>
            <a:solidFill>
              <a:srgbClr val="C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94360" y="1508760"/>
            <a:ext cx="1499616" cy="228600"/>
          </a:xfrm>
          <a:prstGeom prst="rect">
            <a:avLst/>
          </a:prstGeom>
          <a:noFill/>
        </p:spPr>
        <p:txBody>
          <a:bodyPr wrap="square" lIns="41148" tIns="22860" rIns="41148" bIns="22860" anchor="t">
            <a:spAutoFit/>
          </a:bodyPr>
          <a:lstStyle/>
          <a:p>
            <a:pPr algn="ctr"/>
            <a:r>
              <a:rPr sz="930" b="1" i="0">
                <a:solidFill>
                  <a:srgbClr val="10395C"/>
                </a:solidFill>
                <a:latin typeface="Aptos"/>
              </a:rPr>
              <a:t>TIME</a:t>
            </a:r>
          </a:p>
        </p:txBody>
      </p:sp>
      <p:sp>
        <p:nvSpPr>
          <p:cNvPr id="18" name="Rounded Rectangle 17"/>
          <p:cNvSpPr/>
          <p:nvPr/>
        </p:nvSpPr>
        <p:spPr>
          <a:xfrm>
            <a:off x="2148840" y="1417320"/>
            <a:ext cx="1499616" cy="438912"/>
          </a:xfrm>
          <a:prstGeom prst="roundRect">
            <a:avLst>
              <a:gd name="adj" fmla="val 0"/>
            </a:avLst>
          </a:prstGeom>
          <a:solidFill>
            <a:srgbClr val="FFFFFF"/>
          </a:solidFill>
          <a:ln>
            <a:solidFill>
              <a:srgbClr val="C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148840" y="1508760"/>
            <a:ext cx="1499616" cy="228600"/>
          </a:xfrm>
          <a:prstGeom prst="rect">
            <a:avLst/>
          </a:prstGeom>
          <a:noFill/>
        </p:spPr>
        <p:txBody>
          <a:bodyPr wrap="square" lIns="41148" tIns="22860" rIns="41148" bIns="22860" anchor="t">
            <a:spAutoFit/>
          </a:bodyPr>
          <a:lstStyle/>
          <a:p>
            <a:pPr algn="ctr"/>
            <a:r>
              <a:rPr sz="930" b="1" i="0">
                <a:solidFill>
                  <a:srgbClr val="10395C"/>
                </a:solidFill>
                <a:latin typeface="Aptos"/>
              </a:rPr>
              <a:t>MON</a:t>
            </a:r>
          </a:p>
        </p:txBody>
      </p:sp>
      <p:sp>
        <p:nvSpPr>
          <p:cNvPr id="20" name="Rounded Rectangle 19"/>
          <p:cNvSpPr/>
          <p:nvPr/>
        </p:nvSpPr>
        <p:spPr>
          <a:xfrm>
            <a:off x="3703320" y="1417320"/>
            <a:ext cx="1499616" cy="438912"/>
          </a:xfrm>
          <a:prstGeom prst="roundRect">
            <a:avLst>
              <a:gd name="adj" fmla="val 0"/>
            </a:avLst>
          </a:prstGeom>
          <a:solidFill>
            <a:srgbClr val="FFFFFF"/>
          </a:solidFill>
          <a:ln>
            <a:solidFill>
              <a:srgbClr val="C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703320" y="1508760"/>
            <a:ext cx="1499616" cy="228600"/>
          </a:xfrm>
          <a:prstGeom prst="rect">
            <a:avLst/>
          </a:prstGeom>
          <a:noFill/>
        </p:spPr>
        <p:txBody>
          <a:bodyPr wrap="square" lIns="41148" tIns="22860" rIns="41148" bIns="22860" anchor="t">
            <a:spAutoFit/>
          </a:bodyPr>
          <a:lstStyle/>
          <a:p>
            <a:pPr algn="ctr"/>
            <a:r>
              <a:rPr sz="930" b="1" i="0">
                <a:solidFill>
                  <a:srgbClr val="10395C"/>
                </a:solidFill>
                <a:latin typeface="Aptos"/>
              </a:rPr>
              <a:t>TUE</a:t>
            </a:r>
          </a:p>
        </p:txBody>
      </p:sp>
      <p:sp>
        <p:nvSpPr>
          <p:cNvPr id="22" name="Rounded Rectangle 21"/>
          <p:cNvSpPr/>
          <p:nvPr/>
        </p:nvSpPr>
        <p:spPr>
          <a:xfrm>
            <a:off x="5257800" y="1417320"/>
            <a:ext cx="1499616" cy="438912"/>
          </a:xfrm>
          <a:prstGeom prst="roundRect">
            <a:avLst>
              <a:gd name="adj" fmla="val 0"/>
            </a:avLst>
          </a:prstGeom>
          <a:solidFill>
            <a:srgbClr val="FFFFFF"/>
          </a:solidFill>
          <a:ln>
            <a:solidFill>
              <a:srgbClr val="C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257800" y="1508760"/>
            <a:ext cx="1499616" cy="228600"/>
          </a:xfrm>
          <a:prstGeom prst="rect">
            <a:avLst/>
          </a:prstGeom>
          <a:noFill/>
        </p:spPr>
        <p:txBody>
          <a:bodyPr wrap="square" lIns="41148" tIns="22860" rIns="41148" bIns="22860" anchor="t">
            <a:spAutoFit/>
          </a:bodyPr>
          <a:lstStyle/>
          <a:p>
            <a:pPr algn="ctr"/>
            <a:r>
              <a:rPr sz="930" b="1" i="0">
                <a:solidFill>
                  <a:srgbClr val="10395C"/>
                </a:solidFill>
                <a:latin typeface="Aptos"/>
              </a:rPr>
              <a:t>WED</a:t>
            </a:r>
          </a:p>
        </p:txBody>
      </p:sp>
      <p:sp>
        <p:nvSpPr>
          <p:cNvPr id="24" name="Rounded Rectangle 23"/>
          <p:cNvSpPr/>
          <p:nvPr/>
        </p:nvSpPr>
        <p:spPr>
          <a:xfrm>
            <a:off x="6812280" y="1417320"/>
            <a:ext cx="1499616" cy="438912"/>
          </a:xfrm>
          <a:prstGeom prst="roundRect">
            <a:avLst>
              <a:gd name="adj" fmla="val 0"/>
            </a:avLst>
          </a:prstGeom>
          <a:solidFill>
            <a:srgbClr val="FFFFFF"/>
          </a:solidFill>
          <a:ln>
            <a:solidFill>
              <a:srgbClr val="C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812280" y="1508760"/>
            <a:ext cx="1499616" cy="228600"/>
          </a:xfrm>
          <a:prstGeom prst="rect">
            <a:avLst/>
          </a:prstGeom>
          <a:noFill/>
        </p:spPr>
        <p:txBody>
          <a:bodyPr wrap="square" lIns="41148" tIns="22860" rIns="41148" bIns="22860" anchor="t">
            <a:spAutoFit/>
          </a:bodyPr>
          <a:lstStyle/>
          <a:p>
            <a:pPr algn="ctr"/>
            <a:r>
              <a:rPr sz="930" b="1" i="0">
                <a:solidFill>
                  <a:srgbClr val="10395C"/>
                </a:solidFill>
                <a:latin typeface="Aptos"/>
              </a:rPr>
              <a:t>THU</a:t>
            </a:r>
          </a:p>
        </p:txBody>
      </p:sp>
      <p:sp>
        <p:nvSpPr>
          <p:cNvPr id="26" name="Rounded Rectangle 25"/>
          <p:cNvSpPr/>
          <p:nvPr/>
        </p:nvSpPr>
        <p:spPr>
          <a:xfrm>
            <a:off x="8366760" y="1417320"/>
            <a:ext cx="1499616" cy="438912"/>
          </a:xfrm>
          <a:prstGeom prst="roundRect">
            <a:avLst>
              <a:gd name="adj" fmla="val 0"/>
            </a:avLst>
          </a:prstGeom>
          <a:solidFill>
            <a:srgbClr val="FFFFFF"/>
          </a:solidFill>
          <a:ln>
            <a:solidFill>
              <a:srgbClr val="C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366760" y="1508760"/>
            <a:ext cx="1499616" cy="228600"/>
          </a:xfrm>
          <a:prstGeom prst="rect">
            <a:avLst/>
          </a:prstGeom>
          <a:noFill/>
        </p:spPr>
        <p:txBody>
          <a:bodyPr wrap="square" lIns="41148" tIns="22860" rIns="41148" bIns="22860" anchor="t">
            <a:spAutoFit/>
          </a:bodyPr>
          <a:lstStyle/>
          <a:p>
            <a:pPr algn="ctr"/>
            <a:r>
              <a:rPr sz="930" b="1" i="0">
                <a:solidFill>
                  <a:srgbClr val="10395C"/>
                </a:solidFill>
                <a:latin typeface="Aptos"/>
              </a:rPr>
              <a:t>FRI</a:t>
            </a:r>
          </a:p>
        </p:txBody>
      </p:sp>
      <p:sp>
        <p:nvSpPr>
          <p:cNvPr id="28" name="Rounded Rectangle 27"/>
          <p:cNvSpPr/>
          <p:nvPr/>
        </p:nvSpPr>
        <p:spPr>
          <a:xfrm>
            <a:off x="594360" y="1874519"/>
            <a:ext cx="1499616" cy="640080"/>
          </a:xfrm>
          <a:prstGeom prst="roundRect">
            <a:avLst>
              <a:gd name="adj" fmla="val 0"/>
            </a:avLst>
          </a:prstGeom>
          <a:solidFill>
            <a:srgbClr val="F1FAFD"/>
          </a:solidFill>
          <a:ln>
            <a:solidFill>
              <a:srgbClr val="C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94360" y="2039112"/>
            <a:ext cx="1499616" cy="201168"/>
          </a:xfrm>
          <a:prstGeom prst="rect">
            <a:avLst/>
          </a:prstGeom>
          <a:noFill/>
        </p:spPr>
        <p:txBody>
          <a:bodyPr wrap="square" lIns="41148" tIns="22860" rIns="41148" bIns="22860" anchor="t">
            <a:spAutoFit/>
          </a:bodyPr>
          <a:lstStyle/>
          <a:p>
            <a:pPr algn="ctr"/>
            <a:r>
              <a:rPr sz="880" b="1" i="0">
                <a:solidFill>
                  <a:srgbClr val="5D7684"/>
                </a:solidFill>
                <a:latin typeface="Aptos"/>
              </a:rPr>
              <a:t>9–10</a:t>
            </a:r>
          </a:p>
        </p:txBody>
      </p:sp>
      <p:sp>
        <p:nvSpPr>
          <p:cNvPr id="30" name="Rounded Rectangle 29"/>
          <p:cNvSpPr/>
          <p:nvPr/>
        </p:nvSpPr>
        <p:spPr>
          <a:xfrm>
            <a:off x="2148840" y="1874519"/>
            <a:ext cx="1499616" cy="640080"/>
          </a:xfrm>
          <a:prstGeom prst="roundRect">
            <a:avLst>
              <a:gd name="adj" fmla="val 0"/>
            </a:avLst>
          </a:prstGeom>
          <a:solidFill>
            <a:srgbClr val="FFFFFF"/>
          </a:solidFill>
          <a:ln>
            <a:solidFill>
              <a:srgbClr val="DEED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30"/>
          <p:cNvSpPr/>
          <p:nvPr/>
        </p:nvSpPr>
        <p:spPr>
          <a:xfrm>
            <a:off x="3703320" y="1874519"/>
            <a:ext cx="1499616" cy="640080"/>
          </a:xfrm>
          <a:prstGeom prst="roundRect">
            <a:avLst>
              <a:gd name="adj" fmla="val 0"/>
            </a:avLst>
          </a:prstGeom>
          <a:solidFill>
            <a:srgbClr val="FFFFFF"/>
          </a:solidFill>
          <a:ln>
            <a:solidFill>
              <a:srgbClr val="DEED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ounded Rectangle 31"/>
          <p:cNvSpPr/>
          <p:nvPr/>
        </p:nvSpPr>
        <p:spPr>
          <a:xfrm>
            <a:off x="5257800" y="1874519"/>
            <a:ext cx="1499616" cy="640080"/>
          </a:xfrm>
          <a:prstGeom prst="roundRect">
            <a:avLst>
              <a:gd name="adj" fmla="val 0"/>
            </a:avLst>
          </a:prstGeom>
          <a:solidFill>
            <a:srgbClr val="FFFFFF"/>
          </a:solidFill>
          <a:ln>
            <a:solidFill>
              <a:srgbClr val="DEED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ounded Rectangle 32"/>
          <p:cNvSpPr/>
          <p:nvPr/>
        </p:nvSpPr>
        <p:spPr>
          <a:xfrm>
            <a:off x="6812280" y="1874519"/>
            <a:ext cx="1499616" cy="640080"/>
          </a:xfrm>
          <a:prstGeom prst="roundRect">
            <a:avLst>
              <a:gd name="adj" fmla="val 0"/>
            </a:avLst>
          </a:prstGeom>
          <a:solidFill>
            <a:srgbClr val="FFFFFF"/>
          </a:solidFill>
          <a:ln>
            <a:solidFill>
              <a:srgbClr val="DEED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ounded Rectangle 33"/>
          <p:cNvSpPr/>
          <p:nvPr/>
        </p:nvSpPr>
        <p:spPr>
          <a:xfrm>
            <a:off x="8366760" y="1874519"/>
            <a:ext cx="1499616" cy="640080"/>
          </a:xfrm>
          <a:prstGeom prst="roundRect">
            <a:avLst>
              <a:gd name="adj" fmla="val 0"/>
            </a:avLst>
          </a:prstGeom>
          <a:solidFill>
            <a:srgbClr val="FFFFFF"/>
          </a:solidFill>
          <a:ln>
            <a:solidFill>
              <a:srgbClr val="DEED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34"/>
          <p:cNvSpPr/>
          <p:nvPr/>
        </p:nvSpPr>
        <p:spPr>
          <a:xfrm>
            <a:off x="594360" y="2569463"/>
            <a:ext cx="1499616" cy="640080"/>
          </a:xfrm>
          <a:prstGeom prst="roundRect">
            <a:avLst>
              <a:gd name="adj" fmla="val 0"/>
            </a:avLst>
          </a:prstGeom>
          <a:solidFill>
            <a:srgbClr val="F1FAFD"/>
          </a:solidFill>
          <a:ln>
            <a:solidFill>
              <a:srgbClr val="C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594360" y="2734056"/>
            <a:ext cx="1499616" cy="201168"/>
          </a:xfrm>
          <a:prstGeom prst="rect">
            <a:avLst/>
          </a:prstGeom>
          <a:noFill/>
        </p:spPr>
        <p:txBody>
          <a:bodyPr wrap="square" lIns="41148" tIns="22860" rIns="41148" bIns="22860" anchor="t">
            <a:spAutoFit/>
          </a:bodyPr>
          <a:lstStyle/>
          <a:p>
            <a:pPr algn="ctr"/>
            <a:r>
              <a:rPr sz="880" b="1" i="0">
                <a:solidFill>
                  <a:srgbClr val="5D7684"/>
                </a:solidFill>
                <a:latin typeface="Aptos"/>
              </a:rPr>
              <a:t>10–11</a:t>
            </a:r>
          </a:p>
        </p:txBody>
      </p:sp>
      <p:sp>
        <p:nvSpPr>
          <p:cNvPr id="37" name="Rounded Rectangle 36"/>
          <p:cNvSpPr/>
          <p:nvPr/>
        </p:nvSpPr>
        <p:spPr>
          <a:xfrm>
            <a:off x="2148840" y="2569463"/>
            <a:ext cx="1499616" cy="640080"/>
          </a:xfrm>
          <a:prstGeom prst="roundRect">
            <a:avLst>
              <a:gd name="adj" fmla="val 0"/>
            </a:avLst>
          </a:prstGeom>
          <a:solidFill>
            <a:srgbClr val="FFFFFF"/>
          </a:solidFill>
          <a:ln>
            <a:solidFill>
              <a:srgbClr val="DEED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ounded Rectangle 37"/>
          <p:cNvSpPr/>
          <p:nvPr/>
        </p:nvSpPr>
        <p:spPr>
          <a:xfrm>
            <a:off x="3703320" y="2569463"/>
            <a:ext cx="1499616" cy="640080"/>
          </a:xfrm>
          <a:prstGeom prst="roundRect">
            <a:avLst>
              <a:gd name="adj" fmla="val 0"/>
            </a:avLst>
          </a:prstGeom>
          <a:solidFill>
            <a:srgbClr val="FFFFFF"/>
          </a:solidFill>
          <a:ln>
            <a:solidFill>
              <a:srgbClr val="DEED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ounded Rectangle 38"/>
          <p:cNvSpPr/>
          <p:nvPr/>
        </p:nvSpPr>
        <p:spPr>
          <a:xfrm>
            <a:off x="5257800" y="2569463"/>
            <a:ext cx="1499616" cy="640080"/>
          </a:xfrm>
          <a:prstGeom prst="roundRect">
            <a:avLst>
              <a:gd name="adj" fmla="val 0"/>
            </a:avLst>
          </a:prstGeom>
          <a:solidFill>
            <a:srgbClr val="FFFFFF"/>
          </a:solidFill>
          <a:ln>
            <a:solidFill>
              <a:srgbClr val="DEED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ounded Rectangle 39"/>
          <p:cNvSpPr/>
          <p:nvPr/>
        </p:nvSpPr>
        <p:spPr>
          <a:xfrm>
            <a:off x="6812280" y="2569463"/>
            <a:ext cx="1499616" cy="640080"/>
          </a:xfrm>
          <a:prstGeom prst="roundRect">
            <a:avLst>
              <a:gd name="adj" fmla="val 0"/>
            </a:avLst>
          </a:prstGeom>
          <a:solidFill>
            <a:srgbClr val="FFFFFF"/>
          </a:solidFill>
          <a:ln>
            <a:solidFill>
              <a:srgbClr val="DEED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ounded Rectangle 40"/>
          <p:cNvSpPr/>
          <p:nvPr/>
        </p:nvSpPr>
        <p:spPr>
          <a:xfrm>
            <a:off x="8366760" y="2569463"/>
            <a:ext cx="1499616" cy="640080"/>
          </a:xfrm>
          <a:prstGeom prst="roundRect">
            <a:avLst>
              <a:gd name="adj" fmla="val 0"/>
            </a:avLst>
          </a:prstGeom>
          <a:solidFill>
            <a:srgbClr val="FFFFFF"/>
          </a:solidFill>
          <a:ln>
            <a:solidFill>
              <a:srgbClr val="DEED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ounded Rectangle 41"/>
          <p:cNvSpPr/>
          <p:nvPr/>
        </p:nvSpPr>
        <p:spPr>
          <a:xfrm>
            <a:off x="594360" y="3264408"/>
            <a:ext cx="1499616" cy="640080"/>
          </a:xfrm>
          <a:prstGeom prst="roundRect">
            <a:avLst>
              <a:gd name="adj" fmla="val 0"/>
            </a:avLst>
          </a:prstGeom>
          <a:solidFill>
            <a:srgbClr val="F1FAFD"/>
          </a:solidFill>
          <a:ln>
            <a:solidFill>
              <a:srgbClr val="C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594360" y="3429000"/>
            <a:ext cx="1499616" cy="201168"/>
          </a:xfrm>
          <a:prstGeom prst="rect">
            <a:avLst/>
          </a:prstGeom>
          <a:noFill/>
        </p:spPr>
        <p:txBody>
          <a:bodyPr wrap="square" lIns="41148" tIns="22860" rIns="41148" bIns="22860" anchor="t">
            <a:spAutoFit/>
          </a:bodyPr>
          <a:lstStyle/>
          <a:p>
            <a:pPr algn="ctr"/>
            <a:r>
              <a:rPr sz="880" b="1" i="0">
                <a:solidFill>
                  <a:srgbClr val="5D7684"/>
                </a:solidFill>
                <a:latin typeface="Aptos"/>
              </a:rPr>
              <a:t>11–12</a:t>
            </a:r>
          </a:p>
        </p:txBody>
      </p:sp>
      <p:sp>
        <p:nvSpPr>
          <p:cNvPr id="44" name="Rounded Rectangle 43"/>
          <p:cNvSpPr/>
          <p:nvPr/>
        </p:nvSpPr>
        <p:spPr>
          <a:xfrm>
            <a:off x="2148840" y="3264408"/>
            <a:ext cx="1499616" cy="640080"/>
          </a:xfrm>
          <a:prstGeom prst="roundRect">
            <a:avLst>
              <a:gd name="adj" fmla="val 0"/>
            </a:avLst>
          </a:prstGeom>
          <a:solidFill>
            <a:srgbClr val="FFFFFF"/>
          </a:solidFill>
          <a:ln>
            <a:solidFill>
              <a:srgbClr val="DEED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ounded Rectangle 44"/>
          <p:cNvSpPr/>
          <p:nvPr/>
        </p:nvSpPr>
        <p:spPr>
          <a:xfrm>
            <a:off x="3703320" y="3264408"/>
            <a:ext cx="1499616" cy="640080"/>
          </a:xfrm>
          <a:prstGeom prst="roundRect">
            <a:avLst>
              <a:gd name="adj" fmla="val 0"/>
            </a:avLst>
          </a:prstGeom>
          <a:solidFill>
            <a:srgbClr val="FFFFFF"/>
          </a:solidFill>
          <a:ln>
            <a:solidFill>
              <a:srgbClr val="DEED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ounded Rectangle 45"/>
          <p:cNvSpPr/>
          <p:nvPr/>
        </p:nvSpPr>
        <p:spPr>
          <a:xfrm>
            <a:off x="5257800" y="3264408"/>
            <a:ext cx="1499616" cy="640080"/>
          </a:xfrm>
          <a:prstGeom prst="roundRect">
            <a:avLst>
              <a:gd name="adj" fmla="val 0"/>
            </a:avLst>
          </a:prstGeom>
          <a:solidFill>
            <a:srgbClr val="FFFFFF"/>
          </a:solidFill>
          <a:ln>
            <a:solidFill>
              <a:srgbClr val="DEED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ounded Rectangle 46"/>
          <p:cNvSpPr/>
          <p:nvPr/>
        </p:nvSpPr>
        <p:spPr>
          <a:xfrm>
            <a:off x="6812280" y="3264408"/>
            <a:ext cx="1499616" cy="640080"/>
          </a:xfrm>
          <a:prstGeom prst="roundRect">
            <a:avLst>
              <a:gd name="adj" fmla="val 0"/>
            </a:avLst>
          </a:prstGeom>
          <a:solidFill>
            <a:srgbClr val="FFFFFF"/>
          </a:solidFill>
          <a:ln>
            <a:solidFill>
              <a:srgbClr val="DEED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ounded Rectangle 47"/>
          <p:cNvSpPr/>
          <p:nvPr/>
        </p:nvSpPr>
        <p:spPr>
          <a:xfrm>
            <a:off x="8366760" y="3264408"/>
            <a:ext cx="1499616" cy="640080"/>
          </a:xfrm>
          <a:prstGeom prst="roundRect">
            <a:avLst>
              <a:gd name="adj" fmla="val 0"/>
            </a:avLst>
          </a:prstGeom>
          <a:solidFill>
            <a:srgbClr val="FFFFFF"/>
          </a:solidFill>
          <a:ln>
            <a:solidFill>
              <a:srgbClr val="DEED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ounded Rectangle 48"/>
          <p:cNvSpPr/>
          <p:nvPr/>
        </p:nvSpPr>
        <p:spPr>
          <a:xfrm>
            <a:off x="594360" y="3959352"/>
            <a:ext cx="1499616" cy="640080"/>
          </a:xfrm>
          <a:prstGeom prst="roundRect">
            <a:avLst>
              <a:gd name="adj" fmla="val 0"/>
            </a:avLst>
          </a:prstGeom>
          <a:solidFill>
            <a:srgbClr val="F1FAFD"/>
          </a:solidFill>
          <a:ln>
            <a:solidFill>
              <a:srgbClr val="C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594360" y="4123944"/>
            <a:ext cx="1499616" cy="201168"/>
          </a:xfrm>
          <a:prstGeom prst="rect">
            <a:avLst/>
          </a:prstGeom>
          <a:noFill/>
        </p:spPr>
        <p:txBody>
          <a:bodyPr wrap="square" lIns="41148" tIns="22860" rIns="41148" bIns="22860" anchor="t">
            <a:spAutoFit/>
          </a:bodyPr>
          <a:lstStyle/>
          <a:p>
            <a:pPr algn="ctr"/>
            <a:r>
              <a:rPr sz="880" b="1" i="0">
                <a:solidFill>
                  <a:srgbClr val="5D7684"/>
                </a:solidFill>
                <a:latin typeface="Aptos"/>
              </a:rPr>
              <a:t>12–1</a:t>
            </a:r>
          </a:p>
        </p:txBody>
      </p:sp>
      <p:sp>
        <p:nvSpPr>
          <p:cNvPr id="51" name="Rounded Rectangle 50"/>
          <p:cNvSpPr/>
          <p:nvPr/>
        </p:nvSpPr>
        <p:spPr>
          <a:xfrm>
            <a:off x="2148840" y="3959352"/>
            <a:ext cx="1499616" cy="640080"/>
          </a:xfrm>
          <a:prstGeom prst="roundRect">
            <a:avLst>
              <a:gd name="adj" fmla="val 0"/>
            </a:avLst>
          </a:prstGeom>
          <a:solidFill>
            <a:srgbClr val="FFFFFF"/>
          </a:solidFill>
          <a:ln>
            <a:solidFill>
              <a:srgbClr val="DEED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ounded Rectangle 51"/>
          <p:cNvSpPr/>
          <p:nvPr/>
        </p:nvSpPr>
        <p:spPr>
          <a:xfrm>
            <a:off x="3703320" y="3959352"/>
            <a:ext cx="1499616" cy="640080"/>
          </a:xfrm>
          <a:prstGeom prst="roundRect">
            <a:avLst>
              <a:gd name="adj" fmla="val 0"/>
            </a:avLst>
          </a:prstGeom>
          <a:solidFill>
            <a:srgbClr val="FFFFFF"/>
          </a:solidFill>
          <a:ln>
            <a:solidFill>
              <a:srgbClr val="DEED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ounded Rectangle 52"/>
          <p:cNvSpPr/>
          <p:nvPr/>
        </p:nvSpPr>
        <p:spPr>
          <a:xfrm>
            <a:off x="5257800" y="3959352"/>
            <a:ext cx="1499616" cy="640080"/>
          </a:xfrm>
          <a:prstGeom prst="roundRect">
            <a:avLst>
              <a:gd name="adj" fmla="val 0"/>
            </a:avLst>
          </a:prstGeom>
          <a:solidFill>
            <a:srgbClr val="FFFFFF"/>
          </a:solidFill>
          <a:ln>
            <a:solidFill>
              <a:srgbClr val="DEED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ounded Rectangle 53"/>
          <p:cNvSpPr/>
          <p:nvPr/>
        </p:nvSpPr>
        <p:spPr>
          <a:xfrm>
            <a:off x="6812280" y="3959352"/>
            <a:ext cx="1499616" cy="640080"/>
          </a:xfrm>
          <a:prstGeom prst="roundRect">
            <a:avLst>
              <a:gd name="adj" fmla="val 0"/>
            </a:avLst>
          </a:prstGeom>
          <a:solidFill>
            <a:srgbClr val="FFFFFF"/>
          </a:solidFill>
          <a:ln>
            <a:solidFill>
              <a:srgbClr val="DEED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ounded Rectangle 54"/>
          <p:cNvSpPr/>
          <p:nvPr/>
        </p:nvSpPr>
        <p:spPr>
          <a:xfrm>
            <a:off x="8366760" y="3959352"/>
            <a:ext cx="1499616" cy="640080"/>
          </a:xfrm>
          <a:prstGeom prst="roundRect">
            <a:avLst>
              <a:gd name="adj" fmla="val 0"/>
            </a:avLst>
          </a:prstGeom>
          <a:solidFill>
            <a:srgbClr val="FFFFFF"/>
          </a:solidFill>
          <a:ln>
            <a:solidFill>
              <a:srgbClr val="DEED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ounded Rectangle 55"/>
          <p:cNvSpPr/>
          <p:nvPr/>
        </p:nvSpPr>
        <p:spPr>
          <a:xfrm>
            <a:off x="594360" y="4654296"/>
            <a:ext cx="1499616" cy="640080"/>
          </a:xfrm>
          <a:prstGeom prst="roundRect">
            <a:avLst>
              <a:gd name="adj" fmla="val 0"/>
            </a:avLst>
          </a:prstGeom>
          <a:solidFill>
            <a:srgbClr val="F1FAFD"/>
          </a:solidFill>
          <a:ln>
            <a:solidFill>
              <a:srgbClr val="C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594360" y="4818888"/>
            <a:ext cx="1499616" cy="201168"/>
          </a:xfrm>
          <a:prstGeom prst="rect">
            <a:avLst/>
          </a:prstGeom>
          <a:noFill/>
        </p:spPr>
        <p:txBody>
          <a:bodyPr wrap="square" lIns="41148" tIns="22860" rIns="41148" bIns="22860" anchor="t">
            <a:spAutoFit/>
          </a:bodyPr>
          <a:lstStyle/>
          <a:p>
            <a:pPr algn="ctr"/>
            <a:r>
              <a:rPr sz="880" b="1" i="0">
                <a:solidFill>
                  <a:srgbClr val="5D7684"/>
                </a:solidFill>
                <a:latin typeface="Aptos"/>
              </a:rPr>
              <a:t>1–2</a:t>
            </a:r>
          </a:p>
        </p:txBody>
      </p:sp>
      <p:sp>
        <p:nvSpPr>
          <p:cNvPr id="58" name="Rounded Rectangle 57"/>
          <p:cNvSpPr/>
          <p:nvPr/>
        </p:nvSpPr>
        <p:spPr>
          <a:xfrm>
            <a:off x="2148840" y="4654296"/>
            <a:ext cx="1499616" cy="640080"/>
          </a:xfrm>
          <a:prstGeom prst="roundRect">
            <a:avLst>
              <a:gd name="adj" fmla="val 0"/>
            </a:avLst>
          </a:prstGeom>
          <a:solidFill>
            <a:srgbClr val="FFFFFF"/>
          </a:solidFill>
          <a:ln>
            <a:solidFill>
              <a:srgbClr val="DEED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ounded Rectangle 58"/>
          <p:cNvSpPr/>
          <p:nvPr/>
        </p:nvSpPr>
        <p:spPr>
          <a:xfrm>
            <a:off x="3703320" y="4654296"/>
            <a:ext cx="1499616" cy="640080"/>
          </a:xfrm>
          <a:prstGeom prst="roundRect">
            <a:avLst>
              <a:gd name="adj" fmla="val 0"/>
            </a:avLst>
          </a:prstGeom>
          <a:solidFill>
            <a:srgbClr val="FFFFFF"/>
          </a:solidFill>
          <a:ln>
            <a:solidFill>
              <a:srgbClr val="DEED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Rounded Rectangle 59"/>
          <p:cNvSpPr/>
          <p:nvPr/>
        </p:nvSpPr>
        <p:spPr>
          <a:xfrm>
            <a:off x="5257800" y="4654296"/>
            <a:ext cx="1499616" cy="640080"/>
          </a:xfrm>
          <a:prstGeom prst="roundRect">
            <a:avLst>
              <a:gd name="adj" fmla="val 0"/>
            </a:avLst>
          </a:prstGeom>
          <a:solidFill>
            <a:srgbClr val="FFFFFF"/>
          </a:solidFill>
          <a:ln>
            <a:solidFill>
              <a:srgbClr val="DEED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Rounded Rectangle 60"/>
          <p:cNvSpPr/>
          <p:nvPr/>
        </p:nvSpPr>
        <p:spPr>
          <a:xfrm>
            <a:off x="6812280" y="4654296"/>
            <a:ext cx="1499616" cy="640080"/>
          </a:xfrm>
          <a:prstGeom prst="roundRect">
            <a:avLst>
              <a:gd name="adj" fmla="val 0"/>
            </a:avLst>
          </a:prstGeom>
          <a:solidFill>
            <a:srgbClr val="FFFFFF"/>
          </a:solidFill>
          <a:ln>
            <a:solidFill>
              <a:srgbClr val="DEED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Rounded Rectangle 61"/>
          <p:cNvSpPr/>
          <p:nvPr/>
        </p:nvSpPr>
        <p:spPr>
          <a:xfrm>
            <a:off x="8366760" y="4654296"/>
            <a:ext cx="1499616" cy="640080"/>
          </a:xfrm>
          <a:prstGeom prst="roundRect">
            <a:avLst>
              <a:gd name="adj" fmla="val 0"/>
            </a:avLst>
          </a:prstGeom>
          <a:solidFill>
            <a:srgbClr val="FFFFFF"/>
          </a:solidFill>
          <a:ln>
            <a:solidFill>
              <a:srgbClr val="DEED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Rounded Rectangle 62"/>
          <p:cNvSpPr/>
          <p:nvPr/>
        </p:nvSpPr>
        <p:spPr>
          <a:xfrm>
            <a:off x="2231136" y="1938528"/>
            <a:ext cx="1307592" cy="512064"/>
          </a:xfrm>
          <a:prstGeom prst="roundRect">
            <a:avLst>
              <a:gd name="adj" fmla="val 0"/>
            </a:avLst>
          </a:prstGeom>
          <a:solidFill>
            <a:srgbClr val="D7F0F8"/>
          </a:solidFill>
          <a:ln>
            <a:solidFill>
              <a:srgbClr val="D7F0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2231136" y="2066543"/>
            <a:ext cx="1307592" cy="182880"/>
          </a:xfrm>
          <a:prstGeom prst="rect">
            <a:avLst/>
          </a:prstGeom>
          <a:noFill/>
        </p:spPr>
        <p:txBody>
          <a:bodyPr wrap="square" lIns="41148" tIns="22860" rIns="41148" bIns="22860" anchor="t">
            <a:spAutoFit/>
          </a:bodyPr>
          <a:lstStyle/>
          <a:p>
            <a:pPr algn="ctr"/>
            <a:r>
              <a:rPr sz="869" b="1" i="0">
                <a:solidFill>
                  <a:srgbClr val="10395C"/>
                </a:solidFill>
                <a:latin typeface="Aptos"/>
              </a:rPr>
              <a:t>CSE101</a:t>
            </a:r>
          </a:p>
        </p:txBody>
      </p:sp>
      <p:sp>
        <p:nvSpPr>
          <p:cNvPr id="65" name="Rounded Rectangle 64"/>
          <p:cNvSpPr/>
          <p:nvPr/>
        </p:nvSpPr>
        <p:spPr>
          <a:xfrm>
            <a:off x="5340096" y="1938528"/>
            <a:ext cx="1307592" cy="512064"/>
          </a:xfrm>
          <a:prstGeom prst="roundRect">
            <a:avLst>
              <a:gd name="adj" fmla="val 0"/>
            </a:avLst>
          </a:prstGeom>
          <a:solidFill>
            <a:srgbClr val="D7F0F8"/>
          </a:solidFill>
          <a:ln>
            <a:solidFill>
              <a:srgbClr val="D7F0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5340096" y="2066543"/>
            <a:ext cx="1307592" cy="182880"/>
          </a:xfrm>
          <a:prstGeom prst="rect">
            <a:avLst/>
          </a:prstGeom>
          <a:noFill/>
        </p:spPr>
        <p:txBody>
          <a:bodyPr wrap="square" lIns="41148" tIns="22860" rIns="41148" bIns="22860" anchor="t">
            <a:spAutoFit/>
          </a:bodyPr>
          <a:lstStyle/>
          <a:p>
            <a:pPr algn="ctr"/>
            <a:r>
              <a:rPr sz="869" b="1" i="0">
                <a:solidFill>
                  <a:srgbClr val="10395C"/>
                </a:solidFill>
                <a:latin typeface="Aptos"/>
              </a:rPr>
              <a:t>CSE101</a:t>
            </a:r>
          </a:p>
        </p:txBody>
      </p:sp>
      <p:sp>
        <p:nvSpPr>
          <p:cNvPr id="67" name="Rounded Rectangle 66"/>
          <p:cNvSpPr/>
          <p:nvPr/>
        </p:nvSpPr>
        <p:spPr>
          <a:xfrm>
            <a:off x="3785615" y="2633472"/>
            <a:ext cx="1307592" cy="512064"/>
          </a:xfrm>
          <a:prstGeom prst="roundRect">
            <a:avLst>
              <a:gd name="adj" fmla="val 0"/>
            </a:avLst>
          </a:prstGeom>
          <a:solidFill>
            <a:srgbClr val="E1F8F1"/>
          </a:solidFill>
          <a:ln>
            <a:solidFill>
              <a:srgbClr val="E1F8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3785615" y="2761487"/>
            <a:ext cx="1307592" cy="182880"/>
          </a:xfrm>
          <a:prstGeom prst="rect">
            <a:avLst/>
          </a:prstGeom>
          <a:noFill/>
        </p:spPr>
        <p:txBody>
          <a:bodyPr wrap="square" lIns="41148" tIns="22860" rIns="41148" bIns="22860" anchor="t">
            <a:spAutoFit/>
          </a:bodyPr>
          <a:lstStyle/>
          <a:p>
            <a:pPr algn="ctr"/>
            <a:r>
              <a:rPr sz="869" b="1" i="0">
                <a:solidFill>
                  <a:srgbClr val="10395C"/>
                </a:solidFill>
                <a:latin typeface="Aptos"/>
              </a:rPr>
              <a:t>MAT101</a:t>
            </a:r>
          </a:p>
        </p:txBody>
      </p:sp>
      <p:sp>
        <p:nvSpPr>
          <p:cNvPr id="69" name="Rounded Rectangle 68"/>
          <p:cNvSpPr/>
          <p:nvPr/>
        </p:nvSpPr>
        <p:spPr>
          <a:xfrm>
            <a:off x="6894576" y="2633472"/>
            <a:ext cx="1307592" cy="512064"/>
          </a:xfrm>
          <a:prstGeom prst="roundRect">
            <a:avLst>
              <a:gd name="adj" fmla="val 0"/>
            </a:avLst>
          </a:prstGeom>
          <a:solidFill>
            <a:srgbClr val="E1F8F1"/>
          </a:solidFill>
          <a:ln>
            <a:solidFill>
              <a:srgbClr val="E1F8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6894576" y="2761487"/>
            <a:ext cx="1307592" cy="182880"/>
          </a:xfrm>
          <a:prstGeom prst="rect">
            <a:avLst/>
          </a:prstGeom>
          <a:noFill/>
        </p:spPr>
        <p:txBody>
          <a:bodyPr wrap="square" lIns="41148" tIns="22860" rIns="41148" bIns="22860" anchor="t">
            <a:spAutoFit/>
          </a:bodyPr>
          <a:lstStyle/>
          <a:p>
            <a:pPr algn="ctr"/>
            <a:r>
              <a:rPr sz="869" b="1" i="0">
                <a:solidFill>
                  <a:srgbClr val="10395C"/>
                </a:solidFill>
                <a:latin typeface="Aptos"/>
              </a:rPr>
              <a:t>MAT101</a:t>
            </a:r>
          </a:p>
        </p:txBody>
      </p:sp>
      <p:sp>
        <p:nvSpPr>
          <p:cNvPr id="71" name="Rounded Rectangle 70"/>
          <p:cNvSpPr/>
          <p:nvPr/>
        </p:nvSpPr>
        <p:spPr>
          <a:xfrm>
            <a:off x="2231136" y="3328416"/>
            <a:ext cx="1307592" cy="512064"/>
          </a:xfrm>
          <a:prstGeom prst="roundRect">
            <a:avLst>
              <a:gd name="adj" fmla="val 0"/>
            </a:avLst>
          </a:prstGeom>
          <a:solidFill>
            <a:srgbClr val="FDEDE5"/>
          </a:solidFill>
          <a:ln>
            <a:solidFill>
              <a:srgbClr val="FDED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2231136" y="3456432"/>
            <a:ext cx="1307592" cy="182880"/>
          </a:xfrm>
          <a:prstGeom prst="rect">
            <a:avLst/>
          </a:prstGeom>
          <a:noFill/>
        </p:spPr>
        <p:txBody>
          <a:bodyPr wrap="square" lIns="41148" tIns="22860" rIns="41148" bIns="22860" anchor="t">
            <a:spAutoFit/>
          </a:bodyPr>
          <a:lstStyle/>
          <a:p>
            <a:pPr algn="ctr"/>
            <a:r>
              <a:rPr sz="869" b="1" i="0">
                <a:solidFill>
                  <a:srgbClr val="10395C"/>
                </a:solidFill>
                <a:latin typeface="Aptos"/>
              </a:rPr>
              <a:t>PHY101</a:t>
            </a:r>
          </a:p>
        </p:txBody>
      </p:sp>
      <p:sp>
        <p:nvSpPr>
          <p:cNvPr id="73" name="Rounded Rectangle 72"/>
          <p:cNvSpPr/>
          <p:nvPr/>
        </p:nvSpPr>
        <p:spPr>
          <a:xfrm>
            <a:off x="5340096" y="3328416"/>
            <a:ext cx="1307592" cy="512064"/>
          </a:xfrm>
          <a:prstGeom prst="roundRect">
            <a:avLst>
              <a:gd name="adj" fmla="val 0"/>
            </a:avLst>
          </a:prstGeom>
          <a:solidFill>
            <a:srgbClr val="FDEDE5"/>
          </a:solidFill>
          <a:ln>
            <a:solidFill>
              <a:srgbClr val="FDED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5340096" y="3456432"/>
            <a:ext cx="1307592" cy="182880"/>
          </a:xfrm>
          <a:prstGeom prst="rect">
            <a:avLst/>
          </a:prstGeom>
          <a:noFill/>
        </p:spPr>
        <p:txBody>
          <a:bodyPr wrap="square" lIns="41148" tIns="22860" rIns="41148" bIns="22860" anchor="t">
            <a:spAutoFit/>
          </a:bodyPr>
          <a:lstStyle/>
          <a:p>
            <a:pPr algn="ctr"/>
            <a:r>
              <a:rPr sz="869" b="1" i="0">
                <a:solidFill>
                  <a:srgbClr val="10395C"/>
                </a:solidFill>
                <a:latin typeface="Aptos"/>
              </a:rPr>
              <a:t>PHY101</a:t>
            </a:r>
          </a:p>
        </p:txBody>
      </p:sp>
      <p:sp>
        <p:nvSpPr>
          <p:cNvPr id="75" name="Rounded Rectangle 74"/>
          <p:cNvSpPr/>
          <p:nvPr/>
        </p:nvSpPr>
        <p:spPr>
          <a:xfrm>
            <a:off x="10012680" y="1417320"/>
            <a:ext cx="1554480" cy="4315968"/>
          </a:xfrm>
          <a:prstGeom prst="roundRect">
            <a:avLst>
              <a:gd name="adj" fmla="val 12000"/>
            </a:avLst>
          </a:prstGeom>
          <a:solidFill>
            <a:srgbClr val="FFFFFF"/>
          </a:solidFill>
          <a:ln>
            <a:solidFill>
              <a:srgbClr val="C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10195560" y="1709928"/>
            <a:ext cx="1188720" cy="274320"/>
          </a:xfrm>
          <a:prstGeom prst="rect">
            <a:avLst/>
          </a:prstGeom>
          <a:noFill/>
        </p:spPr>
        <p:txBody>
          <a:bodyPr wrap="square" lIns="41148" tIns="22860" rIns="41148" bIns="22860" anchor="t">
            <a:spAutoFit/>
          </a:bodyPr>
          <a:lstStyle/>
          <a:p>
            <a:pPr algn="ctr"/>
            <a:r>
              <a:rPr sz="1019" b="1" i="0">
                <a:solidFill>
                  <a:srgbClr val="10395C"/>
                </a:solidFill>
                <a:latin typeface="Aptos"/>
              </a:rPr>
              <a:t>HOW IT HELPS</a:t>
            </a:r>
          </a:p>
        </p:txBody>
      </p:sp>
      <p:sp>
        <p:nvSpPr>
          <p:cNvPr id="77" name="TextBox 76"/>
          <p:cNvSpPr txBox="1"/>
          <p:nvPr/>
        </p:nvSpPr>
        <p:spPr>
          <a:xfrm>
            <a:off x="10131552" y="2212848"/>
            <a:ext cx="1280160" cy="2697480"/>
          </a:xfrm>
          <a:prstGeom prst="rect">
            <a:avLst/>
          </a:prstGeom>
          <a:noFill/>
        </p:spPr>
        <p:txBody>
          <a:bodyPr wrap="square" lIns="36576" rIns="36576">
            <a:spAutoFit/>
          </a:bodyPr>
          <a:lstStyle/>
          <a:p>
            <a:pPr>
              <a:spcAft>
                <a:spcPts val="700"/>
              </a:spcAft>
              <a:defRPr sz="860">
                <a:solidFill>
                  <a:srgbClr val="273D4E"/>
                </a:solidFill>
                <a:latin typeface="Aptos"/>
              </a:defRPr>
            </a:pPr>
            <a:r>
              <a:t>• Shows selected classes</a:t>
            </a:r>
          </a:p>
          <a:p>
            <a:pPr>
              <a:spcAft>
                <a:spcPts val="700"/>
              </a:spcAft>
              <a:defRPr sz="860">
                <a:solidFill>
                  <a:srgbClr val="273D4E"/>
                </a:solidFill>
                <a:latin typeface="Aptos"/>
              </a:defRPr>
            </a:pPr>
            <a:r>
              <a:t>• Makes free periods visible</a:t>
            </a:r>
          </a:p>
          <a:p>
            <a:pPr>
              <a:spcAft>
                <a:spcPts val="700"/>
              </a:spcAft>
              <a:defRPr sz="860">
                <a:solidFill>
                  <a:srgbClr val="273D4E"/>
                </a:solidFill>
                <a:latin typeface="Aptos"/>
              </a:defRPr>
            </a:pPr>
            <a:r>
              <a:t>• Compares options</a:t>
            </a:r>
          </a:p>
          <a:p>
            <a:pPr>
              <a:spcAft>
                <a:spcPts val="700"/>
              </a:spcAft>
              <a:defRPr sz="860">
                <a:solidFill>
                  <a:srgbClr val="273D4E"/>
                </a:solidFill>
                <a:latin typeface="Aptos"/>
              </a:defRPr>
            </a:pPr>
            <a:r>
              <a:t>• Warns about clashes</a:t>
            </a:r>
          </a:p>
          <a:p>
            <a:pPr>
              <a:spcAft>
                <a:spcPts val="700"/>
              </a:spcAft>
              <a:defRPr sz="860">
                <a:solidFill>
                  <a:srgbClr val="273D4E"/>
                </a:solidFill>
                <a:latin typeface="Aptos"/>
              </a:defRPr>
            </a:pPr>
            <a:r>
              <a:t>• Can generate valid schedules</a:t>
            </a:r>
          </a:p>
        </p:txBody>
      </p:sp>
      <p:sp>
        <p:nvSpPr>
          <p:cNvPr id="78" name="Rounded Rectangle 77"/>
          <p:cNvSpPr/>
          <p:nvPr/>
        </p:nvSpPr>
        <p:spPr>
          <a:xfrm>
            <a:off x="10241280" y="5230368"/>
            <a:ext cx="1097280" cy="329184"/>
          </a:xfrm>
          <a:prstGeom prst="roundRect">
            <a:avLst>
              <a:gd name="adj" fmla="val 12000"/>
            </a:avLst>
          </a:prstGeom>
          <a:solidFill>
            <a:srgbClr val="EDECFC"/>
          </a:solidFill>
          <a:ln>
            <a:solidFill>
              <a:srgbClr val="EDEC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78"/>
          <p:cNvSpPr txBox="1"/>
          <p:nvPr/>
        </p:nvSpPr>
        <p:spPr>
          <a:xfrm>
            <a:off x="10259567" y="5248655"/>
            <a:ext cx="1060704" cy="274320"/>
          </a:xfrm>
          <a:prstGeom prst="rect">
            <a:avLst/>
          </a:prstGeom>
          <a:noFill/>
        </p:spPr>
        <p:txBody>
          <a:bodyPr wrap="square" lIns="41148" tIns="22860" rIns="41148" bIns="22860" anchor="ctr">
            <a:spAutoFit/>
          </a:bodyPr>
          <a:lstStyle/>
          <a:p>
            <a:pPr algn="ctr"/>
            <a:r>
              <a:rPr sz="770" b="1" i="0">
                <a:solidFill>
                  <a:srgbClr val="10395C"/>
                </a:solidFill>
                <a:latin typeface="Aptos"/>
              </a:rPr>
              <a:t>VISUAL PLAN</a:t>
            </a:r>
          </a:p>
        </p:txBody>
      </p:sp>
      <p:sp>
        <p:nvSpPr>
          <p:cNvPr id="80" name="TextBox 79"/>
          <p:cNvSpPr txBox="1"/>
          <p:nvPr/>
        </p:nvSpPr>
        <p:spPr>
          <a:xfrm>
            <a:off x="530352" y="6547104"/>
            <a:ext cx="4572000" cy="146304"/>
          </a:xfrm>
          <a:prstGeom prst="rect">
            <a:avLst/>
          </a:prstGeom>
          <a:noFill/>
        </p:spPr>
        <p:txBody>
          <a:bodyPr wrap="square" lIns="41148" tIns="22860" rIns="41148" bIns="22860" anchor="t">
            <a:spAutoFit/>
          </a:bodyPr>
          <a:lstStyle/>
          <a:p>
            <a:pPr algn="l"/>
            <a:r>
              <a:rPr sz="720" b="1" i="0">
                <a:solidFill>
                  <a:srgbClr val="5D7684"/>
                </a:solidFill>
                <a:latin typeface="Aptos"/>
              </a:rPr>
              <a:t>COURSE REGISTRATION &amp; TIMETABLE BUILDER</a:t>
            </a:r>
          </a:p>
        </p:txBody>
      </p:sp>
      <p:sp>
        <p:nvSpPr>
          <p:cNvPr id="81" name="TextBox 80"/>
          <p:cNvSpPr txBox="1"/>
          <p:nvPr/>
        </p:nvSpPr>
        <p:spPr>
          <a:xfrm>
            <a:off x="11201400" y="6510528"/>
            <a:ext cx="384048" cy="182880"/>
          </a:xfrm>
          <a:prstGeom prst="rect">
            <a:avLst/>
          </a:prstGeom>
          <a:noFill/>
        </p:spPr>
        <p:txBody>
          <a:bodyPr wrap="square" lIns="41148" tIns="22860" rIns="41148" bIns="22860" anchor="t">
            <a:spAutoFit/>
          </a:bodyPr>
          <a:lstStyle/>
          <a:p>
            <a:pPr algn="r"/>
            <a:r>
              <a:rPr sz="750" b="1" i="0">
                <a:solidFill>
                  <a:srgbClr val="5D7684"/>
                </a:solidFill>
                <a:latin typeface="Aptos"/>
              </a:rP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1FAFD"/>
        </a:solidFill>
        <a:effectLst/>
      </p:bgPr>
    </p:bg>
    <p:spTree>
      <p:nvGrpSpPr>
        <p:cNvPr id="1" name=""/>
        <p:cNvGrpSpPr/>
        <p:nvPr/>
      </p:nvGrpSpPr>
      <p:grpSpPr>
        <a:xfrm>
          <a:off x="0" y="0"/>
          <a:ext cx="0" cy="0"/>
          <a:chOff x="0" y="0"/>
          <a:chExt cx="0" cy="0"/>
        </a:xfrm>
      </p:grpSpPr>
      <p:sp>
        <p:nvSpPr>
          <p:cNvPr id="2" name="Oval 1"/>
          <p:cNvSpPr/>
          <p:nvPr/>
        </p:nvSpPr>
        <p:spPr>
          <a:xfrm>
            <a:off x="10652760" y="-411480"/>
            <a:ext cx="1920240" cy="1920240"/>
          </a:xfrm>
          <a:prstGeom prst="ellipse">
            <a:avLst/>
          </a:prstGeom>
          <a:solidFill>
            <a:srgbClr val="D7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9875520" y="5623560"/>
            <a:ext cx="2011680" cy="2011680"/>
          </a:xfrm>
          <a:prstGeom prst="ellipse">
            <a:avLst/>
          </a:prstGeom>
          <a:solidFill>
            <a:srgbClr val="E1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411480" y="5715000"/>
            <a:ext cx="1554480" cy="1554480"/>
          </a:xfrm>
          <a:prstGeom prst="ellipse">
            <a:avLst/>
          </a:prstGeom>
          <a:solidFill>
            <a:srgbClr val="EDE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rot="20100000">
            <a:off x="45720" y="91440"/>
            <a:ext cx="228600" cy="96012"/>
          </a:xfrm>
          <a:prstGeom prst="ellipse">
            <a:avLst/>
          </a:prstGeom>
          <a:solidFill>
            <a:srgbClr val="5BB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rot="1500000">
            <a:off x="246888" y="256032"/>
            <a:ext cx="256032" cy="107533"/>
          </a:xfrm>
          <a:prstGeom prst="ellipse">
            <a:avLst/>
          </a:prstGeom>
          <a:solidFill>
            <a:srgbClr val="2A79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rot="19500000">
            <a:off x="-100584" y="411479"/>
            <a:ext cx="219456" cy="92171"/>
          </a:xfrm>
          <a:prstGeom prst="ellipse">
            <a:avLst/>
          </a:prstGeom>
          <a:solidFill>
            <a:srgbClr val="5BB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rot="1500000">
            <a:off x="155448" y="566928"/>
            <a:ext cx="201168" cy="84490"/>
          </a:xfrm>
          <a:prstGeom prst="ellipse">
            <a:avLst/>
          </a:prstGeom>
          <a:solidFill>
            <a:srgbClr val="2A79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rot="19500000">
            <a:off x="-210312" y="685800"/>
            <a:ext cx="201168" cy="84490"/>
          </a:xfrm>
          <a:prstGeom prst="ellipse">
            <a:avLst/>
          </a:prstGeom>
          <a:solidFill>
            <a:srgbClr val="5BB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0" name="Connector 9"/>
          <p:cNvCxnSpPr/>
          <p:nvPr/>
        </p:nvCxnSpPr>
        <p:spPr>
          <a:xfrm flipH="1">
            <a:off x="64008" y="109728"/>
            <a:ext cx="73152" cy="758952"/>
          </a:xfrm>
          <a:prstGeom prst="line">
            <a:avLst/>
          </a:prstGeom>
          <a:ln w="13970">
            <a:solidFill>
              <a:srgbClr val="2A79A3"/>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502920" y="329184"/>
            <a:ext cx="502920" cy="329184"/>
          </a:xfrm>
          <a:prstGeom prst="roundRect">
            <a:avLst>
              <a:gd name="adj" fmla="val 12000"/>
            </a:avLst>
          </a:prstGeom>
          <a:solidFill>
            <a:srgbClr val="D7F0F8"/>
          </a:solidFill>
          <a:ln>
            <a:solidFill>
              <a:srgbClr val="D7F0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21208" y="347472"/>
            <a:ext cx="466344" cy="274320"/>
          </a:xfrm>
          <a:prstGeom prst="rect">
            <a:avLst/>
          </a:prstGeom>
          <a:noFill/>
        </p:spPr>
        <p:txBody>
          <a:bodyPr wrap="square" lIns="41148" tIns="22860" rIns="41148" bIns="22860" anchor="ctr">
            <a:spAutoFit/>
          </a:bodyPr>
          <a:lstStyle/>
          <a:p>
            <a:pPr algn="ctr"/>
            <a:r>
              <a:rPr sz="1000" b="1" i="0">
                <a:solidFill>
                  <a:srgbClr val="10395C"/>
                </a:solidFill>
                <a:latin typeface="Aptos"/>
              </a:rPr>
              <a:t>12</a:t>
            </a:r>
          </a:p>
        </p:txBody>
      </p:sp>
      <p:sp>
        <p:nvSpPr>
          <p:cNvPr id="13" name="TextBox 12"/>
          <p:cNvSpPr txBox="1"/>
          <p:nvPr/>
        </p:nvSpPr>
        <p:spPr>
          <a:xfrm>
            <a:off x="1115568" y="274320"/>
            <a:ext cx="9875520" cy="438912"/>
          </a:xfrm>
          <a:prstGeom prst="rect">
            <a:avLst/>
          </a:prstGeom>
          <a:noFill/>
        </p:spPr>
        <p:txBody>
          <a:bodyPr wrap="square" lIns="41148" tIns="22860" rIns="41148" bIns="22860" anchor="t">
            <a:spAutoFit/>
          </a:bodyPr>
          <a:lstStyle/>
          <a:p>
            <a:pPr algn="l"/>
            <a:r>
              <a:rPr sz="2300" b="1" i="0">
                <a:solidFill>
                  <a:srgbClr val="10395C"/>
                </a:solidFill>
                <a:latin typeface="Aptos"/>
              </a:rPr>
              <a:t>Clash Detection Logic</a:t>
            </a:r>
          </a:p>
        </p:txBody>
      </p:sp>
      <p:sp>
        <p:nvSpPr>
          <p:cNvPr id="14" name="TextBox 13"/>
          <p:cNvSpPr txBox="1"/>
          <p:nvPr/>
        </p:nvSpPr>
        <p:spPr>
          <a:xfrm>
            <a:off x="1133856" y="758952"/>
            <a:ext cx="9418320" cy="274320"/>
          </a:xfrm>
          <a:prstGeom prst="rect">
            <a:avLst/>
          </a:prstGeom>
          <a:noFill/>
        </p:spPr>
        <p:txBody>
          <a:bodyPr wrap="square" lIns="41148" tIns="22860" rIns="41148" bIns="22860" anchor="t">
            <a:spAutoFit/>
          </a:bodyPr>
          <a:lstStyle/>
          <a:p>
            <a:pPr algn="l"/>
            <a:r>
              <a:rPr sz="1080" b="0" i="0">
                <a:solidFill>
                  <a:srgbClr val="5D7684"/>
                </a:solidFill>
                <a:latin typeface="Aptos"/>
              </a:rPr>
              <a:t>The key technical rule that prevents overlapping registrations</a:t>
            </a:r>
          </a:p>
        </p:txBody>
      </p:sp>
      <p:sp>
        <p:nvSpPr>
          <p:cNvPr id="15" name="Rectangle 14"/>
          <p:cNvSpPr/>
          <p:nvPr/>
        </p:nvSpPr>
        <p:spPr>
          <a:xfrm>
            <a:off x="1133856" y="1060704"/>
            <a:ext cx="1051560" cy="32004"/>
          </a:xfrm>
          <a:prstGeom prst="rect">
            <a:avLst/>
          </a:prstGeom>
          <a:solidFill>
            <a:srgbClr val="5BB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594360" y="1417320"/>
            <a:ext cx="5257800" cy="4526280"/>
          </a:xfrm>
          <a:prstGeom prst="roundRect">
            <a:avLst>
              <a:gd name="adj" fmla="val 12000"/>
            </a:avLst>
          </a:prstGeom>
          <a:solidFill>
            <a:srgbClr val="FFFFFF"/>
          </a:solidFill>
          <a:ln>
            <a:solidFill>
              <a:srgbClr val="C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896112" y="1719072"/>
            <a:ext cx="1051560" cy="329184"/>
          </a:xfrm>
          <a:prstGeom prst="roundRect">
            <a:avLst>
              <a:gd name="adj" fmla="val 12000"/>
            </a:avLst>
          </a:prstGeom>
          <a:solidFill>
            <a:srgbClr val="D7F0F8"/>
          </a:solidFill>
          <a:ln>
            <a:solidFill>
              <a:srgbClr val="D7F0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14400" y="1737360"/>
            <a:ext cx="1014983" cy="274320"/>
          </a:xfrm>
          <a:prstGeom prst="rect">
            <a:avLst/>
          </a:prstGeom>
          <a:noFill/>
        </p:spPr>
        <p:txBody>
          <a:bodyPr wrap="square" lIns="41148" tIns="22860" rIns="41148" bIns="22860" anchor="ctr">
            <a:spAutoFit/>
          </a:bodyPr>
          <a:lstStyle/>
          <a:p>
            <a:pPr algn="ctr"/>
            <a:r>
              <a:rPr sz="850" b="1" i="0">
                <a:solidFill>
                  <a:srgbClr val="10395C"/>
                </a:solidFill>
                <a:latin typeface="Aptos"/>
              </a:rPr>
              <a:t>EXAMPLE</a:t>
            </a:r>
          </a:p>
        </p:txBody>
      </p:sp>
      <p:sp>
        <p:nvSpPr>
          <p:cNvPr id="19" name="Rounded Rectangle 18"/>
          <p:cNvSpPr/>
          <p:nvPr/>
        </p:nvSpPr>
        <p:spPr>
          <a:xfrm>
            <a:off x="914400" y="2267712"/>
            <a:ext cx="2788920" cy="329184"/>
          </a:xfrm>
          <a:prstGeom prst="roundRect">
            <a:avLst>
              <a:gd name="adj" fmla="val 12000"/>
            </a:avLst>
          </a:prstGeom>
          <a:solidFill>
            <a:srgbClr val="D7F0F8"/>
          </a:solidFill>
          <a:ln>
            <a:solidFill>
              <a:srgbClr val="D7F0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32688" y="2286000"/>
            <a:ext cx="2752344" cy="274320"/>
          </a:xfrm>
          <a:prstGeom prst="rect">
            <a:avLst/>
          </a:prstGeom>
          <a:noFill/>
        </p:spPr>
        <p:txBody>
          <a:bodyPr wrap="square" lIns="41148" tIns="22860" rIns="41148" bIns="22860" anchor="ctr">
            <a:spAutoFit/>
          </a:bodyPr>
          <a:lstStyle/>
          <a:p>
            <a:pPr algn="ctr"/>
            <a:r>
              <a:rPr sz="900" b="1" i="0">
                <a:solidFill>
                  <a:srgbClr val="10395C"/>
                </a:solidFill>
                <a:latin typeface="Aptos"/>
              </a:rPr>
              <a:t>CSE101 • Mon 9:00–10:00</a:t>
            </a:r>
          </a:p>
        </p:txBody>
      </p:sp>
      <p:sp>
        <p:nvSpPr>
          <p:cNvPr id="21" name="Rounded Rectangle 20"/>
          <p:cNvSpPr/>
          <p:nvPr/>
        </p:nvSpPr>
        <p:spPr>
          <a:xfrm>
            <a:off x="2240280" y="2926080"/>
            <a:ext cx="2788920" cy="329184"/>
          </a:xfrm>
          <a:prstGeom prst="roundRect">
            <a:avLst>
              <a:gd name="adj" fmla="val 12000"/>
            </a:avLst>
          </a:prstGeom>
          <a:solidFill>
            <a:srgbClr val="FDEDE5"/>
          </a:solidFill>
          <a:ln>
            <a:solidFill>
              <a:srgbClr val="FDED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2258568" y="2944368"/>
            <a:ext cx="2752344" cy="274320"/>
          </a:xfrm>
          <a:prstGeom prst="rect">
            <a:avLst/>
          </a:prstGeom>
          <a:noFill/>
        </p:spPr>
        <p:txBody>
          <a:bodyPr wrap="square" lIns="41148" tIns="22860" rIns="41148" bIns="22860" anchor="ctr">
            <a:spAutoFit/>
          </a:bodyPr>
          <a:lstStyle/>
          <a:p>
            <a:pPr algn="ctr"/>
            <a:r>
              <a:rPr sz="900" b="1" i="0">
                <a:solidFill>
                  <a:srgbClr val="10395C"/>
                </a:solidFill>
                <a:latin typeface="Aptos"/>
              </a:rPr>
              <a:t>MAT101 • Mon 9:30–10:30</a:t>
            </a:r>
          </a:p>
        </p:txBody>
      </p:sp>
      <p:sp>
        <p:nvSpPr>
          <p:cNvPr id="24" name="Rounded Rectangle 23"/>
          <p:cNvSpPr/>
          <p:nvPr/>
        </p:nvSpPr>
        <p:spPr>
          <a:xfrm>
            <a:off x="987552" y="4315968"/>
            <a:ext cx="4315968" cy="73152"/>
          </a:xfrm>
          <a:prstGeom prst="roundRect">
            <a:avLst>
              <a:gd name="adj" fmla="val 0"/>
            </a:avLst>
          </a:prstGeom>
          <a:solidFill>
            <a:srgbClr val="5D7684"/>
          </a:solidFill>
          <a:ln>
            <a:solidFill>
              <a:srgbClr val="5D768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86384" y="4526280"/>
            <a:ext cx="411480" cy="201168"/>
          </a:xfrm>
          <a:prstGeom prst="rect">
            <a:avLst/>
          </a:prstGeom>
          <a:noFill/>
        </p:spPr>
        <p:txBody>
          <a:bodyPr wrap="square" lIns="41148" tIns="22860" rIns="41148" bIns="22860" anchor="t">
            <a:spAutoFit/>
          </a:bodyPr>
          <a:lstStyle/>
          <a:p>
            <a:pPr algn="ctr"/>
            <a:r>
              <a:rPr sz="830" b="0" i="0">
                <a:solidFill>
                  <a:srgbClr val="5D7684"/>
                </a:solidFill>
                <a:latin typeface="Aptos"/>
              </a:rPr>
              <a:t>9:00</a:t>
            </a:r>
          </a:p>
        </p:txBody>
      </p:sp>
      <p:sp>
        <p:nvSpPr>
          <p:cNvPr id="26" name="TextBox 25"/>
          <p:cNvSpPr txBox="1"/>
          <p:nvPr/>
        </p:nvSpPr>
        <p:spPr>
          <a:xfrm>
            <a:off x="2194560" y="4526280"/>
            <a:ext cx="411480" cy="201168"/>
          </a:xfrm>
          <a:prstGeom prst="rect">
            <a:avLst/>
          </a:prstGeom>
          <a:noFill/>
        </p:spPr>
        <p:txBody>
          <a:bodyPr wrap="square" lIns="41148" tIns="22860" rIns="41148" bIns="22860" anchor="t">
            <a:spAutoFit/>
          </a:bodyPr>
          <a:lstStyle/>
          <a:p>
            <a:pPr algn="ctr"/>
            <a:r>
              <a:rPr sz="830" b="0" i="0">
                <a:solidFill>
                  <a:srgbClr val="5D7684"/>
                </a:solidFill>
                <a:latin typeface="Aptos"/>
              </a:rPr>
              <a:t>9:30</a:t>
            </a:r>
          </a:p>
        </p:txBody>
      </p:sp>
      <p:sp>
        <p:nvSpPr>
          <p:cNvPr id="27" name="TextBox 26"/>
          <p:cNvSpPr txBox="1"/>
          <p:nvPr/>
        </p:nvSpPr>
        <p:spPr>
          <a:xfrm>
            <a:off x="3639312" y="4526280"/>
            <a:ext cx="411480" cy="201168"/>
          </a:xfrm>
          <a:prstGeom prst="rect">
            <a:avLst/>
          </a:prstGeom>
          <a:noFill/>
        </p:spPr>
        <p:txBody>
          <a:bodyPr wrap="square" lIns="41148" tIns="22860" rIns="41148" bIns="22860" anchor="t">
            <a:spAutoFit/>
          </a:bodyPr>
          <a:lstStyle/>
          <a:p>
            <a:pPr algn="ctr"/>
            <a:r>
              <a:rPr sz="830" b="0" i="0">
                <a:solidFill>
                  <a:srgbClr val="5D7684"/>
                </a:solidFill>
                <a:latin typeface="Aptos"/>
              </a:rPr>
              <a:t>10:00</a:t>
            </a:r>
          </a:p>
        </p:txBody>
      </p:sp>
      <p:sp>
        <p:nvSpPr>
          <p:cNvPr id="28" name="TextBox 27"/>
          <p:cNvSpPr txBox="1"/>
          <p:nvPr/>
        </p:nvSpPr>
        <p:spPr>
          <a:xfrm>
            <a:off x="4846320" y="4526280"/>
            <a:ext cx="411480" cy="201168"/>
          </a:xfrm>
          <a:prstGeom prst="rect">
            <a:avLst/>
          </a:prstGeom>
          <a:noFill/>
        </p:spPr>
        <p:txBody>
          <a:bodyPr wrap="square" lIns="41148" tIns="22860" rIns="41148" bIns="22860" anchor="t">
            <a:spAutoFit/>
          </a:bodyPr>
          <a:lstStyle/>
          <a:p>
            <a:pPr algn="ctr"/>
            <a:r>
              <a:rPr sz="830" b="0" i="0">
                <a:solidFill>
                  <a:srgbClr val="5D7684"/>
                </a:solidFill>
                <a:latin typeface="Aptos"/>
              </a:rPr>
              <a:t>10:30</a:t>
            </a:r>
          </a:p>
        </p:txBody>
      </p:sp>
      <p:sp>
        <p:nvSpPr>
          <p:cNvPr id="29" name="Rounded Rectangle 28"/>
          <p:cNvSpPr/>
          <p:nvPr/>
        </p:nvSpPr>
        <p:spPr>
          <a:xfrm>
            <a:off x="964692" y="4035383"/>
            <a:ext cx="2871216" cy="256032"/>
          </a:xfrm>
          <a:prstGeom prst="roundRect">
            <a:avLst>
              <a:gd name="adj" fmla="val 0"/>
            </a:avLst>
          </a:prstGeom>
          <a:solidFill>
            <a:srgbClr val="D7F0F8"/>
          </a:solidFill>
          <a:ln>
            <a:solidFill>
              <a:srgbClr val="D7F0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2331720" y="3713141"/>
            <a:ext cx="2871216" cy="256032"/>
          </a:xfrm>
          <a:prstGeom prst="roundRect">
            <a:avLst>
              <a:gd name="adj" fmla="val 0"/>
            </a:avLst>
          </a:prstGeom>
          <a:solidFill>
            <a:srgbClr val="FDEDE5"/>
          </a:solidFill>
          <a:ln>
            <a:solidFill>
              <a:srgbClr val="FDEDE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b="1" dirty="0">
                <a:solidFill>
                  <a:srgbClr val="DA6873"/>
                </a:solidFill>
                <a:latin typeface="Aptos"/>
              </a:rPr>
              <a:t>SAME DAY + OVERLAPPING TIME</a:t>
            </a:r>
          </a:p>
        </p:txBody>
      </p:sp>
      <p:sp>
        <p:nvSpPr>
          <p:cNvPr id="31" name="Rounded Rectangle 30"/>
          <p:cNvSpPr/>
          <p:nvPr/>
        </p:nvSpPr>
        <p:spPr>
          <a:xfrm>
            <a:off x="2194560" y="5047488"/>
            <a:ext cx="1572768" cy="329184"/>
          </a:xfrm>
          <a:prstGeom prst="roundRect">
            <a:avLst>
              <a:gd name="adj" fmla="val 12000"/>
            </a:avLst>
          </a:prstGeom>
          <a:solidFill>
            <a:srgbClr val="FDEDE5"/>
          </a:solidFill>
          <a:ln>
            <a:solidFill>
              <a:srgbClr val="FDED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212848" y="5065775"/>
            <a:ext cx="1536192" cy="274320"/>
          </a:xfrm>
          <a:prstGeom prst="rect">
            <a:avLst/>
          </a:prstGeom>
          <a:noFill/>
        </p:spPr>
        <p:txBody>
          <a:bodyPr wrap="square" lIns="41148" tIns="22860" rIns="41148" bIns="22860" anchor="ctr">
            <a:spAutoFit/>
          </a:bodyPr>
          <a:lstStyle/>
          <a:p>
            <a:pPr algn="ctr"/>
            <a:r>
              <a:rPr sz="900" b="1" i="0">
                <a:solidFill>
                  <a:srgbClr val="DA6873"/>
                </a:solidFill>
                <a:latin typeface="Aptos"/>
              </a:rPr>
              <a:t>CONFLICT</a:t>
            </a:r>
          </a:p>
        </p:txBody>
      </p:sp>
      <p:sp>
        <p:nvSpPr>
          <p:cNvPr id="33" name="Rounded Rectangle 32"/>
          <p:cNvSpPr/>
          <p:nvPr/>
        </p:nvSpPr>
        <p:spPr>
          <a:xfrm>
            <a:off x="6126480" y="1417320"/>
            <a:ext cx="5440680" cy="4526280"/>
          </a:xfrm>
          <a:prstGeom prst="roundRect">
            <a:avLst>
              <a:gd name="adj" fmla="val 12000"/>
            </a:avLst>
          </a:prstGeom>
          <a:solidFill>
            <a:srgbClr val="FFFFFF"/>
          </a:solidFill>
          <a:ln>
            <a:solidFill>
              <a:srgbClr val="C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ounded Rectangle 33"/>
          <p:cNvSpPr/>
          <p:nvPr/>
        </p:nvSpPr>
        <p:spPr>
          <a:xfrm>
            <a:off x="7543800" y="1719072"/>
            <a:ext cx="2423160" cy="329184"/>
          </a:xfrm>
          <a:prstGeom prst="roundRect">
            <a:avLst>
              <a:gd name="adj" fmla="val 12000"/>
            </a:avLst>
          </a:prstGeom>
          <a:solidFill>
            <a:srgbClr val="EDECFC"/>
          </a:solidFill>
          <a:ln>
            <a:solidFill>
              <a:srgbClr val="EDEC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7562088" y="1737360"/>
            <a:ext cx="2386584" cy="274320"/>
          </a:xfrm>
          <a:prstGeom prst="rect">
            <a:avLst/>
          </a:prstGeom>
          <a:noFill/>
        </p:spPr>
        <p:txBody>
          <a:bodyPr wrap="square" lIns="41148" tIns="22860" rIns="41148" bIns="22860" anchor="ctr">
            <a:spAutoFit/>
          </a:bodyPr>
          <a:lstStyle/>
          <a:p>
            <a:pPr algn="ctr"/>
            <a:r>
              <a:rPr sz="869" b="1" i="0">
                <a:solidFill>
                  <a:srgbClr val="10395C"/>
                </a:solidFill>
                <a:latin typeface="Aptos"/>
              </a:rPr>
              <a:t>CORE OVERLAP RULE</a:t>
            </a:r>
          </a:p>
        </p:txBody>
      </p:sp>
      <p:sp>
        <p:nvSpPr>
          <p:cNvPr id="36" name="Rounded Rectangle 35"/>
          <p:cNvSpPr/>
          <p:nvPr/>
        </p:nvSpPr>
        <p:spPr>
          <a:xfrm>
            <a:off x="7406640" y="2377440"/>
            <a:ext cx="1572768" cy="329184"/>
          </a:xfrm>
          <a:prstGeom prst="roundRect">
            <a:avLst>
              <a:gd name="adj" fmla="val 12000"/>
            </a:avLst>
          </a:prstGeom>
          <a:solidFill>
            <a:srgbClr val="D7F0F8"/>
          </a:solidFill>
          <a:ln>
            <a:solidFill>
              <a:srgbClr val="D7F0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7424927" y="2395728"/>
            <a:ext cx="1536192" cy="274320"/>
          </a:xfrm>
          <a:prstGeom prst="rect">
            <a:avLst/>
          </a:prstGeom>
          <a:noFill/>
        </p:spPr>
        <p:txBody>
          <a:bodyPr wrap="square" lIns="41148" tIns="22860" rIns="41148" bIns="22860" anchor="ctr">
            <a:spAutoFit/>
          </a:bodyPr>
          <a:lstStyle/>
          <a:p>
            <a:pPr algn="ctr"/>
            <a:r>
              <a:rPr sz="1000" b="1" i="0">
                <a:solidFill>
                  <a:srgbClr val="10395C"/>
                </a:solidFill>
                <a:latin typeface="Aptos"/>
              </a:rPr>
              <a:t>start₁ &lt; end₂</a:t>
            </a:r>
          </a:p>
        </p:txBody>
      </p:sp>
      <p:sp>
        <p:nvSpPr>
          <p:cNvPr id="38" name="Rounded Rectangle 37"/>
          <p:cNvSpPr/>
          <p:nvPr/>
        </p:nvSpPr>
        <p:spPr>
          <a:xfrm>
            <a:off x="9171432" y="2377440"/>
            <a:ext cx="749808" cy="329184"/>
          </a:xfrm>
          <a:prstGeom prst="roundRect">
            <a:avLst>
              <a:gd name="adj" fmla="val 12000"/>
            </a:avLst>
          </a:prstGeom>
          <a:solidFill>
            <a:srgbClr val="EDECFC"/>
          </a:solidFill>
          <a:ln>
            <a:solidFill>
              <a:srgbClr val="EDEC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9189719" y="2395728"/>
            <a:ext cx="713231" cy="274320"/>
          </a:xfrm>
          <a:prstGeom prst="rect">
            <a:avLst/>
          </a:prstGeom>
          <a:noFill/>
        </p:spPr>
        <p:txBody>
          <a:bodyPr wrap="square" lIns="41148" tIns="22860" rIns="41148" bIns="22860" anchor="ctr">
            <a:spAutoFit/>
          </a:bodyPr>
          <a:lstStyle/>
          <a:p>
            <a:pPr algn="ctr"/>
            <a:r>
              <a:rPr sz="900" b="1" i="0">
                <a:solidFill>
                  <a:srgbClr val="10395C"/>
                </a:solidFill>
                <a:latin typeface="Aptos"/>
              </a:rPr>
              <a:t>AND</a:t>
            </a:r>
          </a:p>
        </p:txBody>
      </p:sp>
      <p:sp>
        <p:nvSpPr>
          <p:cNvPr id="40" name="Rounded Rectangle 39"/>
          <p:cNvSpPr/>
          <p:nvPr/>
        </p:nvSpPr>
        <p:spPr>
          <a:xfrm>
            <a:off x="10040112" y="2377440"/>
            <a:ext cx="1353312" cy="329184"/>
          </a:xfrm>
          <a:prstGeom prst="roundRect">
            <a:avLst>
              <a:gd name="adj" fmla="val 12000"/>
            </a:avLst>
          </a:prstGeom>
          <a:solidFill>
            <a:srgbClr val="E1F8F1"/>
          </a:solidFill>
          <a:ln>
            <a:solidFill>
              <a:srgbClr val="E1F8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10058400" y="2395728"/>
            <a:ext cx="1316736" cy="274320"/>
          </a:xfrm>
          <a:prstGeom prst="rect">
            <a:avLst/>
          </a:prstGeom>
          <a:noFill/>
        </p:spPr>
        <p:txBody>
          <a:bodyPr wrap="square" lIns="41148" tIns="22860" rIns="41148" bIns="22860" anchor="ctr">
            <a:spAutoFit/>
          </a:bodyPr>
          <a:lstStyle/>
          <a:p>
            <a:pPr algn="ctr"/>
            <a:r>
              <a:rPr sz="1000" b="1" i="0">
                <a:solidFill>
                  <a:srgbClr val="10395C"/>
                </a:solidFill>
                <a:latin typeface="Aptos"/>
              </a:rPr>
              <a:t>start₂ &lt; end₁</a:t>
            </a:r>
          </a:p>
        </p:txBody>
      </p:sp>
      <p:sp>
        <p:nvSpPr>
          <p:cNvPr id="42" name="TextBox 41"/>
          <p:cNvSpPr txBox="1"/>
          <p:nvPr/>
        </p:nvSpPr>
        <p:spPr>
          <a:xfrm>
            <a:off x="6675120" y="3090672"/>
            <a:ext cx="4343400" cy="457200"/>
          </a:xfrm>
          <a:prstGeom prst="rect">
            <a:avLst/>
          </a:prstGeom>
          <a:noFill/>
        </p:spPr>
        <p:txBody>
          <a:bodyPr wrap="square" lIns="41148" tIns="22860" rIns="41148" bIns="22860" anchor="t">
            <a:spAutoFit/>
          </a:bodyPr>
          <a:lstStyle/>
          <a:p>
            <a:pPr algn="ctr"/>
            <a:r>
              <a:rPr sz="1130" b="0" i="0">
                <a:solidFill>
                  <a:srgbClr val="273D4E"/>
                </a:solidFill>
                <a:latin typeface="Aptos"/>
              </a:rPr>
              <a:t>If both conditions are true on the same day, the schedules overlap.</a:t>
            </a:r>
          </a:p>
        </p:txBody>
      </p:sp>
      <p:sp>
        <p:nvSpPr>
          <p:cNvPr id="43" name="Rounded Rectangle 42"/>
          <p:cNvSpPr/>
          <p:nvPr/>
        </p:nvSpPr>
        <p:spPr>
          <a:xfrm>
            <a:off x="6720840" y="3767328"/>
            <a:ext cx="4297680" cy="1051560"/>
          </a:xfrm>
          <a:prstGeom prst="roundRect">
            <a:avLst>
              <a:gd name="adj" fmla="val 0"/>
            </a:avLst>
          </a:prstGeom>
          <a:solidFill>
            <a:srgbClr val="F1FAFD"/>
          </a:solidFill>
          <a:ln>
            <a:solidFill>
              <a:srgbClr val="F1FAF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6931152" y="3968496"/>
            <a:ext cx="3858768" cy="658368"/>
          </a:xfrm>
          <a:prstGeom prst="rect">
            <a:avLst/>
          </a:prstGeom>
          <a:noFill/>
        </p:spPr>
        <p:txBody>
          <a:bodyPr wrap="square" lIns="41148" tIns="22860" rIns="41148" bIns="22860" anchor="t">
            <a:spAutoFit/>
          </a:bodyPr>
          <a:lstStyle/>
          <a:p>
            <a:pPr algn="ctr"/>
            <a:r>
              <a:rPr sz="1050" b="1" i="0">
                <a:solidFill>
                  <a:srgbClr val="10395C"/>
                </a:solidFill>
                <a:latin typeface="Consolas"/>
              </a:rPr>
              <a:t>if (sameDay &amp;&amp; start1 &lt; end2 &amp;&amp; start2 &lt; end1)
    conflict = true;</a:t>
            </a:r>
          </a:p>
        </p:txBody>
      </p:sp>
      <p:sp>
        <p:nvSpPr>
          <p:cNvPr id="45" name="Rounded Rectangle 44"/>
          <p:cNvSpPr/>
          <p:nvPr/>
        </p:nvSpPr>
        <p:spPr>
          <a:xfrm>
            <a:off x="7699248" y="5212080"/>
            <a:ext cx="2487168" cy="329184"/>
          </a:xfrm>
          <a:prstGeom prst="roundRect">
            <a:avLst>
              <a:gd name="adj" fmla="val 12000"/>
            </a:avLst>
          </a:prstGeom>
          <a:solidFill>
            <a:srgbClr val="E1F8F1"/>
          </a:solidFill>
          <a:ln>
            <a:solidFill>
              <a:srgbClr val="E1F8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7717536" y="5230368"/>
            <a:ext cx="2450592" cy="274320"/>
          </a:xfrm>
          <a:prstGeom prst="rect">
            <a:avLst/>
          </a:prstGeom>
          <a:noFill/>
        </p:spPr>
        <p:txBody>
          <a:bodyPr wrap="square" lIns="41148" tIns="22860" rIns="41148" bIns="22860" anchor="ctr">
            <a:spAutoFit/>
          </a:bodyPr>
          <a:lstStyle/>
          <a:p>
            <a:pPr algn="ctr"/>
            <a:r>
              <a:rPr sz="880" b="1" i="0">
                <a:solidFill>
                  <a:srgbClr val="10395C"/>
                </a:solidFill>
                <a:latin typeface="Aptos"/>
              </a:rPr>
              <a:t>IMMEDIATE FEEDBACK</a:t>
            </a:r>
          </a:p>
        </p:txBody>
      </p:sp>
      <p:sp>
        <p:nvSpPr>
          <p:cNvPr id="47" name="TextBox 46"/>
          <p:cNvSpPr txBox="1"/>
          <p:nvPr/>
        </p:nvSpPr>
        <p:spPr>
          <a:xfrm>
            <a:off x="530352" y="6547104"/>
            <a:ext cx="4572000" cy="146304"/>
          </a:xfrm>
          <a:prstGeom prst="rect">
            <a:avLst/>
          </a:prstGeom>
          <a:noFill/>
        </p:spPr>
        <p:txBody>
          <a:bodyPr wrap="square" lIns="41148" tIns="22860" rIns="41148" bIns="22860" anchor="t">
            <a:spAutoFit/>
          </a:bodyPr>
          <a:lstStyle/>
          <a:p>
            <a:pPr algn="l"/>
            <a:r>
              <a:rPr sz="720" b="1" i="0">
                <a:solidFill>
                  <a:srgbClr val="5D7684"/>
                </a:solidFill>
                <a:latin typeface="Aptos"/>
              </a:rPr>
              <a:t>COURSE REGISTRATION &amp; TIMETABLE BUILDER</a:t>
            </a:r>
          </a:p>
        </p:txBody>
      </p:sp>
      <p:sp>
        <p:nvSpPr>
          <p:cNvPr id="48" name="TextBox 47"/>
          <p:cNvSpPr txBox="1"/>
          <p:nvPr/>
        </p:nvSpPr>
        <p:spPr>
          <a:xfrm>
            <a:off x="11201400" y="6510528"/>
            <a:ext cx="384048" cy="182880"/>
          </a:xfrm>
          <a:prstGeom prst="rect">
            <a:avLst/>
          </a:prstGeom>
          <a:noFill/>
        </p:spPr>
        <p:txBody>
          <a:bodyPr wrap="square" lIns="41148" tIns="22860" rIns="41148" bIns="22860" anchor="t">
            <a:spAutoFit/>
          </a:bodyPr>
          <a:lstStyle/>
          <a:p>
            <a:pPr algn="r"/>
            <a:r>
              <a:rPr sz="750" b="1" i="0">
                <a:solidFill>
                  <a:srgbClr val="5D7684"/>
                </a:solidFill>
                <a:latin typeface="Aptos"/>
              </a:rPr>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1FAFD"/>
        </a:solidFill>
        <a:effectLst/>
      </p:bgPr>
    </p:bg>
    <p:spTree>
      <p:nvGrpSpPr>
        <p:cNvPr id="1" name=""/>
        <p:cNvGrpSpPr/>
        <p:nvPr/>
      </p:nvGrpSpPr>
      <p:grpSpPr>
        <a:xfrm>
          <a:off x="0" y="0"/>
          <a:ext cx="0" cy="0"/>
          <a:chOff x="0" y="0"/>
          <a:chExt cx="0" cy="0"/>
        </a:xfrm>
      </p:grpSpPr>
      <p:sp>
        <p:nvSpPr>
          <p:cNvPr id="2" name="Oval 1"/>
          <p:cNvSpPr/>
          <p:nvPr/>
        </p:nvSpPr>
        <p:spPr>
          <a:xfrm>
            <a:off x="10652760" y="-411480"/>
            <a:ext cx="1920240" cy="1920240"/>
          </a:xfrm>
          <a:prstGeom prst="ellipse">
            <a:avLst/>
          </a:prstGeom>
          <a:solidFill>
            <a:srgbClr val="D7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9875520" y="5623560"/>
            <a:ext cx="2011680" cy="2011680"/>
          </a:xfrm>
          <a:prstGeom prst="ellipse">
            <a:avLst/>
          </a:prstGeom>
          <a:solidFill>
            <a:srgbClr val="E1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411480" y="5715000"/>
            <a:ext cx="1554480" cy="1554480"/>
          </a:xfrm>
          <a:prstGeom prst="ellipse">
            <a:avLst/>
          </a:prstGeom>
          <a:solidFill>
            <a:srgbClr val="EDE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rot="20100000">
            <a:off x="11292840" y="91440"/>
            <a:ext cx="228600" cy="96012"/>
          </a:xfrm>
          <a:prstGeom prst="ellipse">
            <a:avLst/>
          </a:prstGeom>
          <a:solidFill>
            <a:srgbClr val="5BB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rot="1500000">
            <a:off x="11494008" y="256032"/>
            <a:ext cx="256032" cy="107533"/>
          </a:xfrm>
          <a:prstGeom prst="ellipse">
            <a:avLst/>
          </a:prstGeom>
          <a:solidFill>
            <a:srgbClr val="2A79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rot="19500000">
            <a:off x="11146536" y="411479"/>
            <a:ext cx="219456" cy="92171"/>
          </a:xfrm>
          <a:prstGeom prst="ellipse">
            <a:avLst/>
          </a:prstGeom>
          <a:solidFill>
            <a:srgbClr val="5BB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rot="1500000">
            <a:off x="11402567" y="566928"/>
            <a:ext cx="201168" cy="84490"/>
          </a:xfrm>
          <a:prstGeom prst="ellipse">
            <a:avLst/>
          </a:prstGeom>
          <a:solidFill>
            <a:srgbClr val="2A79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rot="19500000">
            <a:off x="11036808" y="685800"/>
            <a:ext cx="201168" cy="84490"/>
          </a:xfrm>
          <a:prstGeom prst="ellipse">
            <a:avLst/>
          </a:prstGeom>
          <a:solidFill>
            <a:srgbClr val="5BB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0" name="Connector 9"/>
          <p:cNvCxnSpPr/>
          <p:nvPr/>
        </p:nvCxnSpPr>
        <p:spPr>
          <a:xfrm flipH="1">
            <a:off x="11311128" y="109728"/>
            <a:ext cx="73152" cy="758952"/>
          </a:xfrm>
          <a:prstGeom prst="line">
            <a:avLst/>
          </a:prstGeom>
          <a:ln w="13970">
            <a:solidFill>
              <a:srgbClr val="2A79A3"/>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502920" y="329184"/>
            <a:ext cx="502920" cy="329184"/>
          </a:xfrm>
          <a:prstGeom prst="roundRect">
            <a:avLst>
              <a:gd name="adj" fmla="val 12000"/>
            </a:avLst>
          </a:prstGeom>
          <a:solidFill>
            <a:srgbClr val="D7F0F8"/>
          </a:solidFill>
          <a:ln>
            <a:solidFill>
              <a:srgbClr val="D7F0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21208" y="347472"/>
            <a:ext cx="466344" cy="274320"/>
          </a:xfrm>
          <a:prstGeom prst="rect">
            <a:avLst/>
          </a:prstGeom>
          <a:noFill/>
        </p:spPr>
        <p:txBody>
          <a:bodyPr wrap="square" lIns="41148" tIns="22860" rIns="41148" bIns="22860" anchor="ctr">
            <a:spAutoFit/>
          </a:bodyPr>
          <a:lstStyle/>
          <a:p>
            <a:pPr algn="ctr"/>
            <a:r>
              <a:rPr sz="1000" b="1" i="0">
                <a:solidFill>
                  <a:srgbClr val="10395C"/>
                </a:solidFill>
                <a:latin typeface="Aptos"/>
              </a:rPr>
              <a:t>13</a:t>
            </a:r>
          </a:p>
        </p:txBody>
      </p:sp>
      <p:sp>
        <p:nvSpPr>
          <p:cNvPr id="13" name="TextBox 12"/>
          <p:cNvSpPr txBox="1"/>
          <p:nvPr/>
        </p:nvSpPr>
        <p:spPr>
          <a:xfrm>
            <a:off x="1115568" y="274320"/>
            <a:ext cx="9875520" cy="438912"/>
          </a:xfrm>
          <a:prstGeom prst="rect">
            <a:avLst/>
          </a:prstGeom>
          <a:noFill/>
        </p:spPr>
        <p:txBody>
          <a:bodyPr wrap="square" lIns="41148" tIns="22860" rIns="41148" bIns="22860" anchor="t">
            <a:spAutoFit/>
          </a:bodyPr>
          <a:lstStyle/>
          <a:p>
            <a:pPr algn="l"/>
            <a:r>
              <a:rPr sz="2300" b="1" i="0">
                <a:solidFill>
                  <a:srgbClr val="10395C"/>
                </a:solidFill>
                <a:latin typeface="Aptos"/>
              </a:rPr>
              <a:t>Registration &amp; Drop Course</a:t>
            </a:r>
          </a:p>
        </p:txBody>
      </p:sp>
      <p:sp>
        <p:nvSpPr>
          <p:cNvPr id="14" name="TextBox 13"/>
          <p:cNvSpPr txBox="1"/>
          <p:nvPr/>
        </p:nvSpPr>
        <p:spPr>
          <a:xfrm>
            <a:off x="1133856" y="758952"/>
            <a:ext cx="9418320" cy="274320"/>
          </a:xfrm>
          <a:prstGeom prst="rect">
            <a:avLst/>
          </a:prstGeom>
          <a:noFill/>
        </p:spPr>
        <p:txBody>
          <a:bodyPr wrap="square" lIns="41148" tIns="22860" rIns="41148" bIns="22860" anchor="t">
            <a:spAutoFit/>
          </a:bodyPr>
          <a:lstStyle/>
          <a:p>
            <a:pPr algn="l"/>
            <a:r>
              <a:rPr sz="1080" b="0" i="0">
                <a:solidFill>
                  <a:srgbClr val="5D7684"/>
                </a:solidFill>
                <a:latin typeface="Aptos"/>
              </a:rPr>
              <a:t>The selected plan is checked before records are updated</a:t>
            </a:r>
          </a:p>
        </p:txBody>
      </p:sp>
      <p:sp>
        <p:nvSpPr>
          <p:cNvPr id="15" name="Rectangle 14"/>
          <p:cNvSpPr/>
          <p:nvPr/>
        </p:nvSpPr>
        <p:spPr>
          <a:xfrm>
            <a:off x="1133856" y="1060704"/>
            <a:ext cx="1051560" cy="32004"/>
          </a:xfrm>
          <a:prstGeom prst="rect">
            <a:avLst/>
          </a:prstGeom>
          <a:solidFill>
            <a:srgbClr val="5BB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594360" y="1417320"/>
            <a:ext cx="5120640" cy="4553712"/>
          </a:xfrm>
          <a:prstGeom prst="roundRect">
            <a:avLst>
              <a:gd name="adj" fmla="val 12000"/>
            </a:avLst>
          </a:prstGeom>
          <a:solidFill>
            <a:srgbClr val="FFFFFF"/>
          </a:solidFill>
          <a:ln>
            <a:solidFill>
              <a:srgbClr val="C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914400" y="1719072"/>
            <a:ext cx="1755648" cy="329184"/>
          </a:xfrm>
          <a:prstGeom prst="roundRect">
            <a:avLst>
              <a:gd name="adj" fmla="val 12000"/>
            </a:avLst>
          </a:prstGeom>
          <a:solidFill>
            <a:srgbClr val="D7F0F8"/>
          </a:solidFill>
          <a:ln>
            <a:solidFill>
              <a:srgbClr val="D7F0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32688" y="1737360"/>
            <a:ext cx="1719072" cy="274320"/>
          </a:xfrm>
          <a:prstGeom prst="rect">
            <a:avLst/>
          </a:prstGeom>
          <a:noFill/>
        </p:spPr>
        <p:txBody>
          <a:bodyPr wrap="square" lIns="41148" tIns="22860" rIns="41148" bIns="22860" anchor="ctr">
            <a:spAutoFit/>
          </a:bodyPr>
          <a:lstStyle/>
          <a:p>
            <a:pPr algn="ctr"/>
            <a:r>
              <a:rPr sz="869" b="1" i="0">
                <a:solidFill>
                  <a:srgbClr val="10395C"/>
                </a:solidFill>
                <a:latin typeface="Aptos"/>
              </a:rPr>
              <a:t>SELECTED COURSES</a:t>
            </a:r>
          </a:p>
        </p:txBody>
      </p:sp>
      <p:sp>
        <p:nvSpPr>
          <p:cNvPr id="19" name="Rounded Rectangle 18"/>
          <p:cNvSpPr/>
          <p:nvPr/>
        </p:nvSpPr>
        <p:spPr>
          <a:xfrm>
            <a:off x="914400" y="2267712"/>
            <a:ext cx="4462272" cy="438912"/>
          </a:xfrm>
          <a:prstGeom prst="roundRect">
            <a:avLst>
              <a:gd name="adj" fmla="val 0"/>
            </a:avLst>
          </a:prstGeom>
          <a:solidFill>
            <a:srgbClr val="F1FAFD"/>
          </a:solidFill>
          <a:ln>
            <a:solidFill>
              <a:srgbClr val="F1FAF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78992" y="2359152"/>
            <a:ext cx="749808" cy="182880"/>
          </a:xfrm>
          <a:prstGeom prst="rect">
            <a:avLst/>
          </a:prstGeom>
          <a:noFill/>
        </p:spPr>
        <p:txBody>
          <a:bodyPr wrap="square" lIns="41148" tIns="22860" rIns="41148" bIns="22860" anchor="t">
            <a:spAutoFit/>
          </a:bodyPr>
          <a:lstStyle/>
          <a:p>
            <a:pPr algn="l"/>
            <a:r>
              <a:rPr sz="980" b="1" i="0">
                <a:solidFill>
                  <a:srgbClr val="10395C"/>
                </a:solidFill>
                <a:latin typeface="Aptos"/>
              </a:rPr>
              <a:t>CSE101</a:t>
            </a:r>
          </a:p>
        </p:txBody>
      </p:sp>
      <p:sp>
        <p:nvSpPr>
          <p:cNvPr id="21" name="TextBox 20"/>
          <p:cNvSpPr txBox="1"/>
          <p:nvPr/>
        </p:nvSpPr>
        <p:spPr>
          <a:xfrm>
            <a:off x="1856231" y="2359152"/>
            <a:ext cx="2331720" cy="182880"/>
          </a:xfrm>
          <a:prstGeom prst="rect">
            <a:avLst/>
          </a:prstGeom>
          <a:noFill/>
        </p:spPr>
        <p:txBody>
          <a:bodyPr wrap="square" lIns="41148" tIns="22860" rIns="41148" bIns="22860" anchor="t">
            <a:spAutoFit/>
          </a:bodyPr>
          <a:lstStyle/>
          <a:p>
            <a:pPr algn="l"/>
            <a:r>
              <a:rPr sz="980" b="0" i="0">
                <a:solidFill>
                  <a:srgbClr val="273D4E"/>
                </a:solidFill>
                <a:latin typeface="Aptos"/>
              </a:rPr>
              <a:t>Programming</a:t>
            </a:r>
          </a:p>
        </p:txBody>
      </p:sp>
      <p:sp>
        <p:nvSpPr>
          <p:cNvPr id="22" name="TextBox 21"/>
          <p:cNvSpPr txBox="1"/>
          <p:nvPr/>
        </p:nvSpPr>
        <p:spPr>
          <a:xfrm>
            <a:off x="4498848" y="2359152"/>
            <a:ext cx="658368" cy="182880"/>
          </a:xfrm>
          <a:prstGeom prst="rect">
            <a:avLst/>
          </a:prstGeom>
          <a:noFill/>
        </p:spPr>
        <p:txBody>
          <a:bodyPr wrap="square" lIns="41148" tIns="22860" rIns="41148" bIns="22860" anchor="t">
            <a:spAutoFit/>
          </a:bodyPr>
          <a:lstStyle/>
          <a:p>
            <a:pPr algn="r"/>
            <a:r>
              <a:rPr sz="880" b="0" i="0">
                <a:solidFill>
                  <a:srgbClr val="5D7684"/>
                </a:solidFill>
                <a:latin typeface="Aptos"/>
              </a:rPr>
              <a:t>4 credits</a:t>
            </a:r>
          </a:p>
        </p:txBody>
      </p:sp>
      <p:sp>
        <p:nvSpPr>
          <p:cNvPr id="23" name="Rounded Rectangle 22"/>
          <p:cNvSpPr/>
          <p:nvPr/>
        </p:nvSpPr>
        <p:spPr>
          <a:xfrm>
            <a:off x="914400" y="2834640"/>
            <a:ext cx="4462272" cy="438912"/>
          </a:xfrm>
          <a:prstGeom prst="roundRect">
            <a:avLst>
              <a:gd name="adj" fmla="val 0"/>
            </a:avLst>
          </a:prstGeom>
          <a:solidFill>
            <a:srgbClr val="F1FAFD"/>
          </a:solidFill>
          <a:ln>
            <a:solidFill>
              <a:srgbClr val="F1FAF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078992" y="2926080"/>
            <a:ext cx="749808" cy="182880"/>
          </a:xfrm>
          <a:prstGeom prst="rect">
            <a:avLst/>
          </a:prstGeom>
          <a:noFill/>
        </p:spPr>
        <p:txBody>
          <a:bodyPr wrap="square" lIns="41148" tIns="22860" rIns="41148" bIns="22860" anchor="t">
            <a:spAutoFit/>
          </a:bodyPr>
          <a:lstStyle/>
          <a:p>
            <a:pPr algn="l"/>
            <a:r>
              <a:rPr sz="980" b="1" i="0">
                <a:solidFill>
                  <a:srgbClr val="10395C"/>
                </a:solidFill>
                <a:latin typeface="Aptos"/>
              </a:rPr>
              <a:t>MAT101</a:t>
            </a:r>
          </a:p>
        </p:txBody>
      </p:sp>
      <p:sp>
        <p:nvSpPr>
          <p:cNvPr id="25" name="TextBox 24"/>
          <p:cNvSpPr txBox="1"/>
          <p:nvPr/>
        </p:nvSpPr>
        <p:spPr>
          <a:xfrm>
            <a:off x="1856231" y="2926080"/>
            <a:ext cx="2331720" cy="182880"/>
          </a:xfrm>
          <a:prstGeom prst="rect">
            <a:avLst/>
          </a:prstGeom>
          <a:noFill/>
        </p:spPr>
        <p:txBody>
          <a:bodyPr wrap="square" lIns="41148" tIns="22860" rIns="41148" bIns="22860" anchor="t">
            <a:spAutoFit/>
          </a:bodyPr>
          <a:lstStyle/>
          <a:p>
            <a:pPr algn="l"/>
            <a:r>
              <a:rPr sz="980" b="0" i="0">
                <a:solidFill>
                  <a:srgbClr val="273D4E"/>
                </a:solidFill>
                <a:latin typeface="Aptos"/>
              </a:rPr>
              <a:t>Mathematics</a:t>
            </a:r>
          </a:p>
        </p:txBody>
      </p:sp>
      <p:sp>
        <p:nvSpPr>
          <p:cNvPr id="26" name="TextBox 25"/>
          <p:cNvSpPr txBox="1"/>
          <p:nvPr/>
        </p:nvSpPr>
        <p:spPr>
          <a:xfrm>
            <a:off x="4498848" y="2926080"/>
            <a:ext cx="658368" cy="182880"/>
          </a:xfrm>
          <a:prstGeom prst="rect">
            <a:avLst/>
          </a:prstGeom>
          <a:noFill/>
        </p:spPr>
        <p:txBody>
          <a:bodyPr wrap="square" lIns="41148" tIns="22860" rIns="41148" bIns="22860" anchor="t">
            <a:spAutoFit/>
          </a:bodyPr>
          <a:lstStyle/>
          <a:p>
            <a:pPr algn="r"/>
            <a:r>
              <a:rPr sz="880" b="0" i="0">
                <a:solidFill>
                  <a:srgbClr val="5D7684"/>
                </a:solidFill>
                <a:latin typeface="Aptos"/>
              </a:rPr>
              <a:t>3 credits</a:t>
            </a:r>
          </a:p>
        </p:txBody>
      </p:sp>
      <p:sp>
        <p:nvSpPr>
          <p:cNvPr id="27" name="Rounded Rectangle 26"/>
          <p:cNvSpPr/>
          <p:nvPr/>
        </p:nvSpPr>
        <p:spPr>
          <a:xfrm>
            <a:off x="914400" y="3401568"/>
            <a:ext cx="4462272" cy="438912"/>
          </a:xfrm>
          <a:prstGeom prst="roundRect">
            <a:avLst>
              <a:gd name="adj" fmla="val 0"/>
            </a:avLst>
          </a:prstGeom>
          <a:solidFill>
            <a:srgbClr val="F1FAFD"/>
          </a:solidFill>
          <a:ln>
            <a:solidFill>
              <a:srgbClr val="F1FAF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078992" y="3493008"/>
            <a:ext cx="749808" cy="182880"/>
          </a:xfrm>
          <a:prstGeom prst="rect">
            <a:avLst/>
          </a:prstGeom>
          <a:noFill/>
        </p:spPr>
        <p:txBody>
          <a:bodyPr wrap="square" lIns="41148" tIns="22860" rIns="41148" bIns="22860" anchor="t">
            <a:spAutoFit/>
          </a:bodyPr>
          <a:lstStyle/>
          <a:p>
            <a:pPr algn="l"/>
            <a:r>
              <a:rPr sz="980" b="1" i="0">
                <a:solidFill>
                  <a:srgbClr val="10395C"/>
                </a:solidFill>
                <a:latin typeface="Aptos"/>
              </a:rPr>
              <a:t>PHY101</a:t>
            </a:r>
          </a:p>
        </p:txBody>
      </p:sp>
      <p:sp>
        <p:nvSpPr>
          <p:cNvPr id="29" name="TextBox 28"/>
          <p:cNvSpPr txBox="1"/>
          <p:nvPr/>
        </p:nvSpPr>
        <p:spPr>
          <a:xfrm>
            <a:off x="1856231" y="3493008"/>
            <a:ext cx="2331720" cy="182880"/>
          </a:xfrm>
          <a:prstGeom prst="rect">
            <a:avLst/>
          </a:prstGeom>
          <a:noFill/>
        </p:spPr>
        <p:txBody>
          <a:bodyPr wrap="square" lIns="41148" tIns="22860" rIns="41148" bIns="22860" anchor="t">
            <a:spAutoFit/>
          </a:bodyPr>
          <a:lstStyle/>
          <a:p>
            <a:pPr algn="l"/>
            <a:r>
              <a:rPr sz="980" b="0" i="0">
                <a:solidFill>
                  <a:srgbClr val="273D4E"/>
                </a:solidFill>
                <a:latin typeface="Aptos"/>
              </a:rPr>
              <a:t>Physics</a:t>
            </a:r>
          </a:p>
        </p:txBody>
      </p:sp>
      <p:sp>
        <p:nvSpPr>
          <p:cNvPr id="30" name="TextBox 29"/>
          <p:cNvSpPr txBox="1"/>
          <p:nvPr/>
        </p:nvSpPr>
        <p:spPr>
          <a:xfrm>
            <a:off x="4498848" y="3493008"/>
            <a:ext cx="658368" cy="182880"/>
          </a:xfrm>
          <a:prstGeom prst="rect">
            <a:avLst/>
          </a:prstGeom>
          <a:noFill/>
        </p:spPr>
        <p:txBody>
          <a:bodyPr wrap="square" lIns="41148" tIns="22860" rIns="41148" bIns="22860" anchor="t">
            <a:spAutoFit/>
          </a:bodyPr>
          <a:lstStyle/>
          <a:p>
            <a:pPr algn="r"/>
            <a:r>
              <a:rPr sz="880" b="0" i="0">
                <a:solidFill>
                  <a:srgbClr val="5D7684"/>
                </a:solidFill>
                <a:latin typeface="Aptos"/>
              </a:rPr>
              <a:t>3 credits</a:t>
            </a:r>
          </a:p>
        </p:txBody>
      </p:sp>
      <p:sp>
        <p:nvSpPr>
          <p:cNvPr id="31" name="Rounded Rectangle 30"/>
          <p:cNvSpPr/>
          <p:nvPr/>
        </p:nvSpPr>
        <p:spPr>
          <a:xfrm>
            <a:off x="914400" y="3968496"/>
            <a:ext cx="4462272" cy="438912"/>
          </a:xfrm>
          <a:prstGeom prst="roundRect">
            <a:avLst>
              <a:gd name="adj" fmla="val 0"/>
            </a:avLst>
          </a:prstGeom>
          <a:solidFill>
            <a:srgbClr val="F1FAFD"/>
          </a:solidFill>
          <a:ln>
            <a:solidFill>
              <a:srgbClr val="F1FAF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1078992" y="4059935"/>
            <a:ext cx="749808" cy="182880"/>
          </a:xfrm>
          <a:prstGeom prst="rect">
            <a:avLst/>
          </a:prstGeom>
          <a:noFill/>
        </p:spPr>
        <p:txBody>
          <a:bodyPr wrap="square" lIns="41148" tIns="22860" rIns="41148" bIns="22860" anchor="t">
            <a:spAutoFit/>
          </a:bodyPr>
          <a:lstStyle/>
          <a:p>
            <a:pPr algn="l"/>
            <a:r>
              <a:rPr sz="980" b="1" i="0">
                <a:solidFill>
                  <a:srgbClr val="10395C"/>
                </a:solidFill>
                <a:latin typeface="Aptos"/>
              </a:rPr>
              <a:t>ENG101</a:t>
            </a:r>
          </a:p>
        </p:txBody>
      </p:sp>
      <p:sp>
        <p:nvSpPr>
          <p:cNvPr id="33" name="TextBox 32"/>
          <p:cNvSpPr txBox="1"/>
          <p:nvPr/>
        </p:nvSpPr>
        <p:spPr>
          <a:xfrm>
            <a:off x="1856231" y="4059935"/>
            <a:ext cx="2331720" cy="182880"/>
          </a:xfrm>
          <a:prstGeom prst="rect">
            <a:avLst/>
          </a:prstGeom>
          <a:noFill/>
        </p:spPr>
        <p:txBody>
          <a:bodyPr wrap="square" lIns="41148" tIns="22860" rIns="41148" bIns="22860" anchor="t">
            <a:spAutoFit/>
          </a:bodyPr>
          <a:lstStyle/>
          <a:p>
            <a:pPr algn="l"/>
            <a:r>
              <a:rPr sz="980" b="0" i="0">
                <a:solidFill>
                  <a:srgbClr val="273D4E"/>
                </a:solidFill>
                <a:latin typeface="Aptos"/>
              </a:rPr>
              <a:t>English</a:t>
            </a:r>
          </a:p>
        </p:txBody>
      </p:sp>
      <p:sp>
        <p:nvSpPr>
          <p:cNvPr id="34" name="TextBox 33"/>
          <p:cNvSpPr txBox="1"/>
          <p:nvPr/>
        </p:nvSpPr>
        <p:spPr>
          <a:xfrm>
            <a:off x="4498848" y="4059935"/>
            <a:ext cx="658368" cy="182880"/>
          </a:xfrm>
          <a:prstGeom prst="rect">
            <a:avLst/>
          </a:prstGeom>
          <a:noFill/>
        </p:spPr>
        <p:txBody>
          <a:bodyPr wrap="square" lIns="41148" tIns="22860" rIns="41148" bIns="22860" anchor="t">
            <a:spAutoFit/>
          </a:bodyPr>
          <a:lstStyle/>
          <a:p>
            <a:pPr algn="r"/>
            <a:r>
              <a:rPr sz="880" b="0" i="0">
                <a:solidFill>
                  <a:srgbClr val="5D7684"/>
                </a:solidFill>
                <a:latin typeface="Aptos"/>
              </a:rPr>
              <a:t>2 credits</a:t>
            </a:r>
          </a:p>
        </p:txBody>
      </p:sp>
      <p:sp>
        <p:nvSpPr>
          <p:cNvPr id="35" name="Rounded Rectangle 34"/>
          <p:cNvSpPr/>
          <p:nvPr/>
        </p:nvSpPr>
        <p:spPr>
          <a:xfrm>
            <a:off x="1325880" y="4800600"/>
            <a:ext cx="2331720" cy="329184"/>
          </a:xfrm>
          <a:prstGeom prst="roundRect">
            <a:avLst>
              <a:gd name="adj" fmla="val 12000"/>
            </a:avLst>
          </a:prstGeom>
          <a:solidFill>
            <a:srgbClr val="E1F8F1"/>
          </a:solidFill>
          <a:ln>
            <a:solidFill>
              <a:srgbClr val="E1F8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1344168" y="4818888"/>
            <a:ext cx="2295144" cy="274320"/>
          </a:xfrm>
          <a:prstGeom prst="rect">
            <a:avLst/>
          </a:prstGeom>
          <a:noFill/>
        </p:spPr>
        <p:txBody>
          <a:bodyPr wrap="square" lIns="41148" tIns="22860" rIns="41148" bIns="22860" anchor="ctr">
            <a:spAutoFit/>
          </a:bodyPr>
          <a:lstStyle/>
          <a:p>
            <a:pPr algn="ctr"/>
            <a:r>
              <a:rPr sz="950" b="1" i="0">
                <a:solidFill>
                  <a:srgbClr val="10395C"/>
                </a:solidFill>
                <a:latin typeface="Aptos"/>
              </a:rPr>
              <a:t>TOTAL CREDITS: 12</a:t>
            </a:r>
          </a:p>
        </p:txBody>
      </p:sp>
      <p:sp>
        <p:nvSpPr>
          <p:cNvPr id="37" name="Rounded Rectangle 36"/>
          <p:cNvSpPr/>
          <p:nvPr/>
        </p:nvSpPr>
        <p:spPr>
          <a:xfrm>
            <a:off x="3822191" y="4800600"/>
            <a:ext cx="1417320" cy="329184"/>
          </a:xfrm>
          <a:prstGeom prst="roundRect">
            <a:avLst>
              <a:gd name="adj" fmla="val 12000"/>
            </a:avLst>
          </a:prstGeom>
          <a:solidFill>
            <a:srgbClr val="D7F0F8"/>
          </a:solidFill>
          <a:ln>
            <a:solidFill>
              <a:srgbClr val="D7F0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840479" y="4818888"/>
            <a:ext cx="1380744" cy="274320"/>
          </a:xfrm>
          <a:prstGeom prst="rect">
            <a:avLst/>
          </a:prstGeom>
          <a:noFill/>
        </p:spPr>
        <p:txBody>
          <a:bodyPr wrap="square" lIns="41148" tIns="22860" rIns="41148" bIns="22860" anchor="ctr">
            <a:spAutoFit/>
          </a:bodyPr>
          <a:lstStyle/>
          <a:p>
            <a:pPr algn="ctr"/>
            <a:r>
              <a:rPr sz="869" b="1" i="0">
                <a:solidFill>
                  <a:srgbClr val="10395C"/>
                </a:solidFill>
                <a:latin typeface="Aptos"/>
              </a:rPr>
              <a:t>REGISTER ALL</a:t>
            </a:r>
          </a:p>
        </p:txBody>
      </p:sp>
      <p:sp>
        <p:nvSpPr>
          <p:cNvPr id="39" name="Rounded Rectangle 38"/>
          <p:cNvSpPr/>
          <p:nvPr/>
        </p:nvSpPr>
        <p:spPr>
          <a:xfrm>
            <a:off x="6080760" y="1417320"/>
            <a:ext cx="5486400" cy="4553712"/>
          </a:xfrm>
          <a:prstGeom prst="roundRect">
            <a:avLst>
              <a:gd name="adj" fmla="val 12000"/>
            </a:avLst>
          </a:prstGeom>
          <a:solidFill>
            <a:srgbClr val="FFFFFF"/>
          </a:solidFill>
          <a:ln>
            <a:solidFill>
              <a:srgbClr val="C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ounded Rectangle 39"/>
          <p:cNvSpPr/>
          <p:nvPr/>
        </p:nvSpPr>
        <p:spPr>
          <a:xfrm>
            <a:off x="6446520" y="1719072"/>
            <a:ext cx="2286000" cy="329184"/>
          </a:xfrm>
          <a:prstGeom prst="roundRect">
            <a:avLst>
              <a:gd name="adj" fmla="val 12000"/>
            </a:avLst>
          </a:prstGeom>
          <a:solidFill>
            <a:srgbClr val="E1F8F1"/>
          </a:solidFill>
          <a:ln>
            <a:solidFill>
              <a:srgbClr val="E1F8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464807" y="1737360"/>
            <a:ext cx="2249424" cy="274320"/>
          </a:xfrm>
          <a:prstGeom prst="rect">
            <a:avLst/>
          </a:prstGeom>
          <a:noFill/>
        </p:spPr>
        <p:txBody>
          <a:bodyPr wrap="square" lIns="41148" tIns="22860" rIns="41148" bIns="22860" anchor="ctr">
            <a:spAutoFit/>
          </a:bodyPr>
          <a:lstStyle/>
          <a:p>
            <a:pPr algn="ctr"/>
            <a:r>
              <a:rPr sz="869" b="1" i="0">
                <a:solidFill>
                  <a:srgbClr val="10395C"/>
                </a:solidFill>
                <a:latin typeface="Aptos"/>
              </a:rPr>
              <a:t>BEFORE FINAL REGISTRATION</a:t>
            </a:r>
          </a:p>
        </p:txBody>
      </p:sp>
      <p:sp>
        <p:nvSpPr>
          <p:cNvPr id="42" name="Oval 41"/>
          <p:cNvSpPr/>
          <p:nvPr/>
        </p:nvSpPr>
        <p:spPr>
          <a:xfrm>
            <a:off x="6537960" y="2331720"/>
            <a:ext cx="347472" cy="347472"/>
          </a:xfrm>
          <a:prstGeom prst="ellipse">
            <a:avLst/>
          </a:prstGeom>
          <a:solidFill>
            <a:srgbClr val="E1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6537960" y="2331720"/>
            <a:ext cx="347472" cy="347472"/>
          </a:xfrm>
          <a:prstGeom prst="rect">
            <a:avLst/>
          </a:prstGeom>
          <a:noFill/>
        </p:spPr>
        <p:txBody>
          <a:bodyPr wrap="square" lIns="41148" tIns="22860" rIns="41148" bIns="22860" anchor="ctr">
            <a:spAutoFit/>
          </a:bodyPr>
          <a:lstStyle/>
          <a:p>
            <a:pPr algn="ctr"/>
            <a:r>
              <a:rPr sz="1100" b="1" i="0">
                <a:solidFill>
                  <a:srgbClr val="499D7E"/>
                </a:solidFill>
                <a:latin typeface="Aptos"/>
              </a:rPr>
              <a:t>✓</a:t>
            </a:r>
          </a:p>
        </p:txBody>
      </p:sp>
      <p:sp>
        <p:nvSpPr>
          <p:cNvPr id="44" name="TextBox 43"/>
          <p:cNvSpPr txBox="1"/>
          <p:nvPr/>
        </p:nvSpPr>
        <p:spPr>
          <a:xfrm>
            <a:off x="7059168" y="2359151"/>
            <a:ext cx="3840480" cy="256032"/>
          </a:xfrm>
          <a:prstGeom prst="rect">
            <a:avLst/>
          </a:prstGeom>
          <a:noFill/>
        </p:spPr>
        <p:txBody>
          <a:bodyPr wrap="square" lIns="41148" tIns="22860" rIns="41148" bIns="22860" anchor="t">
            <a:spAutoFit/>
          </a:bodyPr>
          <a:lstStyle/>
          <a:p>
            <a:pPr algn="l"/>
            <a:r>
              <a:rPr sz="1090" b="0" i="0">
                <a:solidFill>
                  <a:srgbClr val="273D4E"/>
                </a:solidFill>
                <a:latin typeface="Aptos"/>
              </a:rPr>
              <a:t>Seats are available</a:t>
            </a:r>
          </a:p>
        </p:txBody>
      </p:sp>
      <p:sp>
        <p:nvSpPr>
          <p:cNvPr id="45" name="Oval 44"/>
          <p:cNvSpPr/>
          <p:nvPr/>
        </p:nvSpPr>
        <p:spPr>
          <a:xfrm>
            <a:off x="6537960" y="2944368"/>
            <a:ext cx="347472" cy="347472"/>
          </a:xfrm>
          <a:prstGeom prst="ellipse">
            <a:avLst/>
          </a:prstGeom>
          <a:solidFill>
            <a:srgbClr val="E1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6537960" y="2944368"/>
            <a:ext cx="347472" cy="347472"/>
          </a:xfrm>
          <a:prstGeom prst="rect">
            <a:avLst/>
          </a:prstGeom>
          <a:noFill/>
        </p:spPr>
        <p:txBody>
          <a:bodyPr wrap="square" lIns="41148" tIns="22860" rIns="41148" bIns="22860" anchor="ctr">
            <a:spAutoFit/>
          </a:bodyPr>
          <a:lstStyle/>
          <a:p>
            <a:pPr algn="ctr"/>
            <a:r>
              <a:rPr sz="1100" b="1" i="0">
                <a:solidFill>
                  <a:srgbClr val="499D7E"/>
                </a:solidFill>
                <a:latin typeface="Aptos"/>
              </a:rPr>
              <a:t>✓</a:t>
            </a:r>
          </a:p>
        </p:txBody>
      </p:sp>
      <p:sp>
        <p:nvSpPr>
          <p:cNvPr id="47" name="TextBox 46"/>
          <p:cNvSpPr txBox="1"/>
          <p:nvPr/>
        </p:nvSpPr>
        <p:spPr>
          <a:xfrm>
            <a:off x="7059168" y="2971799"/>
            <a:ext cx="3840480" cy="256032"/>
          </a:xfrm>
          <a:prstGeom prst="rect">
            <a:avLst/>
          </a:prstGeom>
          <a:noFill/>
        </p:spPr>
        <p:txBody>
          <a:bodyPr wrap="square" lIns="41148" tIns="22860" rIns="41148" bIns="22860" anchor="t">
            <a:spAutoFit/>
          </a:bodyPr>
          <a:lstStyle/>
          <a:p>
            <a:pPr algn="l"/>
            <a:r>
              <a:rPr sz="1090" b="0" i="0">
                <a:solidFill>
                  <a:srgbClr val="273D4E"/>
                </a:solidFill>
                <a:latin typeface="Aptos"/>
              </a:rPr>
              <a:t>No timetable conflict</a:t>
            </a:r>
          </a:p>
        </p:txBody>
      </p:sp>
      <p:sp>
        <p:nvSpPr>
          <p:cNvPr id="48" name="Oval 47"/>
          <p:cNvSpPr/>
          <p:nvPr/>
        </p:nvSpPr>
        <p:spPr>
          <a:xfrm>
            <a:off x="6537960" y="3557015"/>
            <a:ext cx="347472" cy="347472"/>
          </a:xfrm>
          <a:prstGeom prst="ellipse">
            <a:avLst/>
          </a:prstGeom>
          <a:solidFill>
            <a:srgbClr val="E1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6537960" y="3557015"/>
            <a:ext cx="347472" cy="347472"/>
          </a:xfrm>
          <a:prstGeom prst="rect">
            <a:avLst/>
          </a:prstGeom>
          <a:noFill/>
        </p:spPr>
        <p:txBody>
          <a:bodyPr wrap="square" lIns="41148" tIns="22860" rIns="41148" bIns="22860" anchor="ctr">
            <a:spAutoFit/>
          </a:bodyPr>
          <a:lstStyle/>
          <a:p>
            <a:pPr algn="ctr"/>
            <a:r>
              <a:rPr sz="1100" b="1" i="0">
                <a:solidFill>
                  <a:srgbClr val="499D7E"/>
                </a:solidFill>
                <a:latin typeface="Aptos"/>
              </a:rPr>
              <a:t>✓</a:t>
            </a:r>
          </a:p>
        </p:txBody>
      </p:sp>
      <p:sp>
        <p:nvSpPr>
          <p:cNvPr id="50" name="TextBox 49"/>
          <p:cNvSpPr txBox="1"/>
          <p:nvPr/>
        </p:nvSpPr>
        <p:spPr>
          <a:xfrm>
            <a:off x="7059168" y="3584447"/>
            <a:ext cx="3840480" cy="256032"/>
          </a:xfrm>
          <a:prstGeom prst="rect">
            <a:avLst/>
          </a:prstGeom>
          <a:noFill/>
        </p:spPr>
        <p:txBody>
          <a:bodyPr wrap="square" lIns="41148" tIns="22860" rIns="41148" bIns="22860" anchor="t">
            <a:spAutoFit/>
          </a:bodyPr>
          <a:lstStyle/>
          <a:p>
            <a:pPr algn="l"/>
            <a:r>
              <a:rPr sz="1090" b="0" i="0">
                <a:solidFill>
                  <a:srgbClr val="273D4E"/>
                </a:solidFill>
                <a:latin typeface="Aptos"/>
              </a:rPr>
              <a:t>Credit limit is not exceeded</a:t>
            </a:r>
          </a:p>
        </p:txBody>
      </p:sp>
      <p:sp>
        <p:nvSpPr>
          <p:cNvPr id="51" name="Oval 50"/>
          <p:cNvSpPr/>
          <p:nvPr/>
        </p:nvSpPr>
        <p:spPr>
          <a:xfrm>
            <a:off x="6537960" y="4169664"/>
            <a:ext cx="347472" cy="347472"/>
          </a:xfrm>
          <a:prstGeom prst="ellipse">
            <a:avLst/>
          </a:prstGeom>
          <a:solidFill>
            <a:srgbClr val="E1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6537960" y="4169664"/>
            <a:ext cx="347472" cy="347472"/>
          </a:xfrm>
          <a:prstGeom prst="rect">
            <a:avLst/>
          </a:prstGeom>
          <a:noFill/>
        </p:spPr>
        <p:txBody>
          <a:bodyPr wrap="square" lIns="41148" tIns="22860" rIns="41148" bIns="22860" anchor="ctr">
            <a:spAutoFit/>
          </a:bodyPr>
          <a:lstStyle/>
          <a:p>
            <a:pPr algn="ctr"/>
            <a:r>
              <a:rPr sz="1100" b="1" i="0">
                <a:solidFill>
                  <a:srgbClr val="499D7E"/>
                </a:solidFill>
                <a:latin typeface="Aptos"/>
              </a:rPr>
              <a:t>✓</a:t>
            </a:r>
          </a:p>
        </p:txBody>
      </p:sp>
      <p:sp>
        <p:nvSpPr>
          <p:cNvPr id="53" name="TextBox 52"/>
          <p:cNvSpPr txBox="1"/>
          <p:nvPr/>
        </p:nvSpPr>
        <p:spPr>
          <a:xfrm>
            <a:off x="7059168" y="4197096"/>
            <a:ext cx="3840480" cy="256032"/>
          </a:xfrm>
          <a:prstGeom prst="rect">
            <a:avLst/>
          </a:prstGeom>
          <a:noFill/>
        </p:spPr>
        <p:txBody>
          <a:bodyPr wrap="square" lIns="41148" tIns="22860" rIns="41148" bIns="22860" anchor="t">
            <a:spAutoFit/>
          </a:bodyPr>
          <a:lstStyle/>
          <a:p>
            <a:pPr algn="l"/>
            <a:r>
              <a:rPr sz="1090" b="0" i="0">
                <a:solidFill>
                  <a:srgbClr val="273D4E"/>
                </a:solidFill>
                <a:latin typeface="Aptos"/>
              </a:rPr>
              <a:t>Prerequisites are satisfied</a:t>
            </a:r>
          </a:p>
        </p:txBody>
      </p:sp>
      <p:sp>
        <p:nvSpPr>
          <p:cNvPr id="54" name="Rounded Rectangle 53"/>
          <p:cNvSpPr/>
          <p:nvPr/>
        </p:nvSpPr>
        <p:spPr>
          <a:xfrm>
            <a:off x="7479792" y="5010912"/>
            <a:ext cx="1508760" cy="329184"/>
          </a:xfrm>
          <a:prstGeom prst="roundRect">
            <a:avLst>
              <a:gd name="adj" fmla="val 12000"/>
            </a:avLst>
          </a:prstGeom>
          <a:solidFill>
            <a:srgbClr val="FDEDE5"/>
          </a:solidFill>
          <a:ln>
            <a:solidFill>
              <a:srgbClr val="FDED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7498079" y="5029200"/>
            <a:ext cx="1472184" cy="274320"/>
          </a:xfrm>
          <a:prstGeom prst="rect">
            <a:avLst/>
          </a:prstGeom>
          <a:noFill/>
        </p:spPr>
        <p:txBody>
          <a:bodyPr wrap="square" lIns="41148" tIns="22860" rIns="41148" bIns="22860" anchor="ctr">
            <a:spAutoFit/>
          </a:bodyPr>
          <a:lstStyle/>
          <a:p>
            <a:pPr algn="ctr"/>
            <a:r>
              <a:rPr sz="869" b="1" i="0">
                <a:solidFill>
                  <a:srgbClr val="DA6873"/>
                </a:solidFill>
                <a:latin typeface="Aptos"/>
              </a:rPr>
              <a:t>DROP COURSE</a:t>
            </a:r>
          </a:p>
        </p:txBody>
      </p:sp>
      <p:sp>
        <p:nvSpPr>
          <p:cNvPr id="56" name="TextBox 55"/>
          <p:cNvSpPr txBox="1"/>
          <p:nvPr/>
        </p:nvSpPr>
        <p:spPr>
          <a:xfrm>
            <a:off x="6675120" y="5477256"/>
            <a:ext cx="4251960" cy="237744"/>
          </a:xfrm>
          <a:prstGeom prst="rect">
            <a:avLst/>
          </a:prstGeom>
          <a:noFill/>
        </p:spPr>
        <p:txBody>
          <a:bodyPr wrap="square" lIns="41148" tIns="22860" rIns="41148" bIns="22860" anchor="t">
            <a:spAutoFit/>
          </a:bodyPr>
          <a:lstStyle/>
          <a:p>
            <a:pPr algn="ctr"/>
            <a:r>
              <a:rPr sz="940" b="0" i="0">
                <a:solidFill>
                  <a:srgbClr val="5D7684"/>
                </a:solidFill>
                <a:latin typeface="Aptos"/>
              </a:rPr>
              <a:t>Confirmation helps prevent accidental removal.</a:t>
            </a:r>
          </a:p>
        </p:txBody>
      </p:sp>
      <p:sp>
        <p:nvSpPr>
          <p:cNvPr id="57" name="TextBox 56"/>
          <p:cNvSpPr txBox="1"/>
          <p:nvPr/>
        </p:nvSpPr>
        <p:spPr>
          <a:xfrm>
            <a:off x="530352" y="6547104"/>
            <a:ext cx="4572000" cy="146304"/>
          </a:xfrm>
          <a:prstGeom prst="rect">
            <a:avLst/>
          </a:prstGeom>
          <a:noFill/>
        </p:spPr>
        <p:txBody>
          <a:bodyPr wrap="square" lIns="41148" tIns="22860" rIns="41148" bIns="22860" anchor="t">
            <a:spAutoFit/>
          </a:bodyPr>
          <a:lstStyle/>
          <a:p>
            <a:pPr algn="l"/>
            <a:r>
              <a:rPr sz="720" b="1" i="0">
                <a:solidFill>
                  <a:srgbClr val="5D7684"/>
                </a:solidFill>
                <a:latin typeface="Aptos"/>
              </a:rPr>
              <a:t>COURSE REGISTRATION &amp; TIMETABLE BUILDER</a:t>
            </a:r>
          </a:p>
        </p:txBody>
      </p:sp>
      <p:sp>
        <p:nvSpPr>
          <p:cNvPr id="58" name="TextBox 57"/>
          <p:cNvSpPr txBox="1"/>
          <p:nvPr/>
        </p:nvSpPr>
        <p:spPr>
          <a:xfrm>
            <a:off x="11201400" y="6510528"/>
            <a:ext cx="384048" cy="182880"/>
          </a:xfrm>
          <a:prstGeom prst="rect">
            <a:avLst/>
          </a:prstGeom>
          <a:noFill/>
        </p:spPr>
        <p:txBody>
          <a:bodyPr wrap="square" lIns="41148" tIns="22860" rIns="41148" bIns="22860" anchor="t">
            <a:spAutoFit/>
          </a:bodyPr>
          <a:lstStyle/>
          <a:p>
            <a:pPr algn="r"/>
            <a:r>
              <a:rPr sz="750" b="1" i="0">
                <a:solidFill>
                  <a:srgbClr val="5D7684"/>
                </a:solidFill>
                <a:latin typeface="Aptos"/>
              </a:rPr>
              <a:t>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1FAFD"/>
        </a:solidFill>
        <a:effectLst/>
      </p:bgPr>
    </p:bg>
    <p:spTree>
      <p:nvGrpSpPr>
        <p:cNvPr id="1" name=""/>
        <p:cNvGrpSpPr/>
        <p:nvPr/>
      </p:nvGrpSpPr>
      <p:grpSpPr>
        <a:xfrm>
          <a:off x="0" y="0"/>
          <a:ext cx="0" cy="0"/>
          <a:chOff x="0" y="0"/>
          <a:chExt cx="0" cy="0"/>
        </a:xfrm>
      </p:grpSpPr>
      <p:sp>
        <p:nvSpPr>
          <p:cNvPr id="2" name="Oval 1"/>
          <p:cNvSpPr/>
          <p:nvPr/>
        </p:nvSpPr>
        <p:spPr>
          <a:xfrm>
            <a:off x="10652760" y="-411480"/>
            <a:ext cx="1920240" cy="1920240"/>
          </a:xfrm>
          <a:prstGeom prst="ellipse">
            <a:avLst/>
          </a:prstGeom>
          <a:solidFill>
            <a:srgbClr val="D7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9875520" y="5623560"/>
            <a:ext cx="2011680" cy="2011680"/>
          </a:xfrm>
          <a:prstGeom prst="ellipse">
            <a:avLst/>
          </a:prstGeom>
          <a:solidFill>
            <a:srgbClr val="E1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411480" y="5715000"/>
            <a:ext cx="1554480" cy="1554480"/>
          </a:xfrm>
          <a:prstGeom prst="ellipse">
            <a:avLst/>
          </a:prstGeom>
          <a:solidFill>
            <a:srgbClr val="EDE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rot="20100000">
            <a:off x="45720" y="91440"/>
            <a:ext cx="228600" cy="96012"/>
          </a:xfrm>
          <a:prstGeom prst="ellipse">
            <a:avLst/>
          </a:prstGeom>
          <a:solidFill>
            <a:srgbClr val="5BB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rot="1500000">
            <a:off x="246888" y="256032"/>
            <a:ext cx="256032" cy="107533"/>
          </a:xfrm>
          <a:prstGeom prst="ellipse">
            <a:avLst/>
          </a:prstGeom>
          <a:solidFill>
            <a:srgbClr val="2A79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rot="19500000">
            <a:off x="-100584" y="411479"/>
            <a:ext cx="219456" cy="92171"/>
          </a:xfrm>
          <a:prstGeom prst="ellipse">
            <a:avLst/>
          </a:prstGeom>
          <a:solidFill>
            <a:srgbClr val="5BB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rot="1500000">
            <a:off x="155448" y="566928"/>
            <a:ext cx="201168" cy="84490"/>
          </a:xfrm>
          <a:prstGeom prst="ellipse">
            <a:avLst/>
          </a:prstGeom>
          <a:solidFill>
            <a:srgbClr val="2A79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rot="19500000">
            <a:off x="-210312" y="685800"/>
            <a:ext cx="201168" cy="84490"/>
          </a:xfrm>
          <a:prstGeom prst="ellipse">
            <a:avLst/>
          </a:prstGeom>
          <a:solidFill>
            <a:srgbClr val="5BB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0" name="Connector 9"/>
          <p:cNvCxnSpPr/>
          <p:nvPr/>
        </p:nvCxnSpPr>
        <p:spPr>
          <a:xfrm flipH="1">
            <a:off x="64008" y="109728"/>
            <a:ext cx="73152" cy="758952"/>
          </a:xfrm>
          <a:prstGeom prst="line">
            <a:avLst/>
          </a:prstGeom>
          <a:ln w="13970">
            <a:solidFill>
              <a:srgbClr val="2A79A3"/>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502920" y="329184"/>
            <a:ext cx="502920" cy="329184"/>
          </a:xfrm>
          <a:prstGeom prst="roundRect">
            <a:avLst>
              <a:gd name="adj" fmla="val 12000"/>
            </a:avLst>
          </a:prstGeom>
          <a:solidFill>
            <a:srgbClr val="D7F0F8"/>
          </a:solidFill>
          <a:ln>
            <a:solidFill>
              <a:srgbClr val="D7F0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21208" y="347472"/>
            <a:ext cx="466344" cy="274320"/>
          </a:xfrm>
          <a:prstGeom prst="rect">
            <a:avLst/>
          </a:prstGeom>
          <a:noFill/>
        </p:spPr>
        <p:txBody>
          <a:bodyPr wrap="square" lIns="41148" tIns="22860" rIns="41148" bIns="22860" anchor="ctr">
            <a:spAutoFit/>
          </a:bodyPr>
          <a:lstStyle/>
          <a:p>
            <a:pPr algn="ctr"/>
            <a:r>
              <a:rPr sz="1000" b="1" i="0">
                <a:solidFill>
                  <a:srgbClr val="10395C"/>
                </a:solidFill>
                <a:latin typeface="Aptos"/>
              </a:rPr>
              <a:t>14</a:t>
            </a:r>
          </a:p>
        </p:txBody>
      </p:sp>
      <p:sp>
        <p:nvSpPr>
          <p:cNvPr id="13" name="TextBox 12"/>
          <p:cNvSpPr txBox="1"/>
          <p:nvPr/>
        </p:nvSpPr>
        <p:spPr>
          <a:xfrm>
            <a:off x="1115568" y="274320"/>
            <a:ext cx="9875520" cy="438912"/>
          </a:xfrm>
          <a:prstGeom prst="rect">
            <a:avLst/>
          </a:prstGeom>
          <a:noFill/>
        </p:spPr>
        <p:txBody>
          <a:bodyPr wrap="square" lIns="41148" tIns="22860" rIns="41148" bIns="22860" anchor="t">
            <a:spAutoFit/>
          </a:bodyPr>
          <a:lstStyle/>
          <a:p>
            <a:pPr algn="l"/>
            <a:r>
              <a:rPr sz="2300" b="1" i="0">
                <a:solidFill>
                  <a:srgbClr val="10395C"/>
                </a:solidFill>
                <a:latin typeface="Aptos"/>
              </a:rPr>
              <a:t>Database Design &amp; ER Diagram</a:t>
            </a:r>
          </a:p>
        </p:txBody>
      </p:sp>
      <p:sp>
        <p:nvSpPr>
          <p:cNvPr id="14" name="TextBox 13"/>
          <p:cNvSpPr txBox="1"/>
          <p:nvPr/>
        </p:nvSpPr>
        <p:spPr>
          <a:xfrm>
            <a:off x="1133856" y="758952"/>
            <a:ext cx="9418320" cy="274320"/>
          </a:xfrm>
          <a:prstGeom prst="rect">
            <a:avLst/>
          </a:prstGeom>
          <a:noFill/>
        </p:spPr>
        <p:txBody>
          <a:bodyPr wrap="square" lIns="41148" tIns="22860" rIns="41148" bIns="22860" anchor="t">
            <a:spAutoFit/>
          </a:bodyPr>
          <a:lstStyle/>
          <a:p>
            <a:pPr algn="l"/>
            <a:r>
              <a:rPr sz="1080" b="0" i="0">
                <a:solidFill>
                  <a:srgbClr val="5D7684"/>
                </a:solidFill>
                <a:latin typeface="Aptos"/>
              </a:rPr>
              <a:t>A relational model connects students, courses and schedules</a:t>
            </a:r>
          </a:p>
        </p:txBody>
      </p:sp>
      <p:sp>
        <p:nvSpPr>
          <p:cNvPr id="15" name="Rectangle 14"/>
          <p:cNvSpPr/>
          <p:nvPr/>
        </p:nvSpPr>
        <p:spPr>
          <a:xfrm>
            <a:off x="1133856" y="1060704"/>
            <a:ext cx="1051560" cy="32004"/>
          </a:xfrm>
          <a:prstGeom prst="rect">
            <a:avLst/>
          </a:prstGeom>
          <a:solidFill>
            <a:srgbClr val="5BB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594360" y="1572768"/>
            <a:ext cx="2514600" cy="1417320"/>
          </a:xfrm>
          <a:prstGeom prst="roundRect">
            <a:avLst>
              <a:gd name="adj" fmla="val 12000"/>
            </a:avLst>
          </a:prstGeom>
          <a:solidFill>
            <a:srgbClr val="FFFFFF"/>
          </a:solidFill>
          <a:ln>
            <a:solidFill>
              <a:srgbClr val="C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758952" y="1737360"/>
            <a:ext cx="2185416" cy="329184"/>
          </a:xfrm>
          <a:prstGeom prst="roundRect">
            <a:avLst>
              <a:gd name="adj" fmla="val 12000"/>
            </a:avLst>
          </a:prstGeom>
          <a:solidFill>
            <a:srgbClr val="D7F0F8"/>
          </a:solidFill>
          <a:ln>
            <a:solidFill>
              <a:srgbClr val="D7F0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77240" y="1755648"/>
            <a:ext cx="2148840" cy="274320"/>
          </a:xfrm>
          <a:prstGeom prst="rect">
            <a:avLst/>
          </a:prstGeom>
          <a:noFill/>
        </p:spPr>
        <p:txBody>
          <a:bodyPr wrap="square" lIns="41148" tIns="22860" rIns="41148" bIns="22860" anchor="ctr">
            <a:spAutoFit/>
          </a:bodyPr>
          <a:lstStyle/>
          <a:p>
            <a:pPr algn="ctr"/>
            <a:r>
              <a:rPr sz="860" b="1" i="0">
                <a:solidFill>
                  <a:srgbClr val="10395C"/>
                </a:solidFill>
                <a:latin typeface="Aptos"/>
              </a:rPr>
              <a:t>STUDENT</a:t>
            </a:r>
          </a:p>
        </p:txBody>
      </p:sp>
      <p:sp>
        <p:nvSpPr>
          <p:cNvPr id="19" name="TextBox 18"/>
          <p:cNvSpPr txBox="1"/>
          <p:nvPr/>
        </p:nvSpPr>
        <p:spPr>
          <a:xfrm>
            <a:off x="813816" y="2157984"/>
            <a:ext cx="2057400" cy="182880"/>
          </a:xfrm>
          <a:prstGeom prst="rect">
            <a:avLst/>
          </a:prstGeom>
          <a:noFill/>
        </p:spPr>
        <p:txBody>
          <a:bodyPr wrap="square" lIns="41148" tIns="22860" rIns="41148" bIns="22860" anchor="t">
            <a:spAutoFit/>
          </a:bodyPr>
          <a:lstStyle/>
          <a:p>
            <a:pPr algn="l"/>
            <a:r>
              <a:rPr sz="830" b="0" i="0">
                <a:solidFill>
                  <a:srgbClr val="273D4E"/>
                </a:solidFill>
                <a:latin typeface="Aptos"/>
              </a:rPr>
              <a:t>student_id PK</a:t>
            </a:r>
          </a:p>
        </p:txBody>
      </p:sp>
      <p:sp>
        <p:nvSpPr>
          <p:cNvPr id="20" name="TextBox 19"/>
          <p:cNvSpPr txBox="1"/>
          <p:nvPr/>
        </p:nvSpPr>
        <p:spPr>
          <a:xfrm>
            <a:off x="813816" y="2386584"/>
            <a:ext cx="2057400" cy="182880"/>
          </a:xfrm>
          <a:prstGeom prst="rect">
            <a:avLst/>
          </a:prstGeom>
          <a:noFill/>
        </p:spPr>
        <p:txBody>
          <a:bodyPr wrap="square" lIns="41148" tIns="22860" rIns="41148" bIns="22860" anchor="t">
            <a:spAutoFit/>
          </a:bodyPr>
          <a:lstStyle/>
          <a:p>
            <a:pPr algn="l"/>
            <a:r>
              <a:rPr sz="830" b="0" i="0">
                <a:solidFill>
                  <a:srgbClr val="273D4E"/>
                </a:solidFill>
                <a:latin typeface="Aptos"/>
              </a:rPr>
              <a:t>name • email • password</a:t>
            </a:r>
          </a:p>
        </p:txBody>
      </p:sp>
      <p:sp>
        <p:nvSpPr>
          <p:cNvPr id="21" name="TextBox 20"/>
          <p:cNvSpPr txBox="1"/>
          <p:nvPr/>
        </p:nvSpPr>
        <p:spPr>
          <a:xfrm>
            <a:off x="813816" y="2615184"/>
            <a:ext cx="2057400" cy="182880"/>
          </a:xfrm>
          <a:prstGeom prst="rect">
            <a:avLst/>
          </a:prstGeom>
          <a:noFill/>
        </p:spPr>
        <p:txBody>
          <a:bodyPr wrap="square" lIns="41148" tIns="22860" rIns="41148" bIns="22860" anchor="t">
            <a:spAutoFit/>
          </a:bodyPr>
          <a:lstStyle/>
          <a:p>
            <a:pPr algn="l"/>
            <a:r>
              <a:rPr sz="830" b="0" i="0">
                <a:solidFill>
                  <a:srgbClr val="273D4E"/>
                </a:solidFill>
                <a:latin typeface="Aptos"/>
              </a:rPr>
              <a:t>department • semester</a:t>
            </a:r>
          </a:p>
        </p:txBody>
      </p:sp>
      <p:sp>
        <p:nvSpPr>
          <p:cNvPr id="22" name="Rounded Rectangle 21"/>
          <p:cNvSpPr/>
          <p:nvPr/>
        </p:nvSpPr>
        <p:spPr>
          <a:xfrm>
            <a:off x="3611880" y="1572768"/>
            <a:ext cx="2514600" cy="1417320"/>
          </a:xfrm>
          <a:prstGeom prst="roundRect">
            <a:avLst>
              <a:gd name="adj" fmla="val 12000"/>
            </a:avLst>
          </a:prstGeom>
          <a:solidFill>
            <a:srgbClr val="FFFFFF"/>
          </a:solidFill>
          <a:ln>
            <a:solidFill>
              <a:srgbClr val="C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3776472" y="1737360"/>
            <a:ext cx="2185416" cy="329184"/>
          </a:xfrm>
          <a:prstGeom prst="roundRect">
            <a:avLst>
              <a:gd name="adj" fmla="val 12000"/>
            </a:avLst>
          </a:prstGeom>
          <a:solidFill>
            <a:srgbClr val="E1F8F1"/>
          </a:solidFill>
          <a:ln>
            <a:solidFill>
              <a:srgbClr val="E1F8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3794759" y="1755648"/>
            <a:ext cx="2148840" cy="274320"/>
          </a:xfrm>
          <a:prstGeom prst="rect">
            <a:avLst/>
          </a:prstGeom>
          <a:noFill/>
        </p:spPr>
        <p:txBody>
          <a:bodyPr wrap="square" lIns="41148" tIns="22860" rIns="41148" bIns="22860" anchor="ctr">
            <a:spAutoFit/>
          </a:bodyPr>
          <a:lstStyle/>
          <a:p>
            <a:pPr algn="ctr"/>
            <a:r>
              <a:rPr sz="860" b="1" i="0">
                <a:solidFill>
                  <a:srgbClr val="10395C"/>
                </a:solidFill>
                <a:latin typeface="Aptos"/>
              </a:rPr>
              <a:t>REGISTRATION</a:t>
            </a:r>
          </a:p>
        </p:txBody>
      </p:sp>
      <p:sp>
        <p:nvSpPr>
          <p:cNvPr id="25" name="TextBox 24"/>
          <p:cNvSpPr txBox="1"/>
          <p:nvPr/>
        </p:nvSpPr>
        <p:spPr>
          <a:xfrm>
            <a:off x="3831336" y="2157984"/>
            <a:ext cx="2057400" cy="182880"/>
          </a:xfrm>
          <a:prstGeom prst="rect">
            <a:avLst/>
          </a:prstGeom>
          <a:noFill/>
        </p:spPr>
        <p:txBody>
          <a:bodyPr wrap="square" lIns="41148" tIns="22860" rIns="41148" bIns="22860" anchor="t">
            <a:spAutoFit/>
          </a:bodyPr>
          <a:lstStyle/>
          <a:p>
            <a:pPr algn="l"/>
            <a:r>
              <a:rPr sz="830" b="0" i="0">
                <a:solidFill>
                  <a:srgbClr val="273D4E"/>
                </a:solidFill>
                <a:latin typeface="Aptos"/>
              </a:rPr>
              <a:t>registration_id PK</a:t>
            </a:r>
          </a:p>
        </p:txBody>
      </p:sp>
      <p:sp>
        <p:nvSpPr>
          <p:cNvPr id="26" name="TextBox 25"/>
          <p:cNvSpPr txBox="1"/>
          <p:nvPr/>
        </p:nvSpPr>
        <p:spPr>
          <a:xfrm>
            <a:off x="3831336" y="2386584"/>
            <a:ext cx="2057400" cy="182880"/>
          </a:xfrm>
          <a:prstGeom prst="rect">
            <a:avLst/>
          </a:prstGeom>
          <a:noFill/>
        </p:spPr>
        <p:txBody>
          <a:bodyPr wrap="square" lIns="41148" tIns="22860" rIns="41148" bIns="22860" anchor="t">
            <a:spAutoFit/>
          </a:bodyPr>
          <a:lstStyle/>
          <a:p>
            <a:pPr algn="l"/>
            <a:r>
              <a:rPr sz="830" b="0" i="0">
                <a:solidFill>
                  <a:srgbClr val="273D4E"/>
                </a:solidFill>
                <a:latin typeface="Aptos"/>
              </a:rPr>
              <a:t>student_id FK</a:t>
            </a:r>
          </a:p>
        </p:txBody>
      </p:sp>
      <p:sp>
        <p:nvSpPr>
          <p:cNvPr id="27" name="TextBox 26"/>
          <p:cNvSpPr txBox="1"/>
          <p:nvPr/>
        </p:nvSpPr>
        <p:spPr>
          <a:xfrm>
            <a:off x="3831336" y="2615184"/>
            <a:ext cx="2057400" cy="182880"/>
          </a:xfrm>
          <a:prstGeom prst="rect">
            <a:avLst/>
          </a:prstGeom>
          <a:noFill/>
        </p:spPr>
        <p:txBody>
          <a:bodyPr wrap="square" lIns="41148" tIns="22860" rIns="41148" bIns="22860" anchor="t">
            <a:spAutoFit/>
          </a:bodyPr>
          <a:lstStyle/>
          <a:p>
            <a:pPr algn="l"/>
            <a:r>
              <a:rPr sz="830" b="0" i="0">
                <a:solidFill>
                  <a:srgbClr val="273D4E"/>
                </a:solidFill>
                <a:latin typeface="Aptos"/>
              </a:rPr>
              <a:t>course_id FK</a:t>
            </a:r>
          </a:p>
        </p:txBody>
      </p:sp>
      <p:sp>
        <p:nvSpPr>
          <p:cNvPr id="28" name="TextBox 27"/>
          <p:cNvSpPr txBox="1"/>
          <p:nvPr/>
        </p:nvSpPr>
        <p:spPr>
          <a:xfrm>
            <a:off x="3831336" y="2843784"/>
            <a:ext cx="2057400" cy="182880"/>
          </a:xfrm>
          <a:prstGeom prst="rect">
            <a:avLst/>
          </a:prstGeom>
          <a:noFill/>
        </p:spPr>
        <p:txBody>
          <a:bodyPr wrap="square" lIns="41148" tIns="22860" rIns="41148" bIns="22860" anchor="t">
            <a:spAutoFit/>
          </a:bodyPr>
          <a:lstStyle/>
          <a:p>
            <a:pPr algn="l"/>
            <a:r>
              <a:rPr sz="830" b="0" i="0">
                <a:solidFill>
                  <a:srgbClr val="273D4E"/>
                </a:solidFill>
                <a:latin typeface="Aptos"/>
              </a:rPr>
              <a:t>date • status</a:t>
            </a:r>
          </a:p>
        </p:txBody>
      </p:sp>
      <p:sp>
        <p:nvSpPr>
          <p:cNvPr id="29" name="Rounded Rectangle 28"/>
          <p:cNvSpPr/>
          <p:nvPr/>
        </p:nvSpPr>
        <p:spPr>
          <a:xfrm>
            <a:off x="6629400" y="1572768"/>
            <a:ext cx="2514600" cy="1417320"/>
          </a:xfrm>
          <a:prstGeom prst="roundRect">
            <a:avLst>
              <a:gd name="adj" fmla="val 12000"/>
            </a:avLst>
          </a:prstGeom>
          <a:solidFill>
            <a:srgbClr val="FFFFFF"/>
          </a:solidFill>
          <a:ln>
            <a:solidFill>
              <a:srgbClr val="C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6793992" y="1737360"/>
            <a:ext cx="2185416" cy="329184"/>
          </a:xfrm>
          <a:prstGeom prst="roundRect">
            <a:avLst>
              <a:gd name="adj" fmla="val 12000"/>
            </a:avLst>
          </a:prstGeom>
          <a:solidFill>
            <a:srgbClr val="EDECFC"/>
          </a:solidFill>
          <a:ln>
            <a:solidFill>
              <a:srgbClr val="EDEC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812279" y="1755648"/>
            <a:ext cx="2148840" cy="274320"/>
          </a:xfrm>
          <a:prstGeom prst="rect">
            <a:avLst/>
          </a:prstGeom>
          <a:noFill/>
        </p:spPr>
        <p:txBody>
          <a:bodyPr wrap="square" lIns="41148" tIns="22860" rIns="41148" bIns="22860" anchor="ctr">
            <a:spAutoFit/>
          </a:bodyPr>
          <a:lstStyle/>
          <a:p>
            <a:pPr algn="ctr"/>
            <a:r>
              <a:rPr sz="860" b="1" i="0">
                <a:solidFill>
                  <a:srgbClr val="10395C"/>
                </a:solidFill>
                <a:latin typeface="Aptos"/>
              </a:rPr>
              <a:t>COURSE</a:t>
            </a:r>
          </a:p>
        </p:txBody>
      </p:sp>
      <p:sp>
        <p:nvSpPr>
          <p:cNvPr id="32" name="TextBox 31"/>
          <p:cNvSpPr txBox="1"/>
          <p:nvPr/>
        </p:nvSpPr>
        <p:spPr>
          <a:xfrm>
            <a:off x="6848856" y="2157984"/>
            <a:ext cx="2057400" cy="182880"/>
          </a:xfrm>
          <a:prstGeom prst="rect">
            <a:avLst/>
          </a:prstGeom>
          <a:noFill/>
        </p:spPr>
        <p:txBody>
          <a:bodyPr wrap="square" lIns="41148" tIns="22860" rIns="41148" bIns="22860" anchor="t">
            <a:spAutoFit/>
          </a:bodyPr>
          <a:lstStyle/>
          <a:p>
            <a:pPr algn="l"/>
            <a:r>
              <a:rPr sz="830" b="0" i="0">
                <a:solidFill>
                  <a:srgbClr val="273D4E"/>
                </a:solidFill>
                <a:latin typeface="Aptos"/>
              </a:rPr>
              <a:t>course_id PK</a:t>
            </a:r>
          </a:p>
        </p:txBody>
      </p:sp>
      <p:sp>
        <p:nvSpPr>
          <p:cNvPr id="33" name="TextBox 32"/>
          <p:cNvSpPr txBox="1"/>
          <p:nvPr/>
        </p:nvSpPr>
        <p:spPr>
          <a:xfrm>
            <a:off x="6848856" y="2386584"/>
            <a:ext cx="2057400" cy="182880"/>
          </a:xfrm>
          <a:prstGeom prst="rect">
            <a:avLst/>
          </a:prstGeom>
          <a:noFill/>
        </p:spPr>
        <p:txBody>
          <a:bodyPr wrap="square" lIns="41148" tIns="22860" rIns="41148" bIns="22860" anchor="t">
            <a:spAutoFit/>
          </a:bodyPr>
          <a:lstStyle/>
          <a:p>
            <a:pPr algn="l"/>
            <a:r>
              <a:rPr sz="830" b="0" i="0">
                <a:solidFill>
                  <a:srgbClr val="273D4E"/>
                </a:solidFill>
                <a:latin typeface="Aptos"/>
              </a:rPr>
              <a:t>code • name • credits</a:t>
            </a:r>
          </a:p>
        </p:txBody>
      </p:sp>
      <p:sp>
        <p:nvSpPr>
          <p:cNvPr id="34" name="TextBox 33"/>
          <p:cNvSpPr txBox="1"/>
          <p:nvPr/>
        </p:nvSpPr>
        <p:spPr>
          <a:xfrm>
            <a:off x="6848856" y="2615184"/>
            <a:ext cx="2057400" cy="182880"/>
          </a:xfrm>
          <a:prstGeom prst="rect">
            <a:avLst/>
          </a:prstGeom>
          <a:noFill/>
        </p:spPr>
        <p:txBody>
          <a:bodyPr wrap="square" lIns="41148" tIns="22860" rIns="41148" bIns="22860" anchor="t">
            <a:spAutoFit/>
          </a:bodyPr>
          <a:lstStyle/>
          <a:p>
            <a:pPr algn="l"/>
            <a:r>
              <a:rPr sz="830" b="0" i="0">
                <a:solidFill>
                  <a:srgbClr val="273D4E"/>
                </a:solidFill>
                <a:latin typeface="Aptos"/>
              </a:rPr>
              <a:t>department • capacity</a:t>
            </a:r>
          </a:p>
        </p:txBody>
      </p:sp>
      <p:sp>
        <p:nvSpPr>
          <p:cNvPr id="35" name="Rounded Rectangle 34"/>
          <p:cNvSpPr/>
          <p:nvPr/>
        </p:nvSpPr>
        <p:spPr>
          <a:xfrm>
            <a:off x="3611880" y="3931920"/>
            <a:ext cx="2514600" cy="1417320"/>
          </a:xfrm>
          <a:prstGeom prst="roundRect">
            <a:avLst>
              <a:gd name="adj" fmla="val 12000"/>
            </a:avLst>
          </a:prstGeom>
          <a:solidFill>
            <a:srgbClr val="FFFFFF"/>
          </a:solidFill>
          <a:ln>
            <a:solidFill>
              <a:srgbClr val="C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ounded Rectangle 35"/>
          <p:cNvSpPr/>
          <p:nvPr/>
        </p:nvSpPr>
        <p:spPr>
          <a:xfrm>
            <a:off x="3776472" y="4096511"/>
            <a:ext cx="2185416" cy="329184"/>
          </a:xfrm>
          <a:prstGeom prst="roundRect">
            <a:avLst>
              <a:gd name="adj" fmla="val 12000"/>
            </a:avLst>
          </a:prstGeom>
          <a:solidFill>
            <a:srgbClr val="D7F0F8"/>
          </a:solidFill>
          <a:ln>
            <a:solidFill>
              <a:srgbClr val="D7F0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3794759" y="4114799"/>
            <a:ext cx="2148840" cy="274320"/>
          </a:xfrm>
          <a:prstGeom prst="rect">
            <a:avLst/>
          </a:prstGeom>
          <a:noFill/>
        </p:spPr>
        <p:txBody>
          <a:bodyPr wrap="square" lIns="41148" tIns="22860" rIns="41148" bIns="22860" anchor="ctr">
            <a:spAutoFit/>
          </a:bodyPr>
          <a:lstStyle/>
          <a:p>
            <a:pPr algn="ctr"/>
            <a:r>
              <a:rPr sz="860" b="1" i="0">
                <a:solidFill>
                  <a:srgbClr val="10395C"/>
                </a:solidFill>
                <a:latin typeface="Aptos"/>
              </a:rPr>
              <a:t>FACULTY</a:t>
            </a:r>
          </a:p>
        </p:txBody>
      </p:sp>
      <p:sp>
        <p:nvSpPr>
          <p:cNvPr id="38" name="TextBox 37"/>
          <p:cNvSpPr txBox="1"/>
          <p:nvPr/>
        </p:nvSpPr>
        <p:spPr>
          <a:xfrm>
            <a:off x="3831336" y="4517136"/>
            <a:ext cx="2057400" cy="182880"/>
          </a:xfrm>
          <a:prstGeom prst="rect">
            <a:avLst/>
          </a:prstGeom>
          <a:noFill/>
        </p:spPr>
        <p:txBody>
          <a:bodyPr wrap="square" lIns="41148" tIns="22860" rIns="41148" bIns="22860" anchor="t">
            <a:spAutoFit/>
          </a:bodyPr>
          <a:lstStyle/>
          <a:p>
            <a:pPr algn="l"/>
            <a:r>
              <a:rPr sz="830" b="0" i="0">
                <a:solidFill>
                  <a:srgbClr val="273D4E"/>
                </a:solidFill>
                <a:latin typeface="Aptos"/>
              </a:rPr>
              <a:t>faculty_id PK</a:t>
            </a:r>
          </a:p>
        </p:txBody>
      </p:sp>
      <p:sp>
        <p:nvSpPr>
          <p:cNvPr id="39" name="TextBox 38"/>
          <p:cNvSpPr txBox="1"/>
          <p:nvPr/>
        </p:nvSpPr>
        <p:spPr>
          <a:xfrm>
            <a:off x="3831336" y="4745736"/>
            <a:ext cx="2057400" cy="182880"/>
          </a:xfrm>
          <a:prstGeom prst="rect">
            <a:avLst/>
          </a:prstGeom>
          <a:noFill/>
        </p:spPr>
        <p:txBody>
          <a:bodyPr wrap="square" lIns="41148" tIns="22860" rIns="41148" bIns="22860" anchor="t">
            <a:spAutoFit/>
          </a:bodyPr>
          <a:lstStyle/>
          <a:p>
            <a:pPr algn="l"/>
            <a:r>
              <a:rPr sz="830" b="0" i="0">
                <a:solidFill>
                  <a:srgbClr val="273D4E"/>
                </a:solidFill>
                <a:latin typeface="Aptos"/>
              </a:rPr>
              <a:t>name • email</a:t>
            </a:r>
          </a:p>
        </p:txBody>
      </p:sp>
      <p:sp>
        <p:nvSpPr>
          <p:cNvPr id="40" name="TextBox 39"/>
          <p:cNvSpPr txBox="1"/>
          <p:nvPr/>
        </p:nvSpPr>
        <p:spPr>
          <a:xfrm>
            <a:off x="3831336" y="4974336"/>
            <a:ext cx="2057400" cy="182880"/>
          </a:xfrm>
          <a:prstGeom prst="rect">
            <a:avLst/>
          </a:prstGeom>
          <a:noFill/>
        </p:spPr>
        <p:txBody>
          <a:bodyPr wrap="square" lIns="41148" tIns="22860" rIns="41148" bIns="22860" anchor="t">
            <a:spAutoFit/>
          </a:bodyPr>
          <a:lstStyle/>
          <a:p>
            <a:pPr algn="l"/>
            <a:r>
              <a:rPr sz="830" b="0" i="0">
                <a:solidFill>
                  <a:srgbClr val="273D4E"/>
                </a:solidFill>
                <a:latin typeface="Aptos"/>
              </a:rPr>
              <a:t>department</a:t>
            </a:r>
          </a:p>
        </p:txBody>
      </p:sp>
      <p:sp>
        <p:nvSpPr>
          <p:cNvPr id="41" name="Rounded Rectangle 40"/>
          <p:cNvSpPr/>
          <p:nvPr/>
        </p:nvSpPr>
        <p:spPr>
          <a:xfrm>
            <a:off x="6629400" y="3931920"/>
            <a:ext cx="2514600" cy="1417320"/>
          </a:xfrm>
          <a:prstGeom prst="roundRect">
            <a:avLst>
              <a:gd name="adj" fmla="val 12000"/>
            </a:avLst>
          </a:prstGeom>
          <a:solidFill>
            <a:srgbClr val="FFFFFF"/>
          </a:solidFill>
          <a:ln>
            <a:solidFill>
              <a:srgbClr val="C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ounded Rectangle 41"/>
          <p:cNvSpPr/>
          <p:nvPr/>
        </p:nvSpPr>
        <p:spPr>
          <a:xfrm>
            <a:off x="6793992" y="4096511"/>
            <a:ext cx="2185416" cy="329184"/>
          </a:xfrm>
          <a:prstGeom prst="roundRect">
            <a:avLst>
              <a:gd name="adj" fmla="val 12000"/>
            </a:avLst>
          </a:prstGeom>
          <a:solidFill>
            <a:srgbClr val="FDEDE5"/>
          </a:solidFill>
          <a:ln>
            <a:solidFill>
              <a:srgbClr val="FDED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6812279" y="4114799"/>
            <a:ext cx="2148840" cy="274320"/>
          </a:xfrm>
          <a:prstGeom prst="rect">
            <a:avLst/>
          </a:prstGeom>
          <a:noFill/>
        </p:spPr>
        <p:txBody>
          <a:bodyPr wrap="square" lIns="41148" tIns="22860" rIns="41148" bIns="22860" anchor="ctr">
            <a:spAutoFit/>
          </a:bodyPr>
          <a:lstStyle/>
          <a:p>
            <a:pPr algn="ctr"/>
            <a:r>
              <a:rPr sz="860" b="1" i="0">
                <a:solidFill>
                  <a:srgbClr val="10395C"/>
                </a:solidFill>
                <a:latin typeface="Aptos"/>
              </a:rPr>
              <a:t>SCHEDULE</a:t>
            </a:r>
          </a:p>
        </p:txBody>
      </p:sp>
      <p:sp>
        <p:nvSpPr>
          <p:cNvPr id="44" name="TextBox 43"/>
          <p:cNvSpPr txBox="1"/>
          <p:nvPr/>
        </p:nvSpPr>
        <p:spPr>
          <a:xfrm>
            <a:off x="6848856" y="4517136"/>
            <a:ext cx="2057400" cy="182880"/>
          </a:xfrm>
          <a:prstGeom prst="rect">
            <a:avLst/>
          </a:prstGeom>
          <a:noFill/>
        </p:spPr>
        <p:txBody>
          <a:bodyPr wrap="square" lIns="41148" tIns="22860" rIns="41148" bIns="22860" anchor="t">
            <a:spAutoFit/>
          </a:bodyPr>
          <a:lstStyle/>
          <a:p>
            <a:pPr algn="l"/>
            <a:r>
              <a:rPr sz="830" b="0" i="0">
                <a:solidFill>
                  <a:srgbClr val="273D4E"/>
                </a:solidFill>
                <a:latin typeface="Aptos"/>
              </a:rPr>
              <a:t>schedule_id PK</a:t>
            </a:r>
          </a:p>
        </p:txBody>
      </p:sp>
      <p:sp>
        <p:nvSpPr>
          <p:cNvPr id="45" name="TextBox 44"/>
          <p:cNvSpPr txBox="1"/>
          <p:nvPr/>
        </p:nvSpPr>
        <p:spPr>
          <a:xfrm>
            <a:off x="6848856" y="4745736"/>
            <a:ext cx="2057400" cy="182880"/>
          </a:xfrm>
          <a:prstGeom prst="rect">
            <a:avLst/>
          </a:prstGeom>
          <a:noFill/>
        </p:spPr>
        <p:txBody>
          <a:bodyPr wrap="square" lIns="41148" tIns="22860" rIns="41148" bIns="22860" anchor="t">
            <a:spAutoFit/>
          </a:bodyPr>
          <a:lstStyle/>
          <a:p>
            <a:pPr algn="l"/>
            <a:r>
              <a:rPr sz="830" b="0" i="0">
                <a:solidFill>
                  <a:srgbClr val="273D4E"/>
                </a:solidFill>
                <a:latin typeface="Aptos"/>
              </a:rPr>
              <a:t>course_id FK • faculty_id FK</a:t>
            </a:r>
          </a:p>
        </p:txBody>
      </p:sp>
      <p:sp>
        <p:nvSpPr>
          <p:cNvPr id="46" name="TextBox 45"/>
          <p:cNvSpPr txBox="1"/>
          <p:nvPr/>
        </p:nvSpPr>
        <p:spPr>
          <a:xfrm>
            <a:off x="6848856" y="4974336"/>
            <a:ext cx="2057400" cy="182880"/>
          </a:xfrm>
          <a:prstGeom prst="rect">
            <a:avLst/>
          </a:prstGeom>
          <a:noFill/>
        </p:spPr>
        <p:txBody>
          <a:bodyPr wrap="square" lIns="41148" tIns="22860" rIns="41148" bIns="22860" anchor="t">
            <a:spAutoFit/>
          </a:bodyPr>
          <a:lstStyle/>
          <a:p>
            <a:pPr algn="l"/>
            <a:r>
              <a:rPr sz="830" b="0" i="0">
                <a:solidFill>
                  <a:srgbClr val="273D4E"/>
                </a:solidFill>
                <a:latin typeface="Aptos"/>
              </a:rPr>
              <a:t>day • start • end • room</a:t>
            </a:r>
          </a:p>
        </p:txBody>
      </p:sp>
      <p:cxnSp>
        <p:nvCxnSpPr>
          <p:cNvPr id="47" name="Connector 46"/>
          <p:cNvCxnSpPr/>
          <p:nvPr/>
        </p:nvCxnSpPr>
        <p:spPr>
          <a:xfrm>
            <a:off x="3108960" y="2267712"/>
            <a:ext cx="502920" cy="0"/>
          </a:xfrm>
          <a:prstGeom prst="line">
            <a:avLst/>
          </a:prstGeom>
          <a:ln w="21590">
            <a:solidFill>
              <a:srgbClr val="5BBFCC"/>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6126480" y="2267712"/>
            <a:ext cx="502920" cy="0"/>
          </a:xfrm>
          <a:prstGeom prst="line">
            <a:avLst/>
          </a:prstGeom>
          <a:ln w="21590">
            <a:solidFill>
              <a:srgbClr val="5BBFCC"/>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4873752" y="3017520"/>
            <a:ext cx="0" cy="914400"/>
          </a:xfrm>
          <a:prstGeom prst="line">
            <a:avLst/>
          </a:prstGeom>
          <a:ln w="21590">
            <a:solidFill>
              <a:srgbClr val="5BBFCC"/>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7818120" y="3017520"/>
            <a:ext cx="0" cy="914400"/>
          </a:xfrm>
          <a:prstGeom prst="line">
            <a:avLst/>
          </a:prstGeom>
          <a:ln w="21590">
            <a:solidFill>
              <a:srgbClr val="5BBFCC"/>
            </a:solidFill>
          </a:ln>
        </p:spPr>
        <p:style>
          <a:lnRef idx="2">
            <a:schemeClr val="accent1"/>
          </a:lnRef>
          <a:fillRef idx="0">
            <a:schemeClr val="accent1"/>
          </a:fillRef>
          <a:effectRef idx="1">
            <a:schemeClr val="accent1"/>
          </a:effectRef>
          <a:fontRef idx="minor">
            <a:schemeClr val="tx1"/>
          </a:fontRef>
        </p:style>
      </p:cxnSp>
      <p:sp>
        <p:nvSpPr>
          <p:cNvPr id="51" name="Rounded Rectangle 50"/>
          <p:cNvSpPr/>
          <p:nvPr/>
        </p:nvSpPr>
        <p:spPr>
          <a:xfrm>
            <a:off x="3090672" y="1993392"/>
            <a:ext cx="822960" cy="329184"/>
          </a:xfrm>
          <a:prstGeom prst="roundRect">
            <a:avLst>
              <a:gd name="adj" fmla="val 12000"/>
            </a:avLst>
          </a:prstGeom>
          <a:solidFill>
            <a:srgbClr val="D7F0F8"/>
          </a:solidFill>
          <a:ln>
            <a:solidFill>
              <a:srgbClr val="D7F0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3108960" y="2011680"/>
            <a:ext cx="786384" cy="274320"/>
          </a:xfrm>
          <a:prstGeom prst="rect">
            <a:avLst/>
          </a:prstGeom>
          <a:noFill/>
        </p:spPr>
        <p:txBody>
          <a:bodyPr wrap="square" lIns="41148" tIns="22860" rIns="41148" bIns="22860" anchor="ctr">
            <a:spAutoFit/>
          </a:bodyPr>
          <a:lstStyle/>
          <a:p>
            <a:pPr algn="ctr"/>
            <a:r>
              <a:rPr sz="720" b="1" i="0">
                <a:solidFill>
                  <a:srgbClr val="10395C"/>
                </a:solidFill>
                <a:latin typeface="Aptos"/>
              </a:rPr>
              <a:t>1 → MANY</a:t>
            </a:r>
          </a:p>
        </p:txBody>
      </p:sp>
      <p:sp>
        <p:nvSpPr>
          <p:cNvPr id="53" name="Rounded Rectangle 52"/>
          <p:cNvSpPr/>
          <p:nvPr/>
        </p:nvSpPr>
        <p:spPr>
          <a:xfrm>
            <a:off x="6108192" y="1993392"/>
            <a:ext cx="822960" cy="329184"/>
          </a:xfrm>
          <a:prstGeom prst="roundRect">
            <a:avLst>
              <a:gd name="adj" fmla="val 12000"/>
            </a:avLst>
          </a:prstGeom>
          <a:solidFill>
            <a:srgbClr val="E1F8F1"/>
          </a:solidFill>
          <a:ln>
            <a:solidFill>
              <a:srgbClr val="E1F8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6126479" y="2011680"/>
            <a:ext cx="786384" cy="274320"/>
          </a:xfrm>
          <a:prstGeom prst="rect">
            <a:avLst/>
          </a:prstGeom>
          <a:noFill/>
        </p:spPr>
        <p:txBody>
          <a:bodyPr wrap="square" lIns="41148" tIns="22860" rIns="41148" bIns="22860" anchor="ctr">
            <a:spAutoFit/>
          </a:bodyPr>
          <a:lstStyle/>
          <a:p>
            <a:pPr algn="ctr"/>
            <a:r>
              <a:rPr sz="720" b="1" i="0">
                <a:solidFill>
                  <a:srgbClr val="10395C"/>
                </a:solidFill>
                <a:latin typeface="Aptos"/>
              </a:rPr>
              <a:t>1 → MANY</a:t>
            </a:r>
          </a:p>
        </p:txBody>
      </p:sp>
      <p:sp>
        <p:nvSpPr>
          <p:cNvPr id="55" name="Rounded Rectangle 54"/>
          <p:cNvSpPr/>
          <p:nvPr/>
        </p:nvSpPr>
        <p:spPr>
          <a:xfrm>
            <a:off x="9464040" y="3931920"/>
            <a:ext cx="2103120" cy="1417320"/>
          </a:xfrm>
          <a:prstGeom prst="roundRect">
            <a:avLst>
              <a:gd name="adj" fmla="val 12000"/>
            </a:avLst>
          </a:prstGeom>
          <a:solidFill>
            <a:srgbClr val="FFFFFF"/>
          </a:solidFill>
          <a:ln>
            <a:solidFill>
              <a:srgbClr val="C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ounded Rectangle 55"/>
          <p:cNvSpPr/>
          <p:nvPr/>
        </p:nvSpPr>
        <p:spPr>
          <a:xfrm>
            <a:off x="9710928" y="4169663"/>
            <a:ext cx="1609344" cy="329184"/>
          </a:xfrm>
          <a:prstGeom prst="roundRect">
            <a:avLst>
              <a:gd name="adj" fmla="val 12000"/>
            </a:avLst>
          </a:prstGeom>
          <a:solidFill>
            <a:srgbClr val="EDECFC"/>
          </a:solidFill>
          <a:ln>
            <a:solidFill>
              <a:srgbClr val="EDEC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9729215" y="4187951"/>
            <a:ext cx="1572768" cy="274320"/>
          </a:xfrm>
          <a:prstGeom prst="rect">
            <a:avLst/>
          </a:prstGeom>
          <a:noFill/>
        </p:spPr>
        <p:txBody>
          <a:bodyPr wrap="square" lIns="41148" tIns="22860" rIns="41148" bIns="22860" anchor="ctr">
            <a:spAutoFit/>
          </a:bodyPr>
          <a:lstStyle/>
          <a:p>
            <a:pPr algn="ctr"/>
            <a:r>
              <a:rPr sz="830" b="1" i="0">
                <a:solidFill>
                  <a:srgbClr val="10395C"/>
                </a:solidFill>
                <a:latin typeface="Aptos"/>
              </a:rPr>
              <a:t>KEY IDEA</a:t>
            </a:r>
          </a:p>
        </p:txBody>
      </p:sp>
      <p:sp>
        <p:nvSpPr>
          <p:cNvPr id="58" name="TextBox 57"/>
          <p:cNvSpPr txBox="1"/>
          <p:nvPr/>
        </p:nvSpPr>
        <p:spPr>
          <a:xfrm>
            <a:off x="9646920" y="4681728"/>
            <a:ext cx="1737360" cy="548640"/>
          </a:xfrm>
          <a:prstGeom prst="rect">
            <a:avLst/>
          </a:prstGeom>
          <a:noFill/>
        </p:spPr>
        <p:txBody>
          <a:bodyPr wrap="square" lIns="41148" tIns="22860" rIns="41148" bIns="22860" anchor="t">
            <a:spAutoFit/>
          </a:bodyPr>
          <a:lstStyle/>
          <a:p>
            <a:pPr algn="ctr"/>
            <a:r>
              <a:rPr sz="850" b="0" i="0">
                <a:solidFill>
                  <a:srgbClr val="273D4E"/>
                </a:solidFill>
                <a:latin typeface="Aptos"/>
              </a:rPr>
              <a:t>Primary keys identify records.
Foreign keys connect related tables.
This supports consistent registration data.</a:t>
            </a:r>
          </a:p>
        </p:txBody>
      </p:sp>
      <p:sp>
        <p:nvSpPr>
          <p:cNvPr id="59" name="TextBox 58"/>
          <p:cNvSpPr txBox="1"/>
          <p:nvPr/>
        </p:nvSpPr>
        <p:spPr>
          <a:xfrm>
            <a:off x="530352" y="6547104"/>
            <a:ext cx="4572000" cy="146304"/>
          </a:xfrm>
          <a:prstGeom prst="rect">
            <a:avLst/>
          </a:prstGeom>
          <a:noFill/>
        </p:spPr>
        <p:txBody>
          <a:bodyPr wrap="square" lIns="41148" tIns="22860" rIns="41148" bIns="22860" anchor="t">
            <a:spAutoFit/>
          </a:bodyPr>
          <a:lstStyle/>
          <a:p>
            <a:pPr algn="l"/>
            <a:r>
              <a:rPr sz="720" b="1" i="0">
                <a:solidFill>
                  <a:srgbClr val="5D7684"/>
                </a:solidFill>
                <a:latin typeface="Aptos"/>
              </a:rPr>
              <a:t>COURSE REGISTRATION &amp; TIMETABLE BUILDER</a:t>
            </a:r>
          </a:p>
        </p:txBody>
      </p:sp>
      <p:sp>
        <p:nvSpPr>
          <p:cNvPr id="60" name="TextBox 59"/>
          <p:cNvSpPr txBox="1"/>
          <p:nvPr/>
        </p:nvSpPr>
        <p:spPr>
          <a:xfrm>
            <a:off x="11201400" y="6510528"/>
            <a:ext cx="384048" cy="182880"/>
          </a:xfrm>
          <a:prstGeom prst="rect">
            <a:avLst/>
          </a:prstGeom>
          <a:noFill/>
        </p:spPr>
        <p:txBody>
          <a:bodyPr wrap="square" lIns="41148" tIns="22860" rIns="41148" bIns="22860" anchor="t">
            <a:spAutoFit/>
          </a:bodyPr>
          <a:lstStyle/>
          <a:p>
            <a:pPr algn="r"/>
            <a:r>
              <a:rPr sz="750" b="1" i="0">
                <a:solidFill>
                  <a:srgbClr val="5D7684"/>
                </a:solidFill>
                <a:latin typeface="Aptos"/>
              </a:rPr>
              <a:t>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1FAFD"/>
        </a:solidFill>
        <a:effectLst/>
      </p:bgPr>
    </p:bg>
    <p:spTree>
      <p:nvGrpSpPr>
        <p:cNvPr id="1" name=""/>
        <p:cNvGrpSpPr/>
        <p:nvPr/>
      </p:nvGrpSpPr>
      <p:grpSpPr>
        <a:xfrm>
          <a:off x="0" y="0"/>
          <a:ext cx="0" cy="0"/>
          <a:chOff x="0" y="0"/>
          <a:chExt cx="0" cy="0"/>
        </a:xfrm>
      </p:grpSpPr>
      <p:sp>
        <p:nvSpPr>
          <p:cNvPr id="2" name="Oval 1"/>
          <p:cNvSpPr/>
          <p:nvPr/>
        </p:nvSpPr>
        <p:spPr>
          <a:xfrm>
            <a:off x="10652760" y="-411480"/>
            <a:ext cx="1920240" cy="1920240"/>
          </a:xfrm>
          <a:prstGeom prst="ellipse">
            <a:avLst/>
          </a:prstGeom>
          <a:solidFill>
            <a:srgbClr val="D7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9875520" y="5623560"/>
            <a:ext cx="2011680" cy="2011680"/>
          </a:xfrm>
          <a:prstGeom prst="ellipse">
            <a:avLst/>
          </a:prstGeom>
          <a:solidFill>
            <a:srgbClr val="E1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411480" y="5715000"/>
            <a:ext cx="1554480" cy="1554480"/>
          </a:xfrm>
          <a:prstGeom prst="ellipse">
            <a:avLst/>
          </a:prstGeom>
          <a:solidFill>
            <a:srgbClr val="EDE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rot="20100000">
            <a:off x="11292840" y="91440"/>
            <a:ext cx="228600" cy="96012"/>
          </a:xfrm>
          <a:prstGeom prst="ellipse">
            <a:avLst/>
          </a:prstGeom>
          <a:solidFill>
            <a:srgbClr val="5BB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rot="1500000">
            <a:off x="11494008" y="256032"/>
            <a:ext cx="256032" cy="107533"/>
          </a:xfrm>
          <a:prstGeom prst="ellipse">
            <a:avLst/>
          </a:prstGeom>
          <a:solidFill>
            <a:srgbClr val="2A79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rot="19500000">
            <a:off x="11146536" y="411479"/>
            <a:ext cx="219456" cy="92171"/>
          </a:xfrm>
          <a:prstGeom prst="ellipse">
            <a:avLst/>
          </a:prstGeom>
          <a:solidFill>
            <a:srgbClr val="5BB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rot="1500000">
            <a:off x="11402567" y="566928"/>
            <a:ext cx="201168" cy="84490"/>
          </a:xfrm>
          <a:prstGeom prst="ellipse">
            <a:avLst/>
          </a:prstGeom>
          <a:solidFill>
            <a:srgbClr val="2A79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rot="19500000">
            <a:off x="11036808" y="685800"/>
            <a:ext cx="201168" cy="84490"/>
          </a:xfrm>
          <a:prstGeom prst="ellipse">
            <a:avLst/>
          </a:prstGeom>
          <a:solidFill>
            <a:srgbClr val="5BB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0" name="Connector 9"/>
          <p:cNvCxnSpPr/>
          <p:nvPr/>
        </p:nvCxnSpPr>
        <p:spPr>
          <a:xfrm flipH="1">
            <a:off x="11311128" y="109728"/>
            <a:ext cx="73152" cy="758952"/>
          </a:xfrm>
          <a:prstGeom prst="line">
            <a:avLst/>
          </a:prstGeom>
          <a:ln w="13970">
            <a:solidFill>
              <a:srgbClr val="2A79A3"/>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502920" y="329184"/>
            <a:ext cx="502920" cy="329184"/>
          </a:xfrm>
          <a:prstGeom prst="roundRect">
            <a:avLst>
              <a:gd name="adj" fmla="val 12000"/>
            </a:avLst>
          </a:prstGeom>
          <a:solidFill>
            <a:srgbClr val="D7F0F8"/>
          </a:solidFill>
          <a:ln>
            <a:solidFill>
              <a:srgbClr val="D7F0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21208" y="347472"/>
            <a:ext cx="466344" cy="274320"/>
          </a:xfrm>
          <a:prstGeom prst="rect">
            <a:avLst/>
          </a:prstGeom>
          <a:noFill/>
        </p:spPr>
        <p:txBody>
          <a:bodyPr wrap="square" lIns="41148" tIns="22860" rIns="41148" bIns="22860" anchor="ctr">
            <a:spAutoFit/>
          </a:bodyPr>
          <a:lstStyle/>
          <a:p>
            <a:pPr algn="ctr"/>
            <a:r>
              <a:rPr sz="1000" b="1" i="0">
                <a:solidFill>
                  <a:srgbClr val="10395C"/>
                </a:solidFill>
                <a:latin typeface="Aptos"/>
              </a:rPr>
              <a:t>15</a:t>
            </a:r>
          </a:p>
        </p:txBody>
      </p:sp>
      <p:sp>
        <p:nvSpPr>
          <p:cNvPr id="13" name="TextBox 12"/>
          <p:cNvSpPr txBox="1"/>
          <p:nvPr/>
        </p:nvSpPr>
        <p:spPr>
          <a:xfrm>
            <a:off x="1115568" y="274320"/>
            <a:ext cx="9875520" cy="438912"/>
          </a:xfrm>
          <a:prstGeom prst="rect">
            <a:avLst/>
          </a:prstGeom>
          <a:noFill/>
        </p:spPr>
        <p:txBody>
          <a:bodyPr wrap="square" lIns="41148" tIns="22860" rIns="41148" bIns="22860" anchor="t">
            <a:spAutoFit/>
          </a:bodyPr>
          <a:lstStyle/>
          <a:p>
            <a:pPr algn="l"/>
            <a:r>
              <a:rPr sz="2300" b="1" i="0">
                <a:solidFill>
                  <a:srgbClr val="10395C"/>
                </a:solidFill>
                <a:latin typeface="Aptos"/>
              </a:rPr>
              <a:t>Technology Stack &amp; Build Plan</a:t>
            </a:r>
          </a:p>
        </p:txBody>
      </p:sp>
      <p:sp>
        <p:nvSpPr>
          <p:cNvPr id="14" name="TextBox 13"/>
          <p:cNvSpPr txBox="1"/>
          <p:nvPr/>
        </p:nvSpPr>
        <p:spPr>
          <a:xfrm>
            <a:off x="1133856" y="758952"/>
            <a:ext cx="9418320" cy="274320"/>
          </a:xfrm>
          <a:prstGeom prst="rect">
            <a:avLst/>
          </a:prstGeom>
          <a:noFill/>
        </p:spPr>
        <p:txBody>
          <a:bodyPr wrap="square" lIns="41148" tIns="22860" rIns="41148" bIns="22860" anchor="t">
            <a:spAutoFit/>
          </a:bodyPr>
          <a:lstStyle/>
          <a:p>
            <a:pPr algn="l"/>
            <a:r>
              <a:rPr sz="1080" b="0" i="0">
                <a:solidFill>
                  <a:srgbClr val="5D7684"/>
                </a:solidFill>
                <a:latin typeface="Aptos"/>
              </a:rPr>
              <a:t>A practical student-friendly stack for the project</a:t>
            </a:r>
          </a:p>
        </p:txBody>
      </p:sp>
      <p:sp>
        <p:nvSpPr>
          <p:cNvPr id="15" name="Rectangle 14"/>
          <p:cNvSpPr/>
          <p:nvPr/>
        </p:nvSpPr>
        <p:spPr>
          <a:xfrm>
            <a:off x="1133856" y="1060704"/>
            <a:ext cx="1051560" cy="32004"/>
          </a:xfrm>
          <a:prstGeom prst="rect">
            <a:avLst/>
          </a:prstGeom>
          <a:solidFill>
            <a:srgbClr val="5BB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594360" y="1417320"/>
            <a:ext cx="3977639" cy="4553712"/>
          </a:xfrm>
          <a:prstGeom prst="roundRect">
            <a:avLst>
              <a:gd name="adj" fmla="val 12000"/>
            </a:avLst>
          </a:prstGeom>
          <a:solidFill>
            <a:srgbClr val="FFFFFF"/>
          </a:solidFill>
          <a:ln>
            <a:solidFill>
              <a:srgbClr val="C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932688" y="1719072"/>
            <a:ext cx="1874519" cy="329184"/>
          </a:xfrm>
          <a:prstGeom prst="roundRect">
            <a:avLst>
              <a:gd name="adj" fmla="val 12000"/>
            </a:avLst>
          </a:prstGeom>
          <a:solidFill>
            <a:srgbClr val="D7F0F8"/>
          </a:solidFill>
          <a:ln>
            <a:solidFill>
              <a:srgbClr val="D7F0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50976" y="1737360"/>
            <a:ext cx="1837943" cy="274320"/>
          </a:xfrm>
          <a:prstGeom prst="rect">
            <a:avLst/>
          </a:prstGeom>
          <a:noFill/>
        </p:spPr>
        <p:txBody>
          <a:bodyPr wrap="square" lIns="41148" tIns="22860" rIns="41148" bIns="22860" anchor="ctr">
            <a:spAutoFit/>
          </a:bodyPr>
          <a:lstStyle/>
          <a:p>
            <a:pPr algn="ctr"/>
            <a:r>
              <a:rPr sz="869" b="1" i="0">
                <a:solidFill>
                  <a:srgbClr val="10395C"/>
                </a:solidFill>
                <a:latin typeface="Aptos"/>
              </a:rPr>
              <a:t>TECHNOLOGY STACK</a:t>
            </a:r>
          </a:p>
        </p:txBody>
      </p:sp>
      <p:sp>
        <p:nvSpPr>
          <p:cNvPr id="19" name="Rounded Rectangle 18"/>
          <p:cNvSpPr/>
          <p:nvPr/>
        </p:nvSpPr>
        <p:spPr>
          <a:xfrm>
            <a:off x="914400" y="2267712"/>
            <a:ext cx="1115568" cy="329184"/>
          </a:xfrm>
          <a:prstGeom prst="roundRect">
            <a:avLst>
              <a:gd name="adj" fmla="val 12000"/>
            </a:avLst>
          </a:prstGeom>
          <a:solidFill>
            <a:srgbClr val="D7F0F8"/>
          </a:solidFill>
          <a:ln>
            <a:solidFill>
              <a:srgbClr val="D7F0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32688" y="2286000"/>
            <a:ext cx="1078992" cy="274320"/>
          </a:xfrm>
          <a:prstGeom prst="rect">
            <a:avLst/>
          </a:prstGeom>
          <a:noFill/>
        </p:spPr>
        <p:txBody>
          <a:bodyPr wrap="square" lIns="41148" tIns="22860" rIns="41148" bIns="22860" anchor="ctr">
            <a:spAutoFit/>
          </a:bodyPr>
          <a:lstStyle/>
          <a:p>
            <a:pPr algn="ctr"/>
            <a:r>
              <a:rPr sz="800" b="1" i="0">
                <a:solidFill>
                  <a:srgbClr val="10395C"/>
                </a:solidFill>
                <a:latin typeface="Aptos"/>
              </a:rPr>
              <a:t>FRONTEND</a:t>
            </a:r>
          </a:p>
        </p:txBody>
      </p:sp>
      <p:sp>
        <p:nvSpPr>
          <p:cNvPr id="21" name="TextBox 20"/>
          <p:cNvSpPr txBox="1"/>
          <p:nvPr/>
        </p:nvSpPr>
        <p:spPr>
          <a:xfrm>
            <a:off x="2212848" y="2258568"/>
            <a:ext cx="1965960" cy="237744"/>
          </a:xfrm>
          <a:prstGeom prst="rect">
            <a:avLst/>
          </a:prstGeom>
          <a:noFill/>
        </p:spPr>
        <p:txBody>
          <a:bodyPr wrap="square" lIns="41148" tIns="22860" rIns="41148" bIns="22860" anchor="t">
            <a:spAutoFit/>
          </a:bodyPr>
          <a:lstStyle/>
          <a:p>
            <a:pPr algn="l"/>
            <a:r>
              <a:rPr sz="1050" b="1" i="0">
                <a:solidFill>
                  <a:srgbClr val="10395C"/>
                </a:solidFill>
                <a:latin typeface="Aptos"/>
              </a:rPr>
              <a:t>HTML + CSS + JavaScript</a:t>
            </a:r>
          </a:p>
        </p:txBody>
      </p:sp>
      <p:sp>
        <p:nvSpPr>
          <p:cNvPr id="22" name="TextBox 21"/>
          <p:cNvSpPr txBox="1"/>
          <p:nvPr/>
        </p:nvSpPr>
        <p:spPr>
          <a:xfrm>
            <a:off x="2212848" y="2560320"/>
            <a:ext cx="1874519" cy="411480"/>
          </a:xfrm>
          <a:prstGeom prst="rect">
            <a:avLst/>
          </a:prstGeom>
          <a:noFill/>
        </p:spPr>
        <p:txBody>
          <a:bodyPr wrap="square" lIns="41148" tIns="22860" rIns="41148" bIns="22860" anchor="t">
            <a:spAutoFit/>
          </a:bodyPr>
          <a:lstStyle/>
          <a:p>
            <a:pPr algn="l"/>
            <a:r>
              <a:rPr sz="860" b="0" i="0">
                <a:solidFill>
                  <a:srgbClr val="5D7684"/>
                </a:solidFill>
                <a:latin typeface="Aptos"/>
              </a:rPr>
              <a:t>Pages, forms, filters, timetable UI</a:t>
            </a:r>
          </a:p>
        </p:txBody>
      </p:sp>
      <p:sp>
        <p:nvSpPr>
          <p:cNvPr id="23" name="Rounded Rectangle 22"/>
          <p:cNvSpPr/>
          <p:nvPr/>
        </p:nvSpPr>
        <p:spPr>
          <a:xfrm>
            <a:off x="914400" y="3291840"/>
            <a:ext cx="1115568" cy="329184"/>
          </a:xfrm>
          <a:prstGeom prst="roundRect">
            <a:avLst>
              <a:gd name="adj" fmla="val 12000"/>
            </a:avLst>
          </a:prstGeom>
          <a:solidFill>
            <a:srgbClr val="E1F8F1"/>
          </a:solidFill>
          <a:ln>
            <a:solidFill>
              <a:srgbClr val="E1F8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32688" y="3310128"/>
            <a:ext cx="1078992" cy="274320"/>
          </a:xfrm>
          <a:prstGeom prst="rect">
            <a:avLst/>
          </a:prstGeom>
          <a:noFill/>
        </p:spPr>
        <p:txBody>
          <a:bodyPr wrap="square" lIns="41148" tIns="22860" rIns="41148" bIns="22860" anchor="ctr">
            <a:spAutoFit/>
          </a:bodyPr>
          <a:lstStyle/>
          <a:p>
            <a:pPr algn="ctr"/>
            <a:r>
              <a:rPr sz="800" b="1" i="0">
                <a:solidFill>
                  <a:srgbClr val="10395C"/>
                </a:solidFill>
                <a:latin typeface="Aptos"/>
              </a:rPr>
              <a:t>BACKEND</a:t>
            </a:r>
          </a:p>
        </p:txBody>
      </p:sp>
      <p:sp>
        <p:nvSpPr>
          <p:cNvPr id="25" name="TextBox 24"/>
          <p:cNvSpPr txBox="1"/>
          <p:nvPr/>
        </p:nvSpPr>
        <p:spPr>
          <a:xfrm>
            <a:off x="2212848" y="3282696"/>
            <a:ext cx="1965960" cy="237744"/>
          </a:xfrm>
          <a:prstGeom prst="rect">
            <a:avLst/>
          </a:prstGeom>
          <a:noFill/>
        </p:spPr>
        <p:txBody>
          <a:bodyPr wrap="square" lIns="41148" tIns="22860" rIns="41148" bIns="22860" anchor="t">
            <a:spAutoFit/>
          </a:bodyPr>
          <a:lstStyle/>
          <a:p>
            <a:pPr algn="l"/>
            <a:r>
              <a:rPr sz="1050" b="1" i="0">
                <a:solidFill>
                  <a:srgbClr val="10395C"/>
                </a:solidFill>
                <a:latin typeface="Aptos"/>
              </a:rPr>
              <a:t>PHP</a:t>
            </a:r>
          </a:p>
        </p:txBody>
      </p:sp>
      <p:sp>
        <p:nvSpPr>
          <p:cNvPr id="26" name="TextBox 25"/>
          <p:cNvSpPr txBox="1"/>
          <p:nvPr/>
        </p:nvSpPr>
        <p:spPr>
          <a:xfrm>
            <a:off x="2212848" y="3584448"/>
            <a:ext cx="1874519" cy="411480"/>
          </a:xfrm>
          <a:prstGeom prst="rect">
            <a:avLst/>
          </a:prstGeom>
          <a:noFill/>
        </p:spPr>
        <p:txBody>
          <a:bodyPr wrap="square" lIns="41148" tIns="22860" rIns="41148" bIns="22860" anchor="t">
            <a:spAutoFit/>
          </a:bodyPr>
          <a:lstStyle/>
          <a:p>
            <a:pPr algn="l"/>
            <a:r>
              <a:rPr sz="860" b="0" i="0">
                <a:solidFill>
                  <a:srgbClr val="5D7684"/>
                </a:solidFill>
                <a:latin typeface="Aptos"/>
              </a:rPr>
              <a:t>Login, business rules and database communication</a:t>
            </a:r>
          </a:p>
        </p:txBody>
      </p:sp>
      <p:sp>
        <p:nvSpPr>
          <p:cNvPr id="27" name="Rounded Rectangle 26"/>
          <p:cNvSpPr/>
          <p:nvPr/>
        </p:nvSpPr>
        <p:spPr>
          <a:xfrm>
            <a:off x="914400" y="4315968"/>
            <a:ext cx="1115568" cy="329184"/>
          </a:xfrm>
          <a:prstGeom prst="roundRect">
            <a:avLst>
              <a:gd name="adj" fmla="val 12000"/>
            </a:avLst>
          </a:prstGeom>
          <a:solidFill>
            <a:srgbClr val="EDECFC"/>
          </a:solidFill>
          <a:ln>
            <a:solidFill>
              <a:srgbClr val="EDEC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32688" y="4334256"/>
            <a:ext cx="1078992" cy="274320"/>
          </a:xfrm>
          <a:prstGeom prst="rect">
            <a:avLst/>
          </a:prstGeom>
          <a:noFill/>
        </p:spPr>
        <p:txBody>
          <a:bodyPr wrap="square" lIns="41148" tIns="22860" rIns="41148" bIns="22860" anchor="ctr">
            <a:spAutoFit/>
          </a:bodyPr>
          <a:lstStyle/>
          <a:p>
            <a:pPr algn="ctr"/>
            <a:r>
              <a:rPr sz="800" b="1" i="0">
                <a:solidFill>
                  <a:srgbClr val="10395C"/>
                </a:solidFill>
                <a:latin typeface="Aptos"/>
              </a:rPr>
              <a:t>DATABASE</a:t>
            </a:r>
          </a:p>
        </p:txBody>
      </p:sp>
      <p:sp>
        <p:nvSpPr>
          <p:cNvPr id="29" name="TextBox 28"/>
          <p:cNvSpPr txBox="1"/>
          <p:nvPr/>
        </p:nvSpPr>
        <p:spPr>
          <a:xfrm>
            <a:off x="2212848" y="4306824"/>
            <a:ext cx="1965960" cy="237744"/>
          </a:xfrm>
          <a:prstGeom prst="rect">
            <a:avLst/>
          </a:prstGeom>
          <a:noFill/>
        </p:spPr>
        <p:txBody>
          <a:bodyPr wrap="square" lIns="41148" tIns="22860" rIns="41148" bIns="22860" anchor="t">
            <a:spAutoFit/>
          </a:bodyPr>
          <a:lstStyle/>
          <a:p>
            <a:pPr algn="l"/>
            <a:r>
              <a:rPr sz="1050" b="1" i="0">
                <a:solidFill>
                  <a:srgbClr val="10395C"/>
                </a:solidFill>
                <a:latin typeface="Aptos"/>
              </a:rPr>
              <a:t>MySQL</a:t>
            </a:r>
          </a:p>
        </p:txBody>
      </p:sp>
      <p:sp>
        <p:nvSpPr>
          <p:cNvPr id="30" name="TextBox 29"/>
          <p:cNvSpPr txBox="1"/>
          <p:nvPr/>
        </p:nvSpPr>
        <p:spPr>
          <a:xfrm>
            <a:off x="2212848" y="4608576"/>
            <a:ext cx="1874519" cy="411480"/>
          </a:xfrm>
          <a:prstGeom prst="rect">
            <a:avLst/>
          </a:prstGeom>
          <a:noFill/>
        </p:spPr>
        <p:txBody>
          <a:bodyPr wrap="square" lIns="41148" tIns="22860" rIns="41148" bIns="22860" anchor="t">
            <a:spAutoFit/>
          </a:bodyPr>
          <a:lstStyle/>
          <a:p>
            <a:pPr algn="l"/>
            <a:r>
              <a:rPr sz="860" b="0" i="0">
                <a:solidFill>
                  <a:srgbClr val="5D7684"/>
                </a:solidFill>
                <a:latin typeface="Aptos"/>
              </a:rPr>
              <a:t>Students, courses, schedules and registrations</a:t>
            </a:r>
          </a:p>
        </p:txBody>
      </p:sp>
      <p:sp>
        <p:nvSpPr>
          <p:cNvPr id="31" name="Rounded Rectangle 30"/>
          <p:cNvSpPr/>
          <p:nvPr/>
        </p:nvSpPr>
        <p:spPr>
          <a:xfrm>
            <a:off x="1234440" y="5321808"/>
            <a:ext cx="2148840" cy="329184"/>
          </a:xfrm>
          <a:prstGeom prst="roundRect">
            <a:avLst>
              <a:gd name="adj" fmla="val 12000"/>
            </a:avLst>
          </a:prstGeom>
          <a:solidFill>
            <a:srgbClr val="FDEDE5"/>
          </a:solidFill>
          <a:ln>
            <a:solidFill>
              <a:srgbClr val="FDED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1252728" y="5340096"/>
            <a:ext cx="2112264" cy="274320"/>
          </a:xfrm>
          <a:prstGeom prst="rect">
            <a:avLst/>
          </a:prstGeom>
          <a:noFill/>
        </p:spPr>
        <p:txBody>
          <a:bodyPr wrap="square" lIns="41148" tIns="22860" rIns="41148" bIns="22860" anchor="ctr">
            <a:spAutoFit/>
          </a:bodyPr>
          <a:lstStyle/>
          <a:p>
            <a:pPr algn="ctr"/>
            <a:r>
              <a:rPr sz="850" b="1" i="0">
                <a:solidFill>
                  <a:srgbClr val="DA6873"/>
                </a:solidFill>
                <a:latin typeface="Aptos"/>
              </a:rPr>
              <a:t>MANAGEABLE MVP</a:t>
            </a:r>
          </a:p>
        </p:txBody>
      </p:sp>
      <p:sp>
        <p:nvSpPr>
          <p:cNvPr id="33" name="Rounded Rectangle 32"/>
          <p:cNvSpPr/>
          <p:nvPr/>
        </p:nvSpPr>
        <p:spPr>
          <a:xfrm>
            <a:off x="4800600" y="1417320"/>
            <a:ext cx="6766560" cy="4553712"/>
          </a:xfrm>
          <a:prstGeom prst="roundRect">
            <a:avLst>
              <a:gd name="adj" fmla="val 12000"/>
            </a:avLst>
          </a:prstGeom>
          <a:solidFill>
            <a:srgbClr val="FFFFFF"/>
          </a:solidFill>
          <a:ln>
            <a:solidFill>
              <a:srgbClr val="C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ounded Rectangle 33"/>
          <p:cNvSpPr/>
          <p:nvPr/>
        </p:nvSpPr>
        <p:spPr>
          <a:xfrm>
            <a:off x="7479792" y="1719072"/>
            <a:ext cx="1417320" cy="329184"/>
          </a:xfrm>
          <a:prstGeom prst="roundRect">
            <a:avLst>
              <a:gd name="adj" fmla="val 12000"/>
            </a:avLst>
          </a:prstGeom>
          <a:solidFill>
            <a:srgbClr val="E1F8F1"/>
          </a:solidFill>
          <a:ln>
            <a:solidFill>
              <a:srgbClr val="E1F8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7498079" y="1737360"/>
            <a:ext cx="1380744" cy="274320"/>
          </a:xfrm>
          <a:prstGeom prst="rect">
            <a:avLst/>
          </a:prstGeom>
          <a:noFill/>
        </p:spPr>
        <p:txBody>
          <a:bodyPr wrap="square" lIns="41148" tIns="22860" rIns="41148" bIns="22860" anchor="ctr">
            <a:spAutoFit/>
          </a:bodyPr>
          <a:lstStyle/>
          <a:p>
            <a:pPr algn="ctr"/>
            <a:r>
              <a:rPr sz="869" b="1" i="0">
                <a:solidFill>
                  <a:srgbClr val="10395C"/>
                </a:solidFill>
                <a:latin typeface="Aptos"/>
              </a:rPr>
              <a:t>BUILD ORDER</a:t>
            </a:r>
          </a:p>
        </p:txBody>
      </p:sp>
      <p:sp>
        <p:nvSpPr>
          <p:cNvPr id="36" name="Oval 35"/>
          <p:cNvSpPr/>
          <p:nvPr/>
        </p:nvSpPr>
        <p:spPr>
          <a:xfrm>
            <a:off x="5074920" y="2240280"/>
            <a:ext cx="329184" cy="329184"/>
          </a:xfrm>
          <a:prstGeom prst="ellipse">
            <a:avLst/>
          </a:prstGeom>
          <a:solidFill>
            <a:srgbClr val="D7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5074920" y="2240280"/>
            <a:ext cx="329184" cy="329184"/>
          </a:xfrm>
          <a:prstGeom prst="rect">
            <a:avLst/>
          </a:prstGeom>
          <a:noFill/>
        </p:spPr>
        <p:txBody>
          <a:bodyPr wrap="square" lIns="41148" tIns="22860" rIns="41148" bIns="22860" anchor="ctr">
            <a:spAutoFit/>
          </a:bodyPr>
          <a:lstStyle/>
          <a:p>
            <a:pPr algn="ctr"/>
            <a:r>
              <a:rPr sz="800" b="1" i="0">
                <a:solidFill>
                  <a:srgbClr val="2A79A3"/>
                </a:solidFill>
                <a:latin typeface="Aptos"/>
              </a:rPr>
              <a:t>1</a:t>
            </a:r>
          </a:p>
        </p:txBody>
      </p:sp>
      <p:sp>
        <p:nvSpPr>
          <p:cNvPr id="38" name="TextBox 37"/>
          <p:cNvSpPr txBox="1"/>
          <p:nvPr/>
        </p:nvSpPr>
        <p:spPr>
          <a:xfrm>
            <a:off x="5532120" y="2258568"/>
            <a:ext cx="2423160" cy="274320"/>
          </a:xfrm>
          <a:prstGeom prst="rect">
            <a:avLst/>
          </a:prstGeom>
          <a:noFill/>
        </p:spPr>
        <p:txBody>
          <a:bodyPr wrap="square" lIns="41148" tIns="22860" rIns="41148" bIns="22860" anchor="t">
            <a:spAutoFit/>
          </a:bodyPr>
          <a:lstStyle/>
          <a:p>
            <a:pPr algn="l"/>
            <a:r>
              <a:rPr sz="969" b="0" i="0">
                <a:solidFill>
                  <a:srgbClr val="273D4E"/>
                </a:solidFill>
                <a:latin typeface="Aptos"/>
              </a:rPr>
              <a:t>Design database tables</a:t>
            </a:r>
          </a:p>
        </p:txBody>
      </p:sp>
      <p:sp>
        <p:nvSpPr>
          <p:cNvPr id="39" name="Oval 38"/>
          <p:cNvSpPr/>
          <p:nvPr/>
        </p:nvSpPr>
        <p:spPr>
          <a:xfrm>
            <a:off x="8183879" y="2240280"/>
            <a:ext cx="329184" cy="329184"/>
          </a:xfrm>
          <a:prstGeom prst="ellipse">
            <a:avLst/>
          </a:prstGeom>
          <a:solidFill>
            <a:srgbClr val="E1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8183879" y="2240280"/>
            <a:ext cx="329184" cy="329184"/>
          </a:xfrm>
          <a:prstGeom prst="rect">
            <a:avLst/>
          </a:prstGeom>
          <a:noFill/>
        </p:spPr>
        <p:txBody>
          <a:bodyPr wrap="square" lIns="41148" tIns="22860" rIns="41148" bIns="22860" anchor="ctr">
            <a:spAutoFit/>
          </a:bodyPr>
          <a:lstStyle/>
          <a:p>
            <a:pPr algn="ctr"/>
            <a:r>
              <a:rPr sz="800" b="1" i="0">
                <a:solidFill>
                  <a:srgbClr val="499D7E"/>
                </a:solidFill>
                <a:latin typeface="Aptos"/>
              </a:rPr>
              <a:t>2</a:t>
            </a:r>
          </a:p>
        </p:txBody>
      </p:sp>
      <p:sp>
        <p:nvSpPr>
          <p:cNvPr id="41" name="TextBox 40"/>
          <p:cNvSpPr txBox="1"/>
          <p:nvPr/>
        </p:nvSpPr>
        <p:spPr>
          <a:xfrm>
            <a:off x="8641080" y="2258568"/>
            <a:ext cx="2423160" cy="274320"/>
          </a:xfrm>
          <a:prstGeom prst="rect">
            <a:avLst/>
          </a:prstGeom>
          <a:noFill/>
        </p:spPr>
        <p:txBody>
          <a:bodyPr wrap="square" lIns="41148" tIns="22860" rIns="41148" bIns="22860" anchor="t">
            <a:spAutoFit/>
          </a:bodyPr>
          <a:lstStyle/>
          <a:p>
            <a:pPr algn="l"/>
            <a:r>
              <a:rPr sz="969" b="0" i="0">
                <a:solidFill>
                  <a:srgbClr val="273D4E"/>
                </a:solidFill>
                <a:latin typeface="Aptos"/>
              </a:rPr>
              <a:t>Create login + role access</a:t>
            </a:r>
          </a:p>
        </p:txBody>
      </p:sp>
      <p:sp>
        <p:nvSpPr>
          <p:cNvPr id="42" name="Oval 41"/>
          <p:cNvSpPr/>
          <p:nvPr/>
        </p:nvSpPr>
        <p:spPr>
          <a:xfrm>
            <a:off x="5074920" y="2990088"/>
            <a:ext cx="329184" cy="329184"/>
          </a:xfrm>
          <a:prstGeom prst="ellipse">
            <a:avLst/>
          </a:prstGeom>
          <a:solidFill>
            <a:srgbClr val="D7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5074920" y="2990088"/>
            <a:ext cx="329184" cy="329184"/>
          </a:xfrm>
          <a:prstGeom prst="rect">
            <a:avLst/>
          </a:prstGeom>
          <a:noFill/>
        </p:spPr>
        <p:txBody>
          <a:bodyPr wrap="square" lIns="41148" tIns="22860" rIns="41148" bIns="22860" anchor="ctr">
            <a:spAutoFit/>
          </a:bodyPr>
          <a:lstStyle/>
          <a:p>
            <a:pPr algn="ctr"/>
            <a:r>
              <a:rPr sz="800" b="1" i="0">
                <a:solidFill>
                  <a:srgbClr val="2A79A3"/>
                </a:solidFill>
                <a:latin typeface="Aptos"/>
              </a:rPr>
              <a:t>3</a:t>
            </a:r>
          </a:p>
        </p:txBody>
      </p:sp>
      <p:sp>
        <p:nvSpPr>
          <p:cNvPr id="44" name="TextBox 43"/>
          <p:cNvSpPr txBox="1"/>
          <p:nvPr/>
        </p:nvSpPr>
        <p:spPr>
          <a:xfrm>
            <a:off x="5532120" y="3008376"/>
            <a:ext cx="2423160" cy="274320"/>
          </a:xfrm>
          <a:prstGeom prst="rect">
            <a:avLst/>
          </a:prstGeom>
          <a:noFill/>
        </p:spPr>
        <p:txBody>
          <a:bodyPr wrap="square" lIns="41148" tIns="22860" rIns="41148" bIns="22860" anchor="t">
            <a:spAutoFit/>
          </a:bodyPr>
          <a:lstStyle/>
          <a:p>
            <a:pPr algn="l"/>
            <a:r>
              <a:rPr sz="969" b="0" i="0">
                <a:solidFill>
                  <a:srgbClr val="273D4E"/>
                </a:solidFill>
                <a:latin typeface="Aptos"/>
              </a:rPr>
              <a:t>Build course catalog</a:t>
            </a:r>
          </a:p>
        </p:txBody>
      </p:sp>
      <p:sp>
        <p:nvSpPr>
          <p:cNvPr id="45" name="Oval 44"/>
          <p:cNvSpPr/>
          <p:nvPr/>
        </p:nvSpPr>
        <p:spPr>
          <a:xfrm>
            <a:off x="8183879" y="2990088"/>
            <a:ext cx="329184" cy="329184"/>
          </a:xfrm>
          <a:prstGeom prst="ellipse">
            <a:avLst/>
          </a:prstGeom>
          <a:solidFill>
            <a:srgbClr val="E1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8183879" y="2990088"/>
            <a:ext cx="329184" cy="329184"/>
          </a:xfrm>
          <a:prstGeom prst="rect">
            <a:avLst/>
          </a:prstGeom>
          <a:noFill/>
        </p:spPr>
        <p:txBody>
          <a:bodyPr wrap="square" lIns="41148" tIns="22860" rIns="41148" bIns="22860" anchor="ctr">
            <a:spAutoFit/>
          </a:bodyPr>
          <a:lstStyle/>
          <a:p>
            <a:pPr algn="ctr"/>
            <a:r>
              <a:rPr sz="800" b="1" i="0">
                <a:solidFill>
                  <a:srgbClr val="499D7E"/>
                </a:solidFill>
                <a:latin typeface="Aptos"/>
              </a:rPr>
              <a:t>4</a:t>
            </a:r>
          </a:p>
        </p:txBody>
      </p:sp>
      <p:sp>
        <p:nvSpPr>
          <p:cNvPr id="47" name="TextBox 46"/>
          <p:cNvSpPr txBox="1"/>
          <p:nvPr/>
        </p:nvSpPr>
        <p:spPr>
          <a:xfrm>
            <a:off x="8641080" y="3008376"/>
            <a:ext cx="2423160" cy="274320"/>
          </a:xfrm>
          <a:prstGeom prst="rect">
            <a:avLst/>
          </a:prstGeom>
          <a:noFill/>
        </p:spPr>
        <p:txBody>
          <a:bodyPr wrap="square" lIns="41148" tIns="22860" rIns="41148" bIns="22860" anchor="t">
            <a:spAutoFit/>
          </a:bodyPr>
          <a:lstStyle/>
          <a:p>
            <a:pPr algn="l"/>
            <a:r>
              <a:rPr sz="969" b="0" i="0">
                <a:solidFill>
                  <a:srgbClr val="273D4E"/>
                </a:solidFill>
                <a:latin typeface="Aptos"/>
              </a:rPr>
              <a:t>Add selection + registration</a:t>
            </a:r>
          </a:p>
        </p:txBody>
      </p:sp>
      <p:sp>
        <p:nvSpPr>
          <p:cNvPr id="48" name="Oval 47"/>
          <p:cNvSpPr/>
          <p:nvPr/>
        </p:nvSpPr>
        <p:spPr>
          <a:xfrm>
            <a:off x="5074920" y="3739896"/>
            <a:ext cx="329184" cy="329184"/>
          </a:xfrm>
          <a:prstGeom prst="ellipse">
            <a:avLst/>
          </a:prstGeom>
          <a:solidFill>
            <a:srgbClr val="D7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5074920" y="3739896"/>
            <a:ext cx="329184" cy="329184"/>
          </a:xfrm>
          <a:prstGeom prst="rect">
            <a:avLst/>
          </a:prstGeom>
          <a:noFill/>
        </p:spPr>
        <p:txBody>
          <a:bodyPr wrap="square" lIns="41148" tIns="22860" rIns="41148" bIns="22860" anchor="ctr">
            <a:spAutoFit/>
          </a:bodyPr>
          <a:lstStyle/>
          <a:p>
            <a:pPr algn="ctr"/>
            <a:r>
              <a:rPr sz="800" b="1" i="0">
                <a:solidFill>
                  <a:srgbClr val="2A79A3"/>
                </a:solidFill>
                <a:latin typeface="Aptos"/>
              </a:rPr>
              <a:t>5</a:t>
            </a:r>
          </a:p>
        </p:txBody>
      </p:sp>
      <p:sp>
        <p:nvSpPr>
          <p:cNvPr id="50" name="TextBox 49"/>
          <p:cNvSpPr txBox="1"/>
          <p:nvPr/>
        </p:nvSpPr>
        <p:spPr>
          <a:xfrm>
            <a:off x="5532120" y="3758183"/>
            <a:ext cx="2423160" cy="274320"/>
          </a:xfrm>
          <a:prstGeom prst="rect">
            <a:avLst/>
          </a:prstGeom>
          <a:noFill/>
        </p:spPr>
        <p:txBody>
          <a:bodyPr wrap="square" lIns="41148" tIns="22860" rIns="41148" bIns="22860" anchor="t">
            <a:spAutoFit/>
          </a:bodyPr>
          <a:lstStyle/>
          <a:p>
            <a:pPr algn="l"/>
            <a:r>
              <a:rPr sz="969" b="0" i="0">
                <a:solidFill>
                  <a:srgbClr val="273D4E"/>
                </a:solidFill>
                <a:latin typeface="Aptos"/>
              </a:rPr>
              <a:t>Add clash detection</a:t>
            </a:r>
          </a:p>
        </p:txBody>
      </p:sp>
      <p:sp>
        <p:nvSpPr>
          <p:cNvPr id="51" name="Oval 50"/>
          <p:cNvSpPr/>
          <p:nvPr/>
        </p:nvSpPr>
        <p:spPr>
          <a:xfrm>
            <a:off x="8183879" y="3739896"/>
            <a:ext cx="329184" cy="329184"/>
          </a:xfrm>
          <a:prstGeom prst="ellipse">
            <a:avLst/>
          </a:prstGeom>
          <a:solidFill>
            <a:srgbClr val="E1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8183879" y="3739896"/>
            <a:ext cx="329184" cy="329184"/>
          </a:xfrm>
          <a:prstGeom prst="rect">
            <a:avLst/>
          </a:prstGeom>
          <a:noFill/>
        </p:spPr>
        <p:txBody>
          <a:bodyPr wrap="square" lIns="41148" tIns="22860" rIns="41148" bIns="22860" anchor="ctr">
            <a:spAutoFit/>
          </a:bodyPr>
          <a:lstStyle/>
          <a:p>
            <a:pPr algn="ctr"/>
            <a:r>
              <a:rPr sz="800" b="1" i="0">
                <a:solidFill>
                  <a:srgbClr val="499D7E"/>
                </a:solidFill>
                <a:latin typeface="Aptos"/>
              </a:rPr>
              <a:t>6</a:t>
            </a:r>
          </a:p>
        </p:txBody>
      </p:sp>
      <p:sp>
        <p:nvSpPr>
          <p:cNvPr id="53" name="TextBox 52"/>
          <p:cNvSpPr txBox="1"/>
          <p:nvPr/>
        </p:nvSpPr>
        <p:spPr>
          <a:xfrm>
            <a:off x="8641080" y="3758183"/>
            <a:ext cx="2423160" cy="274320"/>
          </a:xfrm>
          <a:prstGeom prst="rect">
            <a:avLst/>
          </a:prstGeom>
          <a:noFill/>
        </p:spPr>
        <p:txBody>
          <a:bodyPr wrap="square" lIns="41148" tIns="22860" rIns="41148" bIns="22860" anchor="t">
            <a:spAutoFit/>
          </a:bodyPr>
          <a:lstStyle/>
          <a:p>
            <a:pPr algn="l"/>
            <a:r>
              <a:rPr sz="969" b="0" i="0">
                <a:solidFill>
                  <a:srgbClr val="273D4E"/>
                </a:solidFill>
                <a:latin typeface="Aptos"/>
              </a:rPr>
              <a:t>Create timetable UI</a:t>
            </a:r>
          </a:p>
        </p:txBody>
      </p:sp>
      <p:sp>
        <p:nvSpPr>
          <p:cNvPr id="54" name="Oval 53"/>
          <p:cNvSpPr/>
          <p:nvPr/>
        </p:nvSpPr>
        <p:spPr>
          <a:xfrm>
            <a:off x="5074920" y="4489704"/>
            <a:ext cx="329184" cy="329184"/>
          </a:xfrm>
          <a:prstGeom prst="ellipse">
            <a:avLst/>
          </a:prstGeom>
          <a:solidFill>
            <a:srgbClr val="D7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5074920" y="4489704"/>
            <a:ext cx="329184" cy="329184"/>
          </a:xfrm>
          <a:prstGeom prst="rect">
            <a:avLst/>
          </a:prstGeom>
          <a:noFill/>
        </p:spPr>
        <p:txBody>
          <a:bodyPr wrap="square" lIns="41148" tIns="22860" rIns="41148" bIns="22860" anchor="ctr">
            <a:spAutoFit/>
          </a:bodyPr>
          <a:lstStyle/>
          <a:p>
            <a:pPr algn="ctr"/>
            <a:r>
              <a:rPr sz="800" b="1" i="0">
                <a:solidFill>
                  <a:srgbClr val="2A79A3"/>
                </a:solidFill>
                <a:latin typeface="Aptos"/>
              </a:rPr>
              <a:t>7</a:t>
            </a:r>
          </a:p>
        </p:txBody>
      </p:sp>
      <p:sp>
        <p:nvSpPr>
          <p:cNvPr id="56" name="TextBox 55"/>
          <p:cNvSpPr txBox="1"/>
          <p:nvPr/>
        </p:nvSpPr>
        <p:spPr>
          <a:xfrm>
            <a:off x="5532120" y="4507992"/>
            <a:ext cx="2423160" cy="274320"/>
          </a:xfrm>
          <a:prstGeom prst="rect">
            <a:avLst/>
          </a:prstGeom>
          <a:noFill/>
        </p:spPr>
        <p:txBody>
          <a:bodyPr wrap="square" lIns="41148" tIns="22860" rIns="41148" bIns="22860" anchor="t">
            <a:spAutoFit/>
          </a:bodyPr>
          <a:lstStyle/>
          <a:p>
            <a:pPr algn="l"/>
            <a:r>
              <a:rPr sz="969" b="0" i="0">
                <a:solidFill>
                  <a:srgbClr val="273D4E"/>
                </a:solidFill>
                <a:latin typeface="Aptos"/>
              </a:rPr>
              <a:t>Test edge cases</a:t>
            </a:r>
          </a:p>
        </p:txBody>
      </p:sp>
      <p:sp>
        <p:nvSpPr>
          <p:cNvPr id="57" name="Oval 56"/>
          <p:cNvSpPr/>
          <p:nvPr/>
        </p:nvSpPr>
        <p:spPr>
          <a:xfrm>
            <a:off x="8183879" y="4489704"/>
            <a:ext cx="329184" cy="329184"/>
          </a:xfrm>
          <a:prstGeom prst="ellipse">
            <a:avLst/>
          </a:prstGeom>
          <a:solidFill>
            <a:srgbClr val="E1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8183879" y="4489704"/>
            <a:ext cx="329184" cy="329184"/>
          </a:xfrm>
          <a:prstGeom prst="rect">
            <a:avLst/>
          </a:prstGeom>
          <a:noFill/>
        </p:spPr>
        <p:txBody>
          <a:bodyPr wrap="square" lIns="41148" tIns="22860" rIns="41148" bIns="22860" anchor="ctr">
            <a:spAutoFit/>
          </a:bodyPr>
          <a:lstStyle/>
          <a:p>
            <a:pPr algn="ctr"/>
            <a:r>
              <a:rPr sz="800" b="1" i="0">
                <a:solidFill>
                  <a:srgbClr val="499D7E"/>
                </a:solidFill>
                <a:latin typeface="Aptos"/>
              </a:rPr>
              <a:t>8</a:t>
            </a:r>
          </a:p>
        </p:txBody>
      </p:sp>
      <p:sp>
        <p:nvSpPr>
          <p:cNvPr id="59" name="TextBox 58"/>
          <p:cNvSpPr txBox="1"/>
          <p:nvPr/>
        </p:nvSpPr>
        <p:spPr>
          <a:xfrm>
            <a:off x="8641080" y="4507992"/>
            <a:ext cx="2423160" cy="274320"/>
          </a:xfrm>
          <a:prstGeom prst="rect">
            <a:avLst/>
          </a:prstGeom>
          <a:noFill/>
        </p:spPr>
        <p:txBody>
          <a:bodyPr wrap="square" lIns="41148" tIns="22860" rIns="41148" bIns="22860" anchor="t">
            <a:spAutoFit/>
          </a:bodyPr>
          <a:lstStyle/>
          <a:p>
            <a:pPr algn="l"/>
            <a:r>
              <a:rPr sz="969" b="0" i="0">
                <a:solidFill>
                  <a:srgbClr val="273D4E"/>
                </a:solidFill>
                <a:latin typeface="Aptos"/>
              </a:rPr>
              <a:t>Deploy / demonstrate</a:t>
            </a:r>
          </a:p>
        </p:txBody>
      </p:sp>
      <p:sp>
        <p:nvSpPr>
          <p:cNvPr id="60" name="Rounded Rectangle 59"/>
          <p:cNvSpPr/>
          <p:nvPr/>
        </p:nvSpPr>
        <p:spPr>
          <a:xfrm>
            <a:off x="6565392" y="5440680"/>
            <a:ext cx="3182112" cy="329184"/>
          </a:xfrm>
          <a:prstGeom prst="roundRect">
            <a:avLst>
              <a:gd name="adj" fmla="val 12000"/>
            </a:avLst>
          </a:prstGeom>
          <a:solidFill>
            <a:srgbClr val="EDECFC"/>
          </a:solidFill>
          <a:ln>
            <a:solidFill>
              <a:srgbClr val="EDEC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6583679" y="5458968"/>
            <a:ext cx="3145536" cy="274320"/>
          </a:xfrm>
          <a:prstGeom prst="rect">
            <a:avLst/>
          </a:prstGeom>
          <a:noFill/>
        </p:spPr>
        <p:txBody>
          <a:bodyPr wrap="square" lIns="41148" tIns="22860" rIns="41148" bIns="22860" anchor="ctr">
            <a:spAutoFit/>
          </a:bodyPr>
          <a:lstStyle/>
          <a:p>
            <a:pPr algn="ctr"/>
            <a:r>
              <a:rPr sz="830" b="1" i="0">
                <a:solidFill>
                  <a:srgbClr val="10395C"/>
                </a:solidFill>
                <a:latin typeface="Aptos"/>
              </a:rPr>
              <a:t>CORE FIRST → ADVANCED FEATURES LATER</a:t>
            </a:r>
          </a:p>
        </p:txBody>
      </p:sp>
      <p:sp>
        <p:nvSpPr>
          <p:cNvPr id="62" name="TextBox 61"/>
          <p:cNvSpPr txBox="1"/>
          <p:nvPr/>
        </p:nvSpPr>
        <p:spPr>
          <a:xfrm>
            <a:off x="530352" y="6547104"/>
            <a:ext cx="4572000" cy="146304"/>
          </a:xfrm>
          <a:prstGeom prst="rect">
            <a:avLst/>
          </a:prstGeom>
          <a:noFill/>
        </p:spPr>
        <p:txBody>
          <a:bodyPr wrap="square" lIns="41148" tIns="22860" rIns="41148" bIns="22860" anchor="t">
            <a:spAutoFit/>
          </a:bodyPr>
          <a:lstStyle/>
          <a:p>
            <a:pPr algn="l"/>
            <a:r>
              <a:rPr sz="720" b="1" i="0">
                <a:solidFill>
                  <a:srgbClr val="5D7684"/>
                </a:solidFill>
                <a:latin typeface="Aptos"/>
              </a:rPr>
              <a:t>COURSE REGISTRATION &amp; TIMETABLE BUILDER</a:t>
            </a:r>
          </a:p>
        </p:txBody>
      </p:sp>
      <p:sp>
        <p:nvSpPr>
          <p:cNvPr id="63" name="TextBox 62"/>
          <p:cNvSpPr txBox="1"/>
          <p:nvPr/>
        </p:nvSpPr>
        <p:spPr>
          <a:xfrm>
            <a:off x="11201400" y="6510528"/>
            <a:ext cx="384048" cy="182880"/>
          </a:xfrm>
          <a:prstGeom prst="rect">
            <a:avLst/>
          </a:prstGeom>
          <a:noFill/>
        </p:spPr>
        <p:txBody>
          <a:bodyPr wrap="square" lIns="41148" tIns="22860" rIns="41148" bIns="22860" anchor="t">
            <a:spAutoFit/>
          </a:bodyPr>
          <a:lstStyle/>
          <a:p>
            <a:pPr algn="r"/>
            <a:r>
              <a:rPr sz="750" b="1" i="0">
                <a:solidFill>
                  <a:srgbClr val="5D7684"/>
                </a:solidFill>
                <a:latin typeface="Aptos"/>
              </a:rPr>
              <a:t>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1FAFD"/>
        </a:solidFill>
        <a:effectLst/>
      </p:bgPr>
    </p:bg>
    <p:spTree>
      <p:nvGrpSpPr>
        <p:cNvPr id="1" name=""/>
        <p:cNvGrpSpPr/>
        <p:nvPr/>
      </p:nvGrpSpPr>
      <p:grpSpPr>
        <a:xfrm>
          <a:off x="0" y="0"/>
          <a:ext cx="0" cy="0"/>
          <a:chOff x="0" y="0"/>
          <a:chExt cx="0" cy="0"/>
        </a:xfrm>
      </p:grpSpPr>
      <p:sp>
        <p:nvSpPr>
          <p:cNvPr id="2" name="Oval 1"/>
          <p:cNvSpPr/>
          <p:nvPr/>
        </p:nvSpPr>
        <p:spPr>
          <a:xfrm>
            <a:off x="10652760" y="-411480"/>
            <a:ext cx="1920240" cy="1920240"/>
          </a:xfrm>
          <a:prstGeom prst="ellipse">
            <a:avLst/>
          </a:prstGeom>
          <a:solidFill>
            <a:srgbClr val="D7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9875520" y="5623560"/>
            <a:ext cx="2011680" cy="2011680"/>
          </a:xfrm>
          <a:prstGeom prst="ellipse">
            <a:avLst/>
          </a:prstGeom>
          <a:solidFill>
            <a:srgbClr val="E1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411480" y="5715000"/>
            <a:ext cx="1554480" cy="1554480"/>
          </a:xfrm>
          <a:prstGeom prst="ellipse">
            <a:avLst/>
          </a:prstGeom>
          <a:solidFill>
            <a:srgbClr val="EDE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rot="20100000">
            <a:off x="45720" y="91440"/>
            <a:ext cx="228600" cy="96012"/>
          </a:xfrm>
          <a:prstGeom prst="ellipse">
            <a:avLst/>
          </a:prstGeom>
          <a:solidFill>
            <a:srgbClr val="5BB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rot="1500000">
            <a:off x="246888" y="256032"/>
            <a:ext cx="256032" cy="107533"/>
          </a:xfrm>
          <a:prstGeom prst="ellipse">
            <a:avLst/>
          </a:prstGeom>
          <a:solidFill>
            <a:srgbClr val="2A79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rot="19500000">
            <a:off x="-100584" y="411479"/>
            <a:ext cx="219456" cy="92171"/>
          </a:xfrm>
          <a:prstGeom prst="ellipse">
            <a:avLst/>
          </a:prstGeom>
          <a:solidFill>
            <a:srgbClr val="5BB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rot="1500000">
            <a:off x="155448" y="566928"/>
            <a:ext cx="201168" cy="84490"/>
          </a:xfrm>
          <a:prstGeom prst="ellipse">
            <a:avLst/>
          </a:prstGeom>
          <a:solidFill>
            <a:srgbClr val="2A79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rot="19500000">
            <a:off x="-210312" y="685800"/>
            <a:ext cx="201168" cy="84490"/>
          </a:xfrm>
          <a:prstGeom prst="ellipse">
            <a:avLst/>
          </a:prstGeom>
          <a:solidFill>
            <a:srgbClr val="5BB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0" name="Connector 9"/>
          <p:cNvCxnSpPr/>
          <p:nvPr/>
        </p:nvCxnSpPr>
        <p:spPr>
          <a:xfrm flipH="1">
            <a:off x="64008" y="109728"/>
            <a:ext cx="73152" cy="758952"/>
          </a:xfrm>
          <a:prstGeom prst="line">
            <a:avLst/>
          </a:prstGeom>
          <a:ln w="13970">
            <a:solidFill>
              <a:srgbClr val="2A79A3"/>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502920" y="329184"/>
            <a:ext cx="502920" cy="329184"/>
          </a:xfrm>
          <a:prstGeom prst="roundRect">
            <a:avLst>
              <a:gd name="adj" fmla="val 12000"/>
            </a:avLst>
          </a:prstGeom>
          <a:solidFill>
            <a:srgbClr val="D7F0F8"/>
          </a:solidFill>
          <a:ln>
            <a:solidFill>
              <a:srgbClr val="D7F0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21208" y="347472"/>
            <a:ext cx="466344" cy="274320"/>
          </a:xfrm>
          <a:prstGeom prst="rect">
            <a:avLst/>
          </a:prstGeom>
          <a:noFill/>
        </p:spPr>
        <p:txBody>
          <a:bodyPr wrap="square" lIns="41148" tIns="22860" rIns="41148" bIns="22860" anchor="ctr">
            <a:spAutoFit/>
          </a:bodyPr>
          <a:lstStyle/>
          <a:p>
            <a:pPr algn="ctr"/>
            <a:r>
              <a:rPr sz="1000" b="1" i="0">
                <a:solidFill>
                  <a:srgbClr val="10395C"/>
                </a:solidFill>
                <a:latin typeface="Aptos"/>
              </a:rPr>
              <a:t>16</a:t>
            </a:r>
          </a:p>
        </p:txBody>
      </p:sp>
      <p:sp>
        <p:nvSpPr>
          <p:cNvPr id="13" name="TextBox 12"/>
          <p:cNvSpPr txBox="1"/>
          <p:nvPr/>
        </p:nvSpPr>
        <p:spPr>
          <a:xfrm>
            <a:off x="1115568" y="274320"/>
            <a:ext cx="9875520" cy="438912"/>
          </a:xfrm>
          <a:prstGeom prst="rect">
            <a:avLst/>
          </a:prstGeom>
          <a:noFill/>
        </p:spPr>
        <p:txBody>
          <a:bodyPr wrap="square" lIns="41148" tIns="22860" rIns="41148" bIns="22860" anchor="t">
            <a:spAutoFit/>
          </a:bodyPr>
          <a:lstStyle/>
          <a:p>
            <a:pPr algn="l"/>
            <a:r>
              <a:rPr sz="2300" b="1" i="0">
                <a:solidFill>
                  <a:srgbClr val="10395C"/>
                </a:solidFill>
                <a:latin typeface="Aptos"/>
              </a:rPr>
              <a:t>Functional &amp; Non-Functional Requirements</a:t>
            </a:r>
          </a:p>
        </p:txBody>
      </p:sp>
      <p:sp>
        <p:nvSpPr>
          <p:cNvPr id="14" name="TextBox 13"/>
          <p:cNvSpPr txBox="1"/>
          <p:nvPr/>
        </p:nvSpPr>
        <p:spPr>
          <a:xfrm>
            <a:off x="1133856" y="758952"/>
            <a:ext cx="9418320" cy="274320"/>
          </a:xfrm>
          <a:prstGeom prst="rect">
            <a:avLst/>
          </a:prstGeom>
          <a:noFill/>
        </p:spPr>
        <p:txBody>
          <a:bodyPr wrap="square" lIns="41148" tIns="22860" rIns="41148" bIns="22860" anchor="t">
            <a:spAutoFit/>
          </a:bodyPr>
          <a:lstStyle/>
          <a:p>
            <a:pPr algn="l"/>
            <a:r>
              <a:rPr sz="1080" b="0" i="0">
                <a:solidFill>
                  <a:srgbClr val="5D7684"/>
                </a:solidFill>
                <a:latin typeface="Aptos"/>
              </a:rPr>
              <a:t>What the system must do and how well it should work</a:t>
            </a:r>
          </a:p>
        </p:txBody>
      </p:sp>
      <p:sp>
        <p:nvSpPr>
          <p:cNvPr id="15" name="Rectangle 14"/>
          <p:cNvSpPr/>
          <p:nvPr/>
        </p:nvSpPr>
        <p:spPr>
          <a:xfrm>
            <a:off x="1133856" y="1060704"/>
            <a:ext cx="1051560" cy="32004"/>
          </a:xfrm>
          <a:prstGeom prst="rect">
            <a:avLst/>
          </a:prstGeom>
          <a:solidFill>
            <a:srgbClr val="5BB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594360" y="1389888"/>
            <a:ext cx="5532120" cy="4681728"/>
          </a:xfrm>
          <a:prstGeom prst="roundRect">
            <a:avLst>
              <a:gd name="adj" fmla="val 12000"/>
            </a:avLst>
          </a:prstGeom>
          <a:solidFill>
            <a:srgbClr val="FFFFFF"/>
          </a:solidFill>
          <a:ln>
            <a:solidFill>
              <a:srgbClr val="C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896112" y="1700784"/>
            <a:ext cx="1389888" cy="329184"/>
          </a:xfrm>
          <a:prstGeom prst="roundRect">
            <a:avLst>
              <a:gd name="adj" fmla="val 12000"/>
            </a:avLst>
          </a:prstGeom>
          <a:solidFill>
            <a:srgbClr val="D7F0F8"/>
          </a:solidFill>
          <a:ln>
            <a:solidFill>
              <a:srgbClr val="D7F0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14400" y="1719072"/>
            <a:ext cx="1353312" cy="274320"/>
          </a:xfrm>
          <a:prstGeom prst="rect">
            <a:avLst/>
          </a:prstGeom>
          <a:noFill/>
        </p:spPr>
        <p:txBody>
          <a:bodyPr wrap="square" lIns="41148" tIns="22860" rIns="41148" bIns="22860" anchor="ctr">
            <a:spAutoFit/>
          </a:bodyPr>
          <a:lstStyle/>
          <a:p>
            <a:pPr algn="ctr"/>
            <a:r>
              <a:rPr sz="880" b="1" i="0">
                <a:solidFill>
                  <a:srgbClr val="10395C"/>
                </a:solidFill>
                <a:latin typeface="Aptos"/>
              </a:rPr>
              <a:t>FUNCTIONAL</a:t>
            </a:r>
          </a:p>
        </p:txBody>
      </p:sp>
      <p:sp>
        <p:nvSpPr>
          <p:cNvPr id="19" name="TextBox 18"/>
          <p:cNvSpPr txBox="1"/>
          <p:nvPr/>
        </p:nvSpPr>
        <p:spPr>
          <a:xfrm>
            <a:off x="896112" y="2176272"/>
            <a:ext cx="4892040" cy="3566160"/>
          </a:xfrm>
          <a:prstGeom prst="rect">
            <a:avLst/>
          </a:prstGeom>
          <a:noFill/>
        </p:spPr>
        <p:txBody>
          <a:bodyPr wrap="square" lIns="36576" rIns="36576">
            <a:spAutoFit/>
          </a:bodyPr>
          <a:lstStyle/>
          <a:p>
            <a:pPr>
              <a:spcAft>
                <a:spcPts val="700"/>
              </a:spcAft>
              <a:defRPr sz="1060">
                <a:solidFill>
                  <a:srgbClr val="273D4E"/>
                </a:solidFill>
                <a:latin typeface="Aptos"/>
              </a:defRPr>
            </a:pPr>
            <a:r>
              <a:t>• User registration and login</a:t>
            </a:r>
          </a:p>
          <a:p>
            <a:pPr>
              <a:spcAft>
                <a:spcPts val="700"/>
              </a:spcAft>
              <a:defRPr sz="1060">
                <a:solidFill>
                  <a:srgbClr val="273D4E"/>
                </a:solidFill>
                <a:latin typeface="Aptos"/>
              </a:defRPr>
            </a:pPr>
            <a:r>
              <a:t>• Course search and filtering</a:t>
            </a:r>
          </a:p>
          <a:p>
            <a:pPr>
              <a:spcAft>
                <a:spcPts val="700"/>
              </a:spcAft>
              <a:defRPr sz="1060">
                <a:solidFill>
                  <a:srgbClr val="273D4E"/>
                </a:solidFill>
                <a:latin typeface="Aptos"/>
              </a:defRPr>
            </a:pPr>
            <a:r>
              <a:t>• View course details and seats</a:t>
            </a:r>
          </a:p>
          <a:p>
            <a:pPr>
              <a:spcAft>
                <a:spcPts val="700"/>
              </a:spcAft>
              <a:defRPr sz="1060">
                <a:solidFill>
                  <a:srgbClr val="273D4E"/>
                </a:solidFill>
                <a:latin typeface="Aptos"/>
              </a:defRPr>
            </a:pPr>
            <a:r>
              <a:t>• Add / remove / register / drop courses</a:t>
            </a:r>
          </a:p>
          <a:p>
            <a:pPr>
              <a:spcAft>
                <a:spcPts val="700"/>
              </a:spcAft>
              <a:defRPr sz="1060">
                <a:solidFill>
                  <a:srgbClr val="273D4E"/>
                </a:solidFill>
                <a:latin typeface="Aptos"/>
              </a:defRPr>
            </a:pPr>
            <a:r>
              <a:t>• Credit calculation</a:t>
            </a:r>
          </a:p>
          <a:p>
            <a:pPr>
              <a:spcAft>
                <a:spcPts val="700"/>
              </a:spcAft>
              <a:defRPr sz="1060">
                <a:solidFill>
                  <a:srgbClr val="273D4E"/>
                </a:solidFill>
                <a:latin typeface="Aptos"/>
              </a:defRPr>
            </a:pPr>
            <a:r>
              <a:t>• Conflict detection + timetable generation</a:t>
            </a:r>
          </a:p>
          <a:p>
            <a:pPr>
              <a:spcAft>
                <a:spcPts val="700"/>
              </a:spcAft>
              <a:defRPr sz="1060">
                <a:solidFill>
                  <a:srgbClr val="273D4E"/>
                </a:solidFill>
                <a:latin typeface="Aptos"/>
              </a:defRPr>
            </a:pPr>
            <a:r>
              <a:t>• Admin management of users, courses, faculty, rooms and schedules</a:t>
            </a:r>
          </a:p>
          <a:p>
            <a:pPr>
              <a:spcAft>
                <a:spcPts val="700"/>
              </a:spcAft>
              <a:defRPr sz="1060">
                <a:solidFill>
                  <a:srgbClr val="273D4E"/>
                </a:solidFill>
                <a:latin typeface="Aptos"/>
              </a:defRPr>
            </a:pPr>
            <a:r>
              <a:t>• Registration records and reports</a:t>
            </a:r>
          </a:p>
        </p:txBody>
      </p:sp>
      <p:sp>
        <p:nvSpPr>
          <p:cNvPr id="20" name="Rounded Rectangle 19"/>
          <p:cNvSpPr/>
          <p:nvPr/>
        </p:nvSpPr>
        <p:spPr>
          <a:xfrm>
            <a:off x="6355080" y="1389888"/>
            <a:ext cx="5212080" cy="4681728"/>
          </a:xfrm>
          <a:prstGeom prst="roundRect">
            <a:avLst>
              <a:gd name="adj" fmla="val 12000"/>
            </a:avLst>
          </a:prstGeom>
          <a:solidFill>
            <a:srgbClr val="FFFFFF"/>
          </a:solidFill>
          <a:ln>
            <a:solidFill>
              <a:srgbClr val="C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6656832" y="1700784"/>
            <a:ext cx="1755648" cy="329184"/>
          </a:xfrm>
          <a:prstGeom prst="roundRect">
            <a:avLst>
              <a:gd name="adj" fmla="val 12000"/>
            </a:avLst>
          </a:prstGeom>
          <a:solidFill>
            <a:srgbClr val="E1F8F1"/>
          </a:solidFill>
          <a:ln>
            <a:solidFill>
              <a:srgbClr val="E1F8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675120" y="1719072"/>
            <a:ext cx="1719072" cy="274320"/>
          </a:xfrm>
          <a:prstGeom prst="rect">
            <a:avLst/>
          </a:prstGeom>
          <a:noFill/>
        </p:spPr>
        <p:txBody>
          <a:bodyPr wrap="square" lIns="41148" tIns="22860" rIns="41148" bIns="22860" anchor="ctr">
            <a:spAutoFit/>
          </a:bodyPr>
          <a:lstStyle/>
          <a:p>
            <a:pPr algn="ctr"/>
            <a:r>
              <a:rPr sz="880" b="1" i="0">
                <a:solidFill>
                  <a:srgbClr val="10395C"/>
                </a:solidFill>
                <a:latin typeface="Aptos"/>
              </a:rPr>
              <a:t>NON-FUNCTIONAL</a:t>
            </a:r>
          </a:p>
        </p:txBody>
      </p:sp>
      <p:sp>
        <p:nvSpPr>
          <p:cNvPr id="23" name="TextBox 22"/>
          <p:cNvSpPr txBox="1"/>
          <p:nvPr/>
        </p:nvSpPr>
        <p:spPr>
          <a:xfrm>
            <a:off x="6656832" y="2176272"/>
            <a:ext cx="4526280" cy="3566160"/>
          </a:xfrm>
          <a:prstGeom prst="rect">
            <a:avLst/>
          </a:prstGeom>
          <a:noFill/>
        </p:spPr>
        <p:txBody>
          <a:bodyPr wrap="square" lIns="36576" rIns="36576">
            <a:spAutoFit/>
          </a:bodyPr>
          <a:lstStyle/>
          <a:p>
            <a:pPr>
              <a:spcAft>
                <a:spcPts val="800"/>
              </a:spcAft>
              <a:defRPr sz="1060">
                <a:solidFill>
                  <a:srgbClr val="273D4E"/>
                </a:solidFill>
                <a:latin typeface="Aptos"/>
              </a:defRPr>
            </a:pPr>
            <a:r>
              <a:t>• Usability – simple and clear interface</a:t>
            </a:r>
          </a:p>
          <a:p>
            <a:pPr>
              <a:spcAft>
                <a:spcPts val="800"/>
              </a:spcAft>
              <a:defRPr sz="1060">
                <a:solidFill>
                  <a:srgbClr val="273D4E"/>
                </a:solidFill>
                <a:latin typeface="Aptos"/>
              </a:defRPr>
            </a:pPr>
            <a:r>
              <a:t>• Performance – quick response and validation</a:t>
            </a:r>
          </a:p>
          <a:p>
            <a:pPr>
              <a:spcAft>
                <a:spcPts val="800"/>
              </a:spcAft>
              <a:defRPr sz="1060">
                <a:solidFill>
                  <a:srgbClr val="273D4E"/>
                </a:solidFill>
                <a:latin typeface="Aptos"/>
              </a:defRPr>
            </a:pPr>
            <a:r>
              <a:t>• Security – protect accounts and personal data</a:t>
            </a:r>
          </a:p>
          <a:p>
            <a:pPr>
              <a:spcAft>
                <a:spcPts val="800"/>
              </a:spcAft>
              <a:defRPr sz="1060">
                <a:solidFill>
                  <a:srgbClr val="273D4E"/>
                </a:solidFill>
                <a:latin typeface="Aptos"/>
              </a:defRPr>
            </a:pPr>
            <a:r>
              <a:t>• Reliability – prevent duplicate / invalid registration</a:t>
            </a:r>
          </a:p>
          <a:p>
            <a:pPr>
              <a:spcAft>
                <a:spcPts val="800"/>
              </a:spcAft>
              <a:defRPr sz="1060">
                <a:solidFill>
                  <a:srgbClr val="273D4E"/>
                </a:solidFill>
                <a:latin typeface="Aptos"/>
              </a:defRPr>
            </a:pPr>
            <a:r>
              <a:t>• Scalability – support more students and courses</a:t>
            </a:r>
          </a:p>
          <a:p>
            <a:pPr>
              <a:spcAft>
                <a:spcPts val="800"/>
              </a:spcAft>
              <a:defRPr sz="1060">
                <a:solidFill>
                  <a:srgbClr val="273D4E"/>
                </a:solidFill>
                <a:latin typeface="Aptos"/>
              </a:defRPr>
            </a:pPr>
            <a:r>
              <a:t>• Availability – accessible during registration periods</a:t>
            </a:r>
          </a:p>
          <a:p>
            <a:pPr>
              <a:spcAft>
                <a:spcPts val="800"/>
              </a:spcAft>
              <a:defRPr sz="1060">
                <a:solidFill>
                  <a:srgbClr val="273D4E"/>
                </a:solidFill>
                <a:latin typeface="Aptos"/>
              </a:defRPr>
            </a:pPr>
            <a:r>
              <a:t>• Responsiveness – usable on laptop, tablet and mobile</a:t>
            </a:r>
          </a:p>
        </p:txBody>
      </p:sp>
      <p:sp>
        <p:nvSpPr>
          <p:cNvPr id="24" name="TextBox 23"/>
          <p:cNvSpPr txBox="1"/>
          <p:nvPr/>
        </p:nvSpPr>
        <p:spPr>
          <a:xfrm>
            <a:off x="530352" y="6547104"/>
            <a:ext cx="4572000" cy="146304"/>
          </a:xfrm>
          <a:prstGeom prst="rect">
            <a:avLst/>
          </a:prstGeom>
          <a:noFill/>
        </p:spPr>
        <p:txBody>
          <a:bodyPr wrap="square" lIns="41148" tIns="22860" rIns="41148" bIns="22860" anchor="t">
            <a:spAutoFit/>
          </a:bodyPr>
          <a:lstStyle/>
          <a:p>
            <a:pPr algn="l"/>
            <a:r>
              <a:rPr sz="720" b="1" i="0">
                <a:solidFill>
                  <a:srgbClr val="5D7684"/>
                </a:solidFill>
                <a:latin typeface="Aptos"/>
              </a:rPr>
              <a:t>COURSE REGISTRATION &amp; TIMETABLE BUILDER</a:t>
            </a:r>
          </a:p>
        </p:txBody>
      </p:sp>
      <p:sp>
        <p:nvSpPr>
          <p:cNvPr id="25" name="TextBox 24"/>
          <p:cNvSpPr txBox="1"/>
          <p:nvPr/>
        </p:nvSpPr>
        <p:spPr>
          <a:xfrm>
            <a:off x="11201400" y="6510528"/>
            <a:ext cx="384048" cy="182880"/>
          </a:xfrm>
          <a:prstGeom prst="rect">
            <a:avLst/>
          </a:prstGeom>
          <a:noFill/>
        </p:spPr>
        <p:txBody>
          <a:bodyPr wrap="square" lIns="41148" tIns="22860" rIns="41148" bIns="22860" anchor="t">
            <a:spAutoFit/>
          </a:bodyPr>
          <a:lstStyle/>
          <a:p>
            <a:pPr algn="r"/>
            <a:r>
              <a:rPr sz="750" b="1" i="0">
                <a:solidFill>
                  <a:srgbClr val="5D7684"/>
                </a:solidFill>
                <a:latin typeface="Aptos"/>
              </a:rPr>
              <a:t>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1FAFD"/>
        </a:solidFill>
        <a:effectLst/>
      </p:bgPr>
    </p:bg>
    <p:spTree>
      <p:nvGrpSpPr>
        <p:cNvPr id="1" name=""/>
        <p:cNvGrpSpPr/>
        <p:nvPr/>
      </p:nvGrpSpPr>
      <p:grpSpPr>
        <a:xfrm>
          <a:off x="0" y="0"/>
          <a:ext cx="0" cy="0"/>
          <a:chOff x="0" y="0"/>
          <a:chExt cx="0" cy="0"/>
        </a:xfrm>
      </p:grpSpPr>
      <p:sp>
        <p:nvSpPr>
          <p:cNvPr id="2" name="Oval 1"/>
          <p:cNvSpPr/>
          <p:nvPr/>
        </p:nvSpPr>
        <p:spPr>
          <a:xfrm>
            <a:off x="10652760" y="-411480"/>
            <a:ext cx="1920240" cy="1920240"/>
          </a:xfrm>
          <a:prstGeom prst="ellipse">
            <a:avLst/>
          </a:prstGeom>
          <a:solidFill>
            <a:srgbClr val="D7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9875520" y="5623560"/>
            <a:ext cx="2011680" cy="2011680"/>
          </a:xfrm>
          <a:prstGeom prst="ellipse">
            <a:avLst/>
          </a:prstGeom>
          <a:solidFill>
            <a:srgbClr val="E1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411480" y="5715000"/>
            <a:ext cx="1554480" cy="1554480"/>
          </a:xfrm>
          <a:prstGeom prst="ellipse">
            <a:avLst/>
          </a:prstGeom>
          <a:solidFill>
            <a:srgbClr val="EDE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rot="20100000">
            <a:off x="11292840" y="91440"/>
            <a:ext cx="228600" cy="96012"/>
          </a:xfrm>
          <a:prstGeom prst="ellipse">
            <a:avLst/>
          </a:prstGeom>
          <a:solidFill>
            <a:srgbClr val="5BB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rot="1500000">
            <a:off x="11494008" y="256032"/>
            <a:ext cx="256032" cy="107533"/>
          </a:xfrm>
          <a:prstGeom prst="ellipse">
            <a:avLst/>
          </a:prstGeom>
          <a:solidFill>
            <a:srgbClr val="2A79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rot="19500000">
            <a:off x="11146536" y="411479"/>
            <a:ext cx="219456" cy="92171"/>
          </a:xfrm>
          <a:prstGeom prst="ellipse">
            <a:avLst/>
          </a:prstGeom>
          <a:solidFill>
            <a:srgbClr val="5BB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rot="1500000">
            <a:off x="11402567" y="566928"/>
            <a:ext cx="201168" cy="84490"/>
          </a:xfrm>
          <a:prstGeom prst="ellipse">
            <a:avLst/>
          </a:prstGeom>
          <a:solidFill>
            <a:srgbClr val="2A79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rot="19500000">
            <a:off x="11036808" y="685800"/>
            <a:ext cx="201168" cy="84490"/>
          </a:xfrm>
          <a:prstGeom prst="ellipse">
            <a:avLst/>
          </a:prstGeom>
          <a:solidFill>
            <a:srgbClr val="5BB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0" name="Connector 9"/>
          <p:cNvCxnSpPr/>
          <p:nvPr/>
        </p:nvCxnSpPr>
        <p:spPr>
          <a:xfrm flipH="1">
            <a:off x="11311128" y="109728"/>
            <a:ext cx="73152" cy="758952"/>
          </a:xfrm>
          <a:prstGeom prst="line">
            <a:avLst/>
          </a:prstGeom>
          <a:ln w="13970">
            <a:solidFill>
              <a:srgbClr val="2A79A3"/>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502920" y="329184"/>
            <a:ext cx="502920" cy="329184"/>
          </a:xfrm>
          <a:prstGeom prst="roundRect">
            <a:avLst>
              <a:gd name="adj" fmla="val 12000"/>
            </a:avLst>
          </a:prstGeom>
          <a:solidFill>
            <a:srgbClr val="D7F0F8"/>
          </a:solidFill>
          <a:ln>
            <a:solidFill>
              <a:srgbClr val="D7F0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21208" y="347472"/>
            <a:ext cx="466344" cy="274320"/>
          </a:xfrm>
          <a:prstGeom prst="rect">
            <a:avLst/>
          </a:prstGeom>
          <a:noFill/>
        </p:spPr>
        <p:txBody>
          <a:bodyPr wrap="square" lIns="41148" tIns="22860" rIns="41148" bIns="22860" anchor="ctr">
            <a:spAutoFit/>
          </a:bodyPr>
          <a:lstStyle/>
          <a:p>
            <a:pPr algn="ctr"/>
            <a:r>
              <a:rPr sz="1000" b="1" i="0">
                <a:solidFill>
                  <a:srgbClr val="10395C"/>
                </a:solidFill>
                <a:latin typeface="Aptos"/>
              </a:rPr>
              <a:t>17</a:t>
            </a:r>
          </a:p>
        </p:txBody>
      </p:sp>
      <p:sp>
        <p:nvSpPr>
          <p:cNvPr id="13" name="TextBox 12"/>
          <p:cNvSpPr txBox="1"/>
          <p:nvPr/>
        </p:nvSpPr>
        <p:spPr>
          <a:xfrm>
            <a:off x="1115568" y="274320"/>
            <a:ext cx="9875520" cy="438912"/>
          </a:xfrm>
          <a:prstGeom prst="rect">
            <a:avLst/>
          </a:prstGeom>
          <a:noFill/>
        </p:spPr>
        <p:txBody>
          <a:bodyPr wrap="square" lIns="41148" tIns="22860" rIns="41148" bIns="22860" anchor="t">
            <a:spAutoFit/>
          </a:bodyPr>
          <a:lstStyle/>
          <a:p>
            <a:pPr algn="l"/>
            <a:r>
              <a:rPr sz="2300" b="1" i="0">
                <a:solidFill>
                  <a:srgbClr val="10395C"/>
                </a:solidFill>
                <a:latin typeface="Aptos"/>
              </a:rPr>
              <a:t>Testing &amp; Validation</a:t>
            </a:r>
          </a:p>
        </p:txBody>
      </p:sp>
      <p:sp>
        <p:nvSpPr>
          <p:cNvPr id="14" name="TextBox 13"/>
          <p:cNvSpPr txBox="1"/>
          <p:nvPr/>
        </p:nvSpPr>
        <p:spPr>
          <a:xfrm>
            <a:off x="1133856" y="758952"/>
            <a:ext cx="9418320" cy="274320"/>
          </a:xfrm>
          <a:prstGeom prst="rect">
            <a:avLst/>
          </a:prstGeom>
          <a:noFill/>
        </p:spPr>
        <p:txBody>
          <a:bodyPr wrap="square" lIns="41148" tIns="22860" rIns="41148" bIns="22860" anchor="t">
            <a:spAutoFit/>
          </a:bodyPr>
          <a:lstStyle/>
          <a:p>
            <a:pPr algn="l"/>
            <a:r>
              <a:rPr sz="1080" b="0" i="0">
                <a:solidFill>
                  <a:srgbClr val="5D7684"/>
                </a:solidFill>
                <a:latin typeface="Aptos"/>
              </a:rPr>
              <a:t>Test normal inputs, invalid inputs and boundary cases</a:t>
            </a:r>
          </a:p>
        </p:txBody>
      </p:sp>
      <p:sp>
        <p:nvSpPr>
          <p:cNvPr id="15" name="Rectangle 14"/>
          <p:cNvSpPr/>
          <p:nvPr/>
        </p:nvSpPr>
        <p:spPr>
          <a:xfrm>
            <a:off x="1133856" y="1060704"/>
            <a:ext cx="1051560" cy="32004"/>
          </a:xfrm>
          <a:prstGeom prst="rect">
            <a:avLst/>
          </a:prstGeom>
          <a:solidFill>
            <a:srgbClr val="5BB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16" name="Table 15"/>
          <p:cNvGraphicFramePr>
            <a:graphicFrameLocks noGrp="1"/>
          </p:cNvGraphicFramePr>
          <p:nvPr/>
        </p:nvGraphicFramePr>
        <p:xfrm>
          <a:off x="749808" y="1417320"/>
          <a:ext cx="10744200" cy="4800600"/>
        </p:xfrm>
        <a:graphic>
          <a:graphicData uri="http://schemas.openxmlformats.org/drawingml/2006/table">
            <a:tbl>
              <a:tblPr firstRow="1" bandRow="1">
                <a:tableStyleId>{5C22544A-7EE6-4342-B048-85BDC9FD1C3A}</a:tableStyleId>
              </a:tblPr>
              <a:tblGrid>
                <a:gridCol w="4983480">
                  <a:extLst>
                    <a:ext uri="{9D8B030D-6E8A-4147-A177-3AD203B41FA5}">
                      <a16:colId xmlns:a16="http://schemas.microsoft.com/office/drawing/2014/main" val="20000"/>
                    </a:ext>
                  </a:extLst>
                </a:gridCol>
                <a:gridCol w="5760720">
                  <a:extLst>
                    <a:ext uri="{9D8B030D-6E8A-4147-A177-3AD203B41FA5}">
                      <a16:colId xmlns:a16="http://schemas.microsoft.com/office/drawing/2014/main" val="20001"/>
                    </a:ext>
                  </a:extLst>
                </a:gridCol>
              </a:tblGrid>
              <a:tr h="436418">
                <a:tc>
                  <a:txBody>
                    <a:bodyPr/>
                    <a:lstStyle/>
                    <a:p>
                      <a:pPr algn="ctr">
                        <a:defRPr sz="1010" b="1">
                          <a:solidFill>
                            <a:srgbClr val="FFFFFF"/>
                          </a:solidFill>
                          <a:latin typeface="Aptos"/>
                        </a:defRPr>
                      </a:pPr>
                      <a:r>
                        <a:t>TEST CASE</a:t>
                      </a:r>
                    </a:p>
                  </a:txBody>
                  <a:tcPr marL="64008" marR="64008">
                    <a:solidFill>
                      <a:srgbClr val="10395C"/>
                    </a:solidFill>
                  </a:tcPr>
                </a:tc>
                <a:tc>
                  <a:txBody>
                    <a:bodyPr/>
                    <a:lstStyle/>
                    <a:p>
                      <a:pPr algn="ctr">
                        <a:defRPr sz="1010" b="1">
                          <a:solidFill>
                            <a:srgbClr val="FFFFFF"/>
                          </a:solidFill>
                          <a:latin typeface="Aptos"/>
                        </a:defRPr>
                      </a:pPr>
                      <a:r>
                        <a:t>EXPECTED RESULT</a:t>
                      </a:r>
                    </a:p>
                  </a:txBody>
                  <a:tcPr marL="64008" marR="64008">
                    <a:solidFill>
                      <a:srgbClr val="10395C"/>
                    </a:solidFill>
                  </a:tcPr>
                </a:tc>
                <a:extLst>
                  <a:ext uri="{0D108BD9-81ED-4DB2-BD59-A6C34878D82A}">
                    <a16:rowId xmlns:a16="http://schemas.microsoft.com/office/drawing/2014/main" val="10000"/>
                  </a:ext>
                </a:extLst>
              </a:tr>
              <a:tr h="436418">
                <a:tc>
                  <a:txBody>
                    <a:bodyPr/>
                    <a:lstStyle/>
                    <a:p>
                      <a:pPr algn="ctr">
                        <a:defRPr sz="1010" b="0">
                          <a:solidFill>
                            <a:srgbClr val="273D4E"/>
                          </a:solidFill>
                          <a:latin typeface="Aptos"/>
                        </a:defRPr>
                      </a:pPr>
                      <a:r>
                        <a:t>Correct login</a:t>
                      </a:r>
                    </a:p>
                  </a:txBody>
                  <a:tcPr marL="64008" marR="64008">
                    <a:solidFill>
                      <a:srgbClr val="FFFFFF"/>
                    </a:solidFill>
                  </a:tcPr>
                </a:tc>
                <a:tc>
                  <a:txBody>
                    <a:bodyPr/>
                    <a:lstStyle/>
                    <a:p>
                      <a:pPr algn="ctr">
                        <a:defRPr sz="1010" b="0">
                          <a:solidFill>
                            <a:srgbClr val="273D4E"/>
                          </a:solidFill>
                          <a:latin typeface="Aptos"/>
                        </a:defRPr>
                      </a:pPr>
                      <a:r>
                        <a:t>Dashboard opens</a:t>
                      </a:r>
                    </a:p>
                  </a:txBody>
                  <a:tcPr marL="64008" marR="64008">
                    <a:solidFill>
                      <a:srgbClr val="FFFFFF"/>
                    </a:solidFill>
                  </a:tcPr>
                </a:tc>
                <a:extLst>
                  <a:ext uri="{0D108BD9-81ED-4DB2-BD59-A6C34878D82A}">
                    <a16:rowId xmlns:a16="http://schemas.microsoft.com/office/drawing/2014/main" val="10001"/>
                  </a:ext>
                </a:extLst>
              </a:tr>
              <a:tr h="436418">
                <a:tc>
                  <a:txBody>
                    <a:bodyPr/>
                    <a:lstStyle/>
                    <a:p>
                      <a:pPr algn="ctr">
                        <a:defRPr sz="1010" b="0">
                          <a:solidFill>
                            <a:srgbClr val="273D4E"/>
                          </a:solidFill>
                          <a:latin typeface="Aptos"/>
                        </a:defRPr>
                      </a:pPr>
                      <a:r>
                        <a:t>Wrong password</a:t>
                      </a:r>
                    </a:p>
                  </a:txBody>
                  <a:tcPr marL="64008" marR="64008">
                    <a:solidFill>
                      <a:srgbClr val="FFFFFF"/>
                    </a:solidFill>
                  </a:tcPr>
                </a:tc>
                <a:tc>
                  <a:txBody>
                    <a:bodyPr/>
                    <a:lstStyle/>
                    <a:p>
                      <a:pPr algn="ctr">
                        <a:defRPr sz="1010" b="0">
                          <a:solidFill>
                            <a:srgbClr val="273D4E"/>
                          </a:solidFill>
                          <a:latin typeface="Aptos"/>
                        </a:defRPr>
                      </a:pPr>
                      <a:r>
                        <a:t>Error message shown</a:t>
                      </a:r>
                    </a:p>
                  </a:txBody>
                  <a:tcPr marL="64008" marR="64008">
                    <a:solidFill>
                      <a:srgbClr val="FFFFFF"/>
                    </a:solidFill>
                  </a:tcPr>
                </a:tc>
                <a:extLst>
                  <a:ext uri="{0D108BD9-81ED-4DB2-BD59-A6C34878D82A}">
                    <a16:rowId xmlns:a16="http://schemas.microsoft.com/office/drawing/2014/main" val="10002"/>
                  </a:ext>
                </a:extLst>
              </a:tr>
              <a:tr h="436418">
                <a:tc>
                  <a:txBody>
                    <a:bodyPr/>
                    <a:lstStyle/>
                    <a:p>
                      <a:pPr algn="ctr">
                        <a:defRPr sz="1010" b="0">
                          <a:solidFill>
                            <a:srgbClr val="273D4E"/>
                          </a:solidFill>
                          <a:latin typeface="Aptos"/>
                        </a:defRPr>
                      </a:pPr>
                      <a:r>
                        <a:t>Search course</a:t>
                      </a:r>
                    </a:p>
                  </a:txBody>
                  <a:tcPr marL="64008" marR="64008">
                    <a:solidFill>
                      <a:srgbClr val="FFFFFF"/>
                    </a:solidFill>
                  </a:tcPr>
                </a:tc>
                <a:tc>
                  <a:txBody>
                    <a:bodyPr/>
                    <a:lstStyle/>
                    <a:p>
                      <a:pPr algn="ctr">
                        <a:defRPr sz="1010" b="0">
                          <a:solidFill>
                            <a:srgbClr val="273D4E"/>
                          </a:solidFill>
                          <a:latin typeface="Aptos"/>
                        </a:defRPr>
                      </a:pPr>
                      <a:r>
                        <a:t>Matching courses displayed</a:t>
                      </a:r>
                    </a:p>
                  </a:txBody>
                  <a:tcPr marL="64008" marR="64008">
                    <a:solidFill>
                      <a:srgbClr val="FFFFFF"/>
                    </a:solidFill>
                  </a:tcPr>
                </a:tc>
                <a:extLst>
                  <a:ext uri="{0D108BD9-81ED-4DB2-BD59-A6C34878D82A}">
                    <a16:rowId xmlns:a16="http://schemas.microsoft.com/office/drawing/2014/main" val="10003"/>
                  </a:ext>
                </a:extLst>
              </a:tr>
              <a:tr h="436418">
                <a:tc>
                  <a:txBody>
                    <a:bodyPr/>
                    <a:lstStyle/>
                    <a:p>
                      <a:pPr algn="ctr">
                        <a:defRPr sz="1010" b="0">
                          <a:solidFill>
                            <a:srgbClr val="273D4E"/>
                          </a:solidFill>
                          <a:latin typeface="Aptos"/>
                        </a:defRPr>
                      </a:pPr>
                      <a:r>
                        <a:t>Add / remove course</a:t>
                      </a:r>
                    </a:p>
                  </a:txBody>
                  <a:tcPr marL="64008" marR="64008">
                    <a:solidFill>
                      <a:srgbClr val="FFFFFF"/>
                    </a:solidFill>
                  </a:tcPr>
                </a:tc>
                <a:tc>
                  <a:txBody>
                    <a:bodyPr/>
                    <a:lstStyle/>
                    <a:p>
                      <a:pPr algn="ctr">
                        <a:defRPr sz="1010" b="0">
                          <a:solidFill>
                            <a:srgbClr val="273D4E"/>
                          </a:solidFill>
                          <a:latin typeface="Aptos"/>
                        </a:defRPr>
                      </a:pPr>
                      <a:r>
                        <a:t>Selection updates</a:t>
                      </a:r>
                    </a:p>
                  </a:txBody>
                  <a:tcPr marL="64008" marR="64008">
                    <a:solidFill>
                      <a:srgbClr val="FFFFFF"/>
                    </a:solidFill>
                  </a:tcPr>
                </a:tc>
                <a:extLst>
                  <a:ext uri="{0D108BD9-81ED-4DB2-BD59-A6C34878D82A}">
                    <a16:rowId xmlns:a16="http://schemas.microsoft.com/office/drawing/2014/main" val="10004"/>
                  </a:ext>
                </a:extLst>
              </a:tr>
              <a:tr h="436418">
                <a:tc>
                  <a:txBody>
                    <a:bodyPr/>
                    <a:lstStyle/>
                    <a:p>
                      <a:pPr algn="ctr">
                        <a:defRPr sz="1010" b="0">
                          <a:solidFill>
                            <a:srgbClr val="273D4E"/>
                          </a:solidFill>
                          <a:latin typeface="Aptos"/>
                        </a:defRPr>
                      </a:pPr>
                      <a:r>
                        <a:t>Same-day overlapping classes</a:t>
                      </a:r>
                    </a:p>
                  </a:txBody>
                  <a:tcPr marL="64008" marR="64008">
                    <a:solidFill>
                      <a:srgbClr val="FFFFFF"/>
                    </a:solidFill>
                  </a:tcPr>
                </a:tc>
                <a:tc>
                  <a:txBody>
                    <a:bodyPr/>
                    <a:lstStyle/>
                    <a:p>
                      <a:pPr algn="ctr">
                        <a:defRPr sz="1010" b="0">
                          <a:solidFill>
                            <a:srgbClr val="273D4E"/>
                          </a:solidFill>
                          <a:latin typeface="Aptos"/>
                        </a:defRPr>
                      </a:pPr>
                      <a:r>
                        <a:t>Conflict warning shown</a:t>
                      </a:r>
                    </a:p>
                  </a:txBody>
                  <a:tcPr marL="64008" marR="64008">
                    <a:solidFill>
                      <a:srgbClr val="FFFFFF"/>
                    </a:solidFill>
                  </a:tcPr>
                </a:tc>
                <a:extLst>
                  <a:ext uri="{0D108BD9-81ED-4DB2-BD59-A6C34878D82A}">
                    <a16:rowId xmlns:a16="http://schemas.microsoft.com/office/drawing/2014/main" val="10005"/>
                  </a:ext>
                </a:extLst>
              </a:tr>
              <a:tr h="436418">
                <a:tc>
                  <a:txBody>
                    <a:bodyPr/>
                    <a:lstStyle/>
                    <a:p>
                      <a:pPr algn="ctr">
                        <a:defRPr sz="1010" b="0">
                          <a:solidFill>
                            <a:srgbClr val="273D4E"/>
                          </a:solidFill>
                          <a:latin typeface="Aptos"/>
                        </a:defRPr>
                      </a:pPr>
                      <a:r>
                        <a:t>Different-time classes</a:t>
                      </a:r>
                    </a:p>
                  </a:txBody>
                  <a:tcPr marL="64008" marR="64008">
                    <a:solidFill>
                      <a:srgbClr val="FFFFFF"/>
                    </a:solidFill>
                  </a:tcPr>
                </a:tc>
                <a:tc>
                  <a:txBody>
                    <a:bodyPr/>
                    <a:lstStyle/>
                    <a:p>
                      <a:pPr algn="ctr">
                        <a:defRPr sz="1010" b="0">
                          <a:solidFill>
                            <a:srgbClr val="273D4E"/>
                          </a:solidFill>
                          <a:latin typeface="Aptos"/>
                        </a:defRPr>
                      </a:pPr>
                      <a:r>
                        <a:t>No conflict</a:t>
                      </a:r>
                    </a:p>
                  </a:txBody>
                  <a:tcPr marL="64008" marR="64008">
                    <a:solidFill>
                      <a:srgbClr val="FFFFFF"/>
                    </a:solidFill>
                  </a:tcPr>
                </a:tc>
                <a:extLst>
                  <a:ext uri="{0D108BD9-81ED-4DB2-BD59-A6C34878D82A}">
                    <a16:rowId xmlns:a16="http://schemas.microsoft.com/office/drawing/2014/main" val="10006"/>
                  </a:ext>
                </a:extLst>
              </a:tr>
              <a:tr h="436418">
                <a:tc>
                  <a:txBody>
                    <a:bodyPr/>
                    <a:lstStyle/>
                    <a:p>
                      <a:pPr algn="ctr">
                        <a:defRPr sz="1010" b="0">
                          <a:solidFill>
                            <a:srgbClr val="273D4E"/>
                          </a:solidFill>
                          <a:latin typeface="Aptos"/>
                        </a:defRPr>
                      </a:pPr>
                      <a:r>
                        <a:t>Course is full</a:t>
                      </a:r>
                    </a:p>
                  </a:txBody>
                  <a:tcPr marL="64008" marR="64008">
                    <a:solidFill>
                      <a:srgbClr val="FFFFFF"/>
                    </a:solidFill>
                  </a:tcPr>
                </a:tc>
                <a:tc>
                  <a:txBody>
                    <a:bodyPr/>
                    <a:lstStyle/>
                    <a:p>
                      <a:pPr algn="ctr">
                        <a:defRPr sz="1010" b="0">
                          <a:solidFill>
                            <a:srgbClr val="273D4E"/>
                          </a:solidFill>
                          <a:latin typeface="Aptos"/>
                        </a:defRPr>
                      </a:pPr>
                      <a:r>
                        <a:t>Registration blocked</a:t>
                      </a:r>
                    </a:p>
                  </a:txBody>
                  <a:tcPr marL="64008" marR="64008">
                    <a:solidFill>
                      <a:srgbClr val="FFFFFF"/>
                    </a:solidFill>
                  </a:tcPr>
                </a:tc>
                <a:extLst>
                  <a:ext uri="{0D108BD9-81ED-4DB2-BD59-A6C34878D82A}">
                    <a16:rowId xmlns:a16="http://schemas.microsoft.com/office/drawing/2014/main" val="10007"/>
                  </a:ext>
                </a:extLst>
              </a:tr>
              <a:tr h="436418">
                <a:tc>
                  <a:txBody>
                    <a:bodyPr/>
                    <a:lstStyle/>
                    <a:p>
                      <a:pPr algn="ctr">
                        <a:defRPr sz="1010" b="0">
                          <a:solidFill>
                            <a:srgbClr val="273D4E"/>
                          </a:solidFill>
                          <a:latin typeface="Aptos"/>
                        </a:defRPr>
                      </a:pPr>
                      <a:r>
                        <a:t>Credit limit exceeded</a:t>
                      </a:r>
                    </a:p>
                  </a:txBody>
                  <a:tcPr marL="64008" marR="64008">
                    <a:solidFill>
                      <a:srgbClr val="FFFFFF"/>
                    </a:solidFill>
                  </a:tcPr>
                </a:tc>
                <a:tc>
                  <a:txBody>
                    <a:bodyPr/>
                    <a:lstStyle/>
                    <a:p>
                      <a:pPr algn="ctr">
                        <a:defRPr sz="1010" b="0">
                          <a:solidFill>
                            <a:srgbClr val="273D4E"/>
                          </a:solidFill>
                          <a:latin typeface="Aptos"/>
                        </a:defRPr>
                      </a:pPr>
                      <a:r>
                        <a:t>Registration blocked</a:t>
                      </a:r>
                    </a:p>
                  </a:txBody>
                  <a:tcPr marL="64008" marR="64008">
                    <a:solidFill>
                      <a:srgbClr val="FFFFFF"/>
                    </a:solidFill>
                  </a:tcPr>
                </a:tc>
                <a:extLst>
                  <a:ext uri="{0D108BD9-81ED-4DB2-BD59-A6C34878D82A}">
                    <a16:rowId xmlns:a16="http://schemas.microsoft.com/office/drawing/2014/main" val="10008"/>
                  </a:ext>
                </a:extLst>
              </a:tr>
              <a:tr h="436418">
                <a:tc>
                  <a:txBody>
                    <a:bodyPr/>
                    <a:lstStyle/>
                    <a:p>
                      <a:pPr algn="ctr">
                        <a:defRPr sz="1010" b="0">
                          <a:solidFill>
                            <a:srgbClr val="273D4E"/>
                          </a:solidFill>
                          <a:latin typeface="Aptos"/>
                        </a:defRPr>
                      </a:pPr>
                      <a:r>
                        <a:t>Valid registration</a:t>
                      </a:r>
                    </a:p>
                  </a:txBody>
                  <a:tcPr marL="64008" marR="64008">
                    <a:solidFill>
                      <a:srgbClr val="FFFFFF"/>
                    </a:solidFill>
                  </a:tcPr>
                </a:tc>
                <a:tc>
                  <a:txBody>
                    <a:bodyPr/>
                    <a:lstStyle/>
                    <a:p>
                      <a:pPr algn="ctr">
                        <a:defRPr sz="1010" b="0">
                          <a:solidFill>
                            <a:srgbClr val="273D4E"/>
                          </a:solidFill>
                          <a:latin typeface="Aptos"/>
                        </a:defRPr>
                      </a:pPr>
                      <a:r>
                        <a:t>Record saved successfully</a:t>
                      </a:r>
                    </a:p>
                  </a:txBody>
                  <a:tcPr marL="64008" marR="64008">
                    <a:solidFill>
                      <a:srgbClr val="FFFFFF"/>
                    </a:solidFill>
                  </a:tcPr>
                </a:tc>
                <a:extLst>
                  <a:ext uri="{0D108BD9-81ED-4DB2-BD59-A6C34878D82A}">
                    <a16:rowId xmlns:a16="http://schemas.microsoft.com/office/drawing/2014/main" val="10009"/>
                  </a:ext>
                </a:extLst>
              </a:tr>
              <a:tr h="436420">
                <a:tc>
                  <a:txBody>
                    <a:bodyPr/>
                    <a:lstStyle/>
                    <a:p>
                      <a:pPr algn="ctr">
                        <a:defRPr sz="1010" b="0">
                          <a:solidFill>
                            <a:srgbClr val="273D4E"/>
                          </a:solidFill>
                          <a:latin typeface="Aptos"/>
                        </a:defRPr>
                      </a:pPr>
                      <a:r>
                        <a:t>Drop course</a:t>
                      </a:r>
                    </a:p>
                  </a:txBody>
                  <a:tcPr marL="64008" marR="64008">
                    <a:solidFill>
                      <a:srgbClr val="FFFFFF"/>
                    </a:solidFill>
                  </a:tcPr>
                </a:tc>
                <a:tc>
                  <a:txBody>
                    <a:bodyPr/>
                    <a:lstStyle/>
                    <a:p>
                      <a:pPr algn="ctr">
                        <a:defRPr sz="1010" b="0">
                          <a:solidFill>
                            <a:srgbClr val="273D4E"/>
                          </a:solidFill>
                          <a:latin typeface="Aptos"/>
                        </a:defRPr>
                      </a:pPr>
                      <a:r>
                        <a:t>Course removed after confirmation</a:t>
                      </a:r>
                    </a:p>
                  </a:txBody>
                  <a:tcPr marL="64008" marR="64008">
                    <a:solidFill>
                      <a:srgbClr val="FFFFFF"/>
                    </a:solidFill>
                  </a:tcPr>
                </a:tc>
                <a:extLst>
                  <a:ext uri="{0D108BD9-81ED-4DB2-BD59-A6C34878D82A}">
                    <a16:rowId xmlns:a16="http://schemas.microsoft.com/office/drawing/2014/main" val="10010"/>
                  </a:ext>
                </a:extLst>
              </a:tr>
            </a:tbl>
          </a:graphicData>
        </a:graphic>
      </p:graphicFrame>
      <p:sp>
        <p:nvSpPr>
          <p:cNvPr id="17" name="Rounded Rectangle 16"/>
          <p:cNvSpPr/>
          <p:nvPr/>
        </p:nvSpPr>
        <p:spPr>
          <a:xfrm>
            <a:off x="4251960" y="5852160"/>
            <a:ext cx="3520440" cy="329184"/>
          </a:xfrm>
          <a:prstGeom prst="roundRect">
            <a:avLst>
              <a:gd name="adj" fmla="val 12000"/>
            </a:avLst>
          </a:prstGeom>
          <a:solidFill>
            <a:srgbClr val="EDECFC"/>
          </a:solidFill>
          <a:ln>
            <a:solidFill>
              <a:srgbClr val="EDEC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270248" y="5870448"/>
            <a:ext cx="3483864" cy="274320"/>
          </a:xfrm>
          <a:prstGeom prst="rect">
            <a:avLst/>
          </a:prstGeom>
          <a:noFill/>
        </p:spPr>
        <p:txBody>
          <a:bodyPr wrap="square" lIns="41148" tIns="22860" rIns="41148" bIns="22860" anchor="ctr">
            <a:spAutoFit/>
          </a:bodyPr>
          <a:lstStyle/>
          <a:p>
            <a:pPr algn="ctr"/>
            <a:r>
              <a:rPr sz="900" b="1" i="0">
                <a:solidFill>
                  <a:srgbClr val="10395C"/>
                </a:solidFill>
                <a:latin typeface="Aptos"/>
              </a:rPr>
              <a:t>VALIDATE → FIX → RETEST</a:t>
            </a:r>
          </a:p>
        </p:txBody>
      </p:sp>
      <p:sp>
        <p:nvSpPr>
          <p:cNvPr id="19" name="TextBox 18"/>
          <p:cNvSpPr txBox="1"/>
          <p:nvPr/>
        </p:nvSpPr>
        <p:spPr>
          <a:xfrm>
            <a:off x="530352" y="6547104"/>
            <a:ext cx="4572000" cy="146304"/>
          </a:xfrm>
          <a:prstGeom prst="rect">
            <a:avLst/>
          </a:prstGeom>
          <a:noFill/>
        </p:spPr>
        <p:txBody>
          <a:bodyPr wrap="square" lIns="41148" tIns="22860" rIns="41148" bIns="22860" anchor="t">
            <a:spAutoFit/>
          </a:bodyPr>
          <a:lstStyle/>
          <a:p>
            <a:pPr algn="l"/>
            <a:r>
              <a:rPr sz="720" b="1" i="0">
                <a:solidFill>
                  <a:srgbClr val="5D7684"/>
                </a:solidFill>
                <a:latin typeface="Aptos"/>
              </a:rPr>
              <a:t>COURSE REGISTRATION &amp; TIMETABLE BUILDER</a:t>
            </a:r>
          </a:p>
        </p:txBody>
      </p:sp>
      <p:sp>
        <p:nvSpPr>
          <p:cNvPr id="20" name="TextBox 19"/>
          <p:cNvSpPr txBox="1"/>
          <p:nvPr/>
        </p:nvSpPr>
        <p:spPr>
          <a:xfrm>
            <a:off x="11201400" y="6510528"/>
            <a:ext cx="384048" cy="182880"/>
          </a:xfrm>
          <a:prstGeom prst="rect">
            <a:avLst/>
          </a:prstGeom>
          <a:noFill/>
        </p:spPr>
        <p:txBody>
          <a:bodyPr wrap="square" lIns="41148" tIns="22860" rIns="41148" bIns="22860" anchor="t">
            <a:spAutoFit/>
          </a:bodyPr>
          <a:lstStyle/>
          <a:p>
            <a:pPr algn="r"/>
            <a:r>
              <a:rPr sz="750" b="1" i="0">
                <a:solidFill>
                  <a:srgbClr val="5D7684"/>
                </a:solidFill>
                <a:latin typeface="Aptos"/>
              </a:rPr>
              <a:t>18</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1FAFD"/>
        </a:solidFill>
        <a:effectLst/>
      </p:bgPr>
    </p:bg>
    <p:spTree>
      <p:nvGrpSpPr>
        <p:cNvPr id="1" name=""/>
        <p:cNvGrpSpPr/>
        <p:nvPr/>
      </p:nvGrpSpPr>
      <p:grpSpPr>
        <a:xfrm>
          <a:off x="0" y="0"/>
          <a:ext cx="0" cy="0"/>
          <a:chOff x="0" y="0"/>
          <a:chExt cx="0" cy="0"/>
        </a:xfrm>
      </p:grpSpPr>
      <p:sp>
        <p:nvSpPr>
          <p:cNvPr id="2" name="Oval 1"/>
          <p:cNvSpPr/>
          <p:nvPr/>
        </p:nvSpPr>
        <p:spPr>
          <a:xfrm>
            <a:off x="10652760" y="-411480"/>
            <a:ext cx="1920240" cy="1920240"/>
          </a:xfrm>
          <a:prstGeom prst="ellipse">
            <a:avLst/>
          </a:prstGeom>
          <a:solidFill>
            <a:srgbClr val="D7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9875520" y="5623560"/>
            <a:ext cx="2011680" cy="2011680"/>
          </a:xfrm>
          <a:prstGeom prst="ellipse">
            <a:avLst/>
          </a:prstGeom>
          <a:solidFill>
            <a:srgbClr val="E1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411480" y="5715000"/>
            <a:ext cx="1554480" cy="1554480"/>
          </a:xfrm>
          <a:prstGeom prst="ellipse">
            <a:avLst/>
          </a:prstGeom>
          <a:solidFill>
            <a:srgbClr val="EDE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rot="20100000">
            <a:off x="45720" y="91440"/>
            <a:ext cx="228600" cy="96012"/>
          </a:xfrm>
          <a:prstGeom prst="ellipse">
            <a:avLst/>
          </a:prstGeom>
          <a:solidFill>
            <a:srgbClr val="5BB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rot="1500000">
            <a:off x="246888" y="256032"/>
            <a:ext cx="256032" cy="107533"/>
          </a:xfrm>
          <a:prstGeom prst="ellipse">
            <a:avLst/>
          </a:prstGeom>
          <a:solidFill>
            <a:srgbClr val="2A79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rot="19500000">
            <a:off x="-100584" y="411479"/>
            <a:ext cx="219456" cy="92171"/>
          </a:xfrm>
          <a:prstGeom prst="ellipse">
            <a:avLst/>
          </a:prstGeom>
          <a:solidFill>
            <a:srgbClr val="5BB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rot="1500000">
            <a:off x="155448" y="566928"/>
            <a:ext cx="201168" cy="84490"/>
          </a:xfrm>
          <a:prstGeom prst="ellipse">
            <a:avLst/>
          </a:prstGeom>
          <a:solidFill>
            <a:srgbClr val="2A79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rot="19500000">
            <a:off x="-210312" y="685800"/>
            <a:ext cx="201168" cy="84490"/>
          </a:xfrm>
          <a:prstGeom prst="ellipse">
            <a:avLst/>
          </a:prstGeom>
          <a:solidFill>
            <a:srgbClr val="5BB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0" name="Connector 9"/>
          <p:cNvCxnSpPr/>
          <p:nvPr/>
        </p:nvCxnSpPr>
        <p:spPr>
          <a:xfrm flipH="1">
            <a:off x="64008" y="109728"/>
            <a:ext cx="73152" cy="758952"/>
          </a:xfrm>
          <a:prstGeom prst="line">
            <a:avLst/>
          </a:prstGeom>
          <a:ln w="13970">
            <a:solidFill>
              <a:srgbClr val="2A79A3"/>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502920" y="329184"/>
            <a:ext cx="502920" cy="329184"/>
          </a:xfrm>
          <a:prstGeom prst="roundRect">
            <a:avLst>
              <a:gd name="adj" fmla="val 12000"/>
            </a:avLst>
          </a:prstGeom>
          <a:solidFill>
            <a:srgbClr val="D7F0F8"/>
          </a:solidFill>
          <a:ln>
            <a:solidFill>
              <a:srgbClr val="D7F0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21208" y="347472"/>
            <a:ext cx="466344" cy="274320"/>
          </a:xfrm>
          <a:prstGeom prst="rect">
            <a:avLst/>
          </a:prstGeom>
          <a:noFill/>
        </p:spPr>
        <p:txBody>
          <a:bodyPr wrap="square" lIns="41148" tIns="22860" rIns="41148" bIns="22860" anchor="ctr">
            <a:spAutoFit/>
          </a:bodyPr>
          <a:lstStyle/>
          <a:p>
            <a:pPr algn="ctr"/>
            <a:r>
              <a:rPr sz="1000" b="1" i="0">
                <a:solidFill>
                  <a:srgbClr val="10395C"/>
                </a:solidFill>
                <a:latin typeface="Aptos"/>
              </a:rPr>
              <a:t>18</a:t>
            </a:r>
          </a:p>
        </p:txBody>
      </p:sp>
      <p:sp>
        <p:nvSpPr>
          <p:cNvPr id="13" name="TextBox 12"/>
          <p:cNvSpPr txBox="1"/>
          <p:nvPr/>
        </p:nvSpPr>
        <p:spPr>
          <a:xfrm>
            <a:off x="1115568" y="274320"/>
            <a:ext cx="9875520" cy="438912"/>
          </a:xfrm>
          <a:prstGeom prst="rect">
            <a:avLst/>
          </a:prstGeom>
          <a:noFill/>
        </p:spPr>
        <p:txBody>
          <a:bodyPr wrap="square" lIns="41148" tIns="22860" rIns="41148" bIns="22860" anchor="t">
            <a:spAutoFit/>
          </a:bodyPr>
          <a:lstStyle/>
          <a:p>
            <a:pPr algn="l"/>
            <a:r>
              <a:rPr sz="2300" b="1" i="0">
                <a:solidFill>
                  <a:srgbClr val="10395C"/>
                </a:solidFill>
                <a:latin typeface="Aptos"/>
              </a:rPr>
              <a:t>Advantages, Limitations &amp; Future Scope</a:t>
            </a:r>
          </a:p>
        </p:txBody>
      </p:sp>
      <p:sp>
        <p:nvSpPr>
          <p:cNvPr id="14" name="TextBox 13"/>
          <p:cNvSpPr txBox="1"/>
          <p:nvPr/>
        </p:nvSpPr>
        <p:spPr>
          <a:xfrm>
            <a:off x="1133856" y="758952"/>
            <a:ext cx="9418320" cy="274320"/>
          </a:xfrm>
          <a:prstGeom prst="rect">
            <a:avLst/>
          </a:prstGeom>
          <a:noFill/>
        </p:spPr>
        <p:txBody>
          <a:bodyPr wrap="square" lIns="41148" tIns="22860" rIns="41148" bIns="22860" anchor="t">
            <a:spAutoFit/>
          </a:bodyPr>
          <a:lstStyle/>
          <a:p>
            <a:pPr algn="l"/>
            <a:r>
              <a:rPr sz="1080" b="0" i="0">
                <a:solidFill>
                  <a:srgbClr val="5D7684"/>
                </a:solidFill>
                <a:latin typeface="Aptos"/>
              </a:rPr>
              <a:t>What works now and what can be added later</a:t>
            </a:r>
          </a:p>
        </p:txBody>
      </p:sp>
      <p:sp>
        <p:nvSpPr>
          <p:cNvPr id="15" name="Rectangle 14"/>
          <p:cNvSpPr/>
          <p:nvPr/>
        </p:nvSpPr>
        <p:spPr>
          <a:xfrm>
            <a:off x="1133856" y="1060704"/>
            <a:ext cx="1051560" cy="32004"/>
          </a:xfrm>
          <a:prstGeom prst="rect">
            <a:avLst/>
          </a:prstGeom>
          <a:solidFill>
            <a:srgbClr val="5BB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502920" y="1389888"/>
            <a:ext cx="3584448" cy="4681728"/>
          </a:xfrm>
          <a:prstGeom prst="roundRect">
            <a:avLst>
              <a:gd name="adj" fmla="val 12000"/>
            </a:avLst>
          </a:prstGeom>
          <a:solidFill>
            <a:srgbClr val="FFFFFF"/>
          </a:solidFill>
          <a:ln>
            <a:solidFill>
              <a:srgbClr val="C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758952" y="1700784"/>
            <a:ext cx="3072384" cy="329184"/>
          </a:xfrm>
          <a:prstGeom prst="roundRect">
            <a:avLst>
              <a:gd name="adj" fmla="val 12000"/>
            </a:avLst>
          </a:prstGeom>
          <a:solidFill>
            <a:srgbClr val="E1F8F1"/>
          </a:solidFill>
          <a:ln>
            <a:solidFill>
              <a:srgbClr val="E1F8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77240" y="1719072"/>
            <a:ext cx="3035808" cy="274320"/>
          </a:xfrm>
          <a:prstGeom prst="rect">
            <a:avLst/>
          </a:prstGeom>
          <a:noFill/>
        </p:spPr>
        <p:txBody>
          <a:bodyPr wrap="square" lIns="41148" tIns="22860" rIns="41148" bIns="22860" anchor="ctr">
            <a:spAutoFit/>
          </a:bodyPr>
          <a:lstStyle/>
          <a:p>
            <a:pPr algn="ctr"/>
            <a:r>
              <a:rPr sz="880" b="1" i="0">
                <a:solidFill>
                  <a:srgbClr val="10395C"/>
                </a:solidFill>
                <a:latin typeface="Aptos"/>
              </a:rPr>
              <a:t>ADVANTAGES</a:t>
            </a:r>
          </a:p>
        </p:txBody>
      </p:sp>
      <p:sp>
        <p:nvSpPr>
          <p:cNvPr id="19" name="Oval 18"/>
          <p:cNvSpPr/>
          <p:nvPr/>
        </p:nvSpPr>
        <p:spPr>
          <a:xfrm>
            <a:off x="832104" y="2240280"/>
            <a:ext cx="228600" cy="228600"/>
          </a:xfrm>
          <a:prstGeom prst="ellipse">
            <a:avLst/>
          </a:prstGeom>
          <a:solidFill>
            <a:srgbClr val="E1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32104" y="2240280"/>
            <a:ext cx="228600" cy="228600"/>
          </a:xfrm>
          <a:prstGeom prst="rect">
            <a:avLst/>
          </a:prstGeom>
          <a:noFill/>
        </p:spPr>
        <p:txBody>
          <a:bodyPr wrap="square" lIns="41148" tIns="22860" rIns="41148" bIns="22860" anchor="ctr">
            <a:spAutoFit/>
          </a:bodyPr>
          <a:lstStyle/>
          <a:p>
            <a:pPr algn="ctr"/>
            <a:r>
              <a:rPr sz="750" b="1" i="0">
                <a:solidFill>
                  <a:srgbClr val="499D7E"/>
                </a:solidFill>
                <a:latin typeface="Aptos"/>
              </a:rPr>
              <a:t>✓</a:t>
            </a:r>
          </a:p>
        </p:txBody>
      </p:sp>
      <p:sp>
        <p:nvSpPr>
          <p:cNvPr id="21" name="TextBox 20"/>
          <p:cNvSpPr txBox="1"/>
          <p:nvPr/>
        </p:nvSpPr>
        <p:spPr>
          <a:xfrm>
            <a:off x="1216152" y="2212848"/>
            <a:ext cx="2487168" cy="310896"/>
          </a:xfrm>
          <a:prstGeom prst="rect">
            <a:avLst/>
          </a:prstGeom>
          <a:noFill/>
        </p:spPr>
        <p:txBody>
          <a:bodyPr wrap="square" lIns="41148" tIns="22860" rIns="41148" bIns="22860" anchor="t">
            <a:spAutoFit/>
          </a:bodyPr>
          <a:lstStyle/>
          <a:p>
            <a:pPr algn="l"/>
            <a:r>
              <a:rPr sz="1000" b="0" i="0">
                <a:solidFill>
                  <a:srgbClr val="273D4E"/>
                </a:solidFill>
                <a:latin typeface="Aptos"/>
              </a:rPr>
              <a:t>Saves time</a:t>
            </a:r>
          </a:p>
        </p:txBody>
      </p:sp>
      <p:sp>
        <p:nvSpPr>
          <p:cNvPr id="22" name="Oval 21"/>
          <p:cNvSpPr/>
          <p:nvPr/>
        </p:nvSpPr>
        <p:spPr>
          <a:xfrm>
            <a:off x="832104" y="2679192"/>
            <a:ext cx="228600" cy="228600"/>
          </a:xfrm>
          <a:prstGeom prst="ellipse">
            <a:avLst/>
          </a:prstGeom>
          <a:solidFill>
            <a:srgbClr val="E1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32104" y="2679192"/>
            <a:ext cx="228600" cy="228600"/>
          </a:xfrm>
          <a:prstGeom prst="rect">
            <a:avLst/>
          </a:prstGeom>
          <a:noFill/>
        </p:spPr>
        <p:txBody>
          <a:bodyPr wrap="square" lIns="41148" tIns="22860" rIns="41148" bIns="22860" anchor="ctr">
            <a:spAutoFit/>
          </a:bodyPr>
          <a:lstStyle/>
          <a:p>
            <a:pPr algn="ctr"/>
            <a:r>
              <a:rPr sz="750" b="1" i="0">
                <a:solidFill>
                  <a:srgbClr val="499D7E"/>
                </a:solidFill>
                <a:latin typeface="Aptos"/>
              </a:rPr>
              <a:t>✓</a:t>
            </a:r>
          </a:p>
        </p:txBody>
      </p:sp>
      <p:sp>
        <p:nvSpPr>
          <p:cNvPr id="24" name="TextBox 23"/>
          <p:cNvSpPr txBox="1"/>
          <p:nvPr/>
        </p:nvSpPr>
        <p:spPr>
          <a:xfrm>
            <a:off x="1216152" y="2651760"/>
            <a:ext cx="2487168" cy="310896"/>
          </a:xfrm>
          <a:prstGeom prst="rect">
            <a:avLst/>
          </a:prstGeom>
          <a:noFill/>
        </p:spPr>
        <p:txBody>
          <a:bodyPr wrap="square" lIns="41148" tIns="22860" rIns="41148" bIns="22860" anchor="t">
            <a:spAutoFit/>
          </a:bodyPr>
          <a:lstStyle/>
          <a:p>
            <a:pPr algn="l"/>
            <a:r>
              <a:rPr sz="1000" b="0" i="0">
                <a:solidFill>
                  <a:srgbClr val="273D4E"/>
                </a:solidFill>
                <a:latin typeface="Aptos"/>
              </a:rPr>
              <a:t>Reduces manual errors</a:t>
            </a:r>
          </a:p>
        </p:txBody>
      </p:sp>
      <p:sp>
        <p:nvSpPr>
          <p:cNvPr id="25" name="Oval 24"/>
          <p:cNvSpPr/>
          <p:nvPr/>
        </p:nvSpPr>
        <p:spPr>
          <a:xfrm>
            <a:off x="832104" y="3118104"/>
            <a:ext cx="228600" cy="228600"/>
          </a:xfrm>
          <a:prstGeom prst="ellipse">
            <a:avLst/>
          </a:prstGeom>
          <a:solidFill>
            <a:srgbClr val="E1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32104" y="3118104"/>
            <a:ext cx="228600" cy="228600"/>
          </a:xfrm>
          <a:prstGeom prst="rect">
            <a:avLst/>
          </a:prstGeom>
          <a:noFill/>
        </p:spPr>
        <p:txBody>
          <a:bodyPr wrap="square" lIns="41148" tIns="22860" rIns="41148" bIns="22860" anchor="ctr">
            <a:spAutoFit/>
          </a:bodyPr>
          <a:lstStyle/>
          <a:p>
            <a:pPr algn="ctr"/>
            <a:r>
              <a:rPr sz="750" b="1" i="0">
                <a:solidFill>
                  <a:srgbClr val="499D7E"/>
                </a:solidFill>
                <a:latin typeface="Aptos"/>
              </a:rPr>
              <a:t>✓</a:t>
            </a:r>
          </a:p>
        </p:txBody>
      </p:sp>
      <p:sp>
        <p:nvSpPr>
          <p:cNvPr id="27" name="TextBox 26"/>
          <p:cNvSpPr txBox="1"/>
          <p:nvPr/>
        </p:nvSpPr>
        <p:spPr>
          <a:xfrm>
            <a:off x="1216152" y="3090672"/>
            <a:ext cx="2487168" cy="310896"/>
          </a:xfrm>
          <a:prstGeom prst="rect">
            <a:avLst/>
          </a:prstGeom>
          <a:noFill/>
        </p:spPr>
        <p:txBody>
          <a:bodyPr wrap="square" lIns="41148" tIns="22860" rIns="41148" bIns="22860" anchor="t">
            <a:spAutoFit/>
          </a:bodyPr>
          <a:lstStyle/>
          <a:p>
            <a:pPr algn="l"/>
            <a:r>
              <a:rPr sz="1000" b="0" i="0">
                <a:solidFill>
                  <a:srgbClr val="273D4E"/>
                </a:solidFill>
                <a:latin typeface="Aptos"/>
              </a:rPr>
              <a:t>Easy course discovery</a:t>
            </a:r>
          </a:p>
        </p:txBody>
      </p:sp>
      <p:sp>
        <p:nvSpPr>
          <p:cNvPr id="28" name="Oval 27"/>
          <p:cNvSpPr/>
          <p:nvPr/>
        </p:nvSpPr>
        <p:spPr>
          <a:xfrm>
            <a:off x="832104" y="3557016"/>
            <a:ext cx="228600" cy="228600"/>
          </a:xfrm>
          <a:prstGeom prst="ellipse">
            <a:avLst/>
          </a:prstGeom>
          <a:solidFill>
            <a:srgbClr val="E1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32104" y="3557016"/>
            <a:ext cx="228600" cy="228600"/>
          </a:xfrm>
          <a:prstGeom prst="rect">
            <a:avLst/>
          </a:prstGeom>
          <a:noFill/>
        </p:spPr>
        <p:txBody>
          <a:bodyPr wrap="square" lIns="41148" tIns="22860" rIns="41148" bIns="22860" anchor="ctr">
            <a:spAutoFit/>
          </a:bodyPr>
          <a:lstStyle/>
          <a:p>
            <a:pPr algn="ctr"/>
            <a:r>
              <a:rPr sz="750" b="1" i="0">
                <a:solidFill>
                  <a:srgbClr val="499D7E"/>
                </a:solidFill>
                <a:latin typeface="Aptos"/>
              </a:rPr>
              <a:t>✓</a:t>
            </a:r>
          </a:p>
        </p:txBody>
      </p:sp>
      <p:sp>
        <p:nvSpPr>
          <p:cNvPr id="30" name="TextBox 29"/>
          <p:cNvSpPr txBox="1"/>
          <p:nvPr/>
        </p:nvSpPr>
        <p:spPr>
          <a:xfrm>
            <a:off x="1216152" y="3529584"/>
            <a:ext cx="2487168" cy="310896"/>
          </a:xfrm>
          <a:prstGeom prst="rect">
            <a:avLst/>
          </a:prstGeom>
          <a:noFill/>
        </p:spPr>
        <p:txBody>
          <a:bodyPr wrap="square" lIns="41148" tIns="22860" rIns="41148" bIns="22860" anchor="t">
            <a:spAutoFit/>
          </a:bodyPr>
          <a:lstStyle/>
          <a:p>
            <a:pPr algn="l"/>
            <a:r>
              <a:rPr sz="1000" b="0" i="0">
                <a:solidFill>
                  <a:srgbClr val="273D4E"/>
                </a:solidFill>
                <a:latin typeface="Aptos"/>
              </a:rPr>
              <a:t>Clear timetable visualization</a:t>
            </a:r>
          </a:p>
        </p:txBody>
      </p:sp>
      <p:sp>
        <p:nvSpPr>
          <p:cNvPr id="31" name="Oval 30"/>
          <p:cNvSpPr/>
          <p:nvPr/>
        </p:nvSpPr>
        <p:spPr>
          <a:xfrm>
            <a:off x="832104" y="3995928"/>
            <a:ext cx="228600" cy="228600"/>
          </a:xfrm>
          <a:prstGeom prst="ellipse">
            <a:avLst/>
          </a:prstGeom>
          <a:solidFill>
            <a:srgbClr val="E1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32104" y="3995928"/>
            <a:ext cx="228600" cy="228600"/>
          </a:xfrm>
          <a:prstGeom prst="rect">
            <a:avLst/>
          </a:prstGeom>
          <a:noFill/>
        </p:spPr>
        <p:txBody>
          <a:bodyPr wrap="square" lIns="41148" tIns="22860" rIns="41148" bIns="22860" anchor="ctr">
            <a:spAutoFit/>
          </a:bodyPr>
          <a:lstStyle/>
          <a:p>
            <a:pPr algn="ctr"/>
            <a:r>
              <a:rPr sz="750" b="1" i="0">
                <a:solidFill>
                  <a:srgbClr val="499D7E"/>
                </a:solidFill>
                <a:latin typeface="Aptos"/>
              </a:rPr>
              <a:t>✓</a:t>
            </a:r>
          </a:p>
        </p:txBody>
      </p:sp>
      <p:sp>
        <p:nvSpPr>
          <p:cNvPr id="33" name="TextBox 32"/>
          <p:cNvSpPr txBox="1"/>
          <p:nvPr/>
        </p:nvSpPr>
        <p:spPr>
          <a:xfrm>
            <a:off x="1216152" y="3968496"/>
            <a:ext cx="2487168" cy="310896"/>
          </a:xfrm>
          <a:prstGeom prst="rect">
            <a:avLst/>
          </a:prstGeom>
          <a:noFill/>
        </p:spPr>
        <p:txBody>
          <a:bodyPr wrap="square" lIns="41148" tIns="22860" rIns="41148" bIns="22860" anchor="t">
            <a:spAutoFit/>
          </a:bodyPr>
          <a:lstStyle/>
          <a:p>
            <a:pPr algn="l"/>
            <a:r>
              <a:rPr sz="1000" b="0" i="0">
                <a:solidFill>
                  <a:srgbClr val="273D4E"/>
                </a:solidFill>
                <a:latin typeface="Aptos"/>
              </a:rPr>
              <a:t>Automatic clash detection</a:t>
            </a:r>
          </a:p>
        </p:txBody>
      </p:sp>
      <p:sp>
        <p:nvSpPr>
          <p:cNvPr id="34" name="Oval 33"/>
          <p:cNvSpPr/>
          <p:nvPr/>
        </p:nvSpPr>
        <p:spPr>
          <a:xfrm>
            <a:off x="832104" y="4434840"/>
            <a:ext cx="228600" cy="228600"/>
          </a:xfrm>
          <a:prstGeom prst="ellipse">
            <a:avLst/>
          </a:prstGeom>
          <a:solidFill>
            <a:srgbClr val="E1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832104" y="4434840"/>
            <a:ext cx="228600" cy="228600"/>
          </a:xfrm>
          <a:prstGeom prst="rect">
            <a:avLst/>
          </a:prstGeom>
          <a:noFill/>
        </p:spPr>
        <p:txBody>
          <a:bodyPr wrap="square" lIns="41148" tIns="22860" rIns="41148" bIns="22860" anchor="ctr">
            <a:spAutoFit/>
          </a:bodyPr>
          <a:lstStyle/>
          <a:p>
            <a:pPr algn="ctr"/>
            <a:r>
              <a:rPr sz="750" b="1" i="0">
                <a:solidFill>
                  <a:srgbClr val="499D7E"/>
                </a:solidFill>
                <a:latin typeface="Aptos"/>
              </a:rPr>
              <a:t>✓</a:t>
            </a:r>
          </a:p>
        </p:txBody>
      </p:sp>
      <p:sp>
        <p:nvSpPr>
          <p:cNvPr id="36" name="TextBox 35"/>
          <p:cNvSpPr txBox="1"/>
          <p:nvPr/>
        </p:nvSpPr>
        <p:spPr>
          <a:xfrm>
            <a:off x="1216152" y="4407408"/>
            <a:ext cx="2487168" cy="310896"/>
          </a:xfrm>
          <a:prstGeom prst="rect">
            <a:avLst/>
          </a:prstGeom>
          <a:noFill/>
        </p:spPr>
        <p:txBody>
          <a:bodyPr wrap="square" lIns="41148" tIns="22860" rIns="41148" bIns="22860" anchor="t">
            <a:spAutoFit/>
          </a:bodyPr>
          <a:lstStyle/>
          <a:p>
            <a:pPr algn="l"/>
            <a:r>
              <a:rPr sz="1000" b="0" i="0">
                <a:solidFill>
                  <a:srgbClr val="273D4E"/>
                </a:solidFill>
                <a:latin typeface="Aptos"/>
              </a:rPr>
              <a:t>Centralized management</a:t>
            </a:r>
          </a:p>
        </p:txBody>
      </p:sp>
      <p:sp>
        <p:nvSpPr>
          <p:cNvPr id="37" name="Rounded Rectangle 36"/>
          <p:cNvSpPr/>
          <p:nvPr/>
        </p:nvSpPr>
        <p:spPr>
          <a:xfrm>
            <a:off x="4389120" y="1389888"/>
            <a:ext cx="3584448" cy="4681728"/>
          </a:xfrm>
          <a:prstGeom prst="roundRect">
            <a:avLst>
              <a:gd name="adj" fmla="val 12000"/>
            </a:avLst>
          </a:prstGeom>
          <a:solidFill>
            <a:srgbClr val="FFFFFF"/>
          </a:solidFill>
          <a:ln>
            <a:solidFill>
              <a:srgbClr val="C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ounded Rectangle 37"/>
          <p:cNvSpPr/>
          <p:nvPr/>
        </p:nvSpPr>
        <p:spPr>
          <a:xfrm>
            <a:off x="4645152" y="1700784"/>
            <a:ext cx="3072384" cy="329184"/>
          </a:xfrm>
          <a:prstGeom prst="roundRect">
            <a:avLst>
              <a:gd name="adj" fmla="val 12000"/>
            </a:avLst>
          </a:prstGeom>
          <a:solidFill>
            <a:srgbClr val="FDEDE5"/>
          </a:solidFill>
          <a:ln>
            <a:solidFill>
              <a:srgbClr val="FDED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663440" y="1719072"/>
            <a:ext cx="3035808" cy="274320"/>
          </a:xfrm>
          <a:prstGeom prst="rect">
            <a:avLst/>
          </a:prstGeom>
          <a:noFill/>
        </p:spPr>
        <p:txBody>
          <a:bodyPr wrap="square" lIns="41148" tIns="22860" rIns="41148" bIns="22860" anchor="ctr">
            <a:spAutoFit/>
          </a:bodyPr>
          <a:lstStyle/>
          <a:p>
            <a:pPr algn="ctr"/>
            <a:r>
              <a:rPr sz="880" b="1" i="0">
                <a:solidFill>
                  <a:srgbClr val="10395C"/>
                </a:solidFill>
                <a:latin typeface="Aptos"/>
              </a:rPr>
              <a:t>LIMITATIONS</a:t>
            </a:r>
          </a:p>
        </p:txBody>
      </p:sp>
      <p:sp>
        <p:nvSpPr>
          <p:cNvPr id="40" name="Oval 39"/>
          <p:cNvSpPr/>
          <p:nvPr/>
        </p:nvSpPr>
        <p:spPr>
          <a:xfrm>
            <a:off x="4718304" y="2240280"/>
            <a:ext cx="228600" cy="228600"/>
          </a:xfrm>
          <a:prstGeom prst="ellipse">
            <a:avLst/>
          </a:prstGeom>
          <a:solidFill>
            <a:srgbClr val="FDED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4718304" y="2240280"/>
            <a:ext cx="228600" cy="228600"/>
          </a:xfrm>
          <a:prstGeom prst="rect">
            <a:avLst/>
          </a:prstGeom>
          <a:noFill/>
        </p:spPr>
        <p:txBody>
          <a:bodyPr wrap="square" lIns="41148" tIns="22860" rIns="41148" bIns="22860" anchor="ctr">
            <a:spAutoFit/>
          </a:bodyPr>
          <a:lstStyle/>
          <a:p>
            <a:pPr algn="ctr"/>
            <a:r>
              <a:rPr sz="750" b="1" i="0">
                <a:solidFill>
                  <a:srgbClr val="DA6873"/>
                </a:solidFill>
                <a:latin typeface="Aptos"/>
              </a:rPr>
              <a:t>•</a:t>
            </a:r>
          </a:p>
        </p:txBody>
      </p:sp>
      <p:sp>
        <p:nvSpPr>
          <p:cNvPr id="42" name="TextBox 41"/>
          <p:cNvSpPr txBox="1"/>
          <p:nvPr/>
        </p:nvSpPr>
        <p:spPr>
          <a:xfrm>
            <a:off x="5102352" y="2212848"/>
            <a:ext cx="2487168" cy="310896"/>
          </a:xfrm>
          <a:prstGeom prst="rect">
            <a:avLst/>
          </a:prstGeom>
          <a:noFill/>
        </p:spPr>
        <p:txBody>
          <a:bodyPr wrap="square" lIns="41148" tIns="22860" rIns="41148" bIns="22860" anchor="t">
            <a:spAutoFit/>
          </a:bodyPr>
          <a:lstStyle/>
          <a:p>
            <a:pPr algn="l"/>
            <a:r>
              <a:rPr sz="1000" b="0" i="0">
                <a:solidFill>
                  <a:srgbClr val="273D4E"/>
                </a:solidFill>
                <a:latin typeface="Aptos"/>
              </a:rPr>
              <a:t>Needs updated course data</a:t>
            </a:r>
          </a:p>
        </p:txBody>
      </p:sp>
      <p:sp>
        <p:nvSpPr>
          <p:cNvPr id="43" name="Oval 42"/>
          <p:cNvSpPr/>
          <p:nvPr/>
        </p:nvSpPr>
        <p:spPr>
          <a:xfrm>
            <a:off x="4718304" y="2679192"/>
            <a:ext cx="228600" cy="228600"/>
          </a:xfrm>
          <a:prstGeom prst="ellipse">
            <a:avLst/>
          </a:prstGeom>
          <a:solidFill>
            <a:srgbClr val="FDED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4718304" y="2679192"/>
            <a:ext cx="228600" cy="228600"/>
          </a:xfrm>
          <a:prstGeom prst="rect">
            <a:avLst/>
          </a:prstGeom>
          <a:noFill/>
        </p:spPr>
        <p:txBody>
          <a:bodyPr wrap="square" lIns="41148" tIns="22860" rIns="41148" bIns="22860" anchor="ctr">
            <a:spAutoFit/>
          </a:bodyPr>
          <a:lstStyle/>
          <a:p>
            <a:pPr algn="ctr"/>
            <a:r>
              <a:rPr sz="750" b="1" i="0">
                <a:solidFill>
                  <a:srgbClr val="DA6873"/>
                </a:solidFill>
                <a:latin typeface="Aptos"/>
              </a:rPr>
              <a:t>•</a:t>
            </a:r>
          </a:p>
        </p:txBody>
      </p:sp>
      <p:sp>
        <p:nvSpPr>
          <p:cNvPr id="45" name="TextBox 44"/>
          <p:cNvSpPr txBox="1"/>
          <p:nvPr/>
        </p:nvSpPr>
        <p:spPr>
          <a:xfrm>
            <a:off x="5102352" y="2651760"/>
            <a:ext cx="2487168" cy="310896"/>
          </a:xfrm>
          <a:prstGeom prst="rect">
            <a:avLst/>
          </a:prstGeom>
          <a:noFill/>
        </p:spPr>
        <p:txBody>
          <a:bodyPr wrap="square" lIns="41148" tIns="22860" rIns="41148" bIns="22860" anchor="t">
            <a:spAutoFit/>
          </a:bodyPr>
          <a:lstStyle/>
          <a:p>
            <a:pPr algn="l"/>
            <a:r>
              <a:rPr sz="1000" b="0" i="0">
                <a:solidFill>
                  <a:srgbClr val="273D4E"/>
                </a:solidFill>
                <a:latin typeface="Aptos"/>
              </a:rPr>
              <a:t>Online deployment needs network access</a:t>
            </a:r>
          </a:p>
        </p:txBody>
      </p:sp>
      <p:sp>
        <p:nvSpPr>
          <p:cNvPr id="46" name="Oval 45"/>
          <p:cNvSpPr/>
          <p:nvPr/>
        </p:nvSpPr>
        <p:spPr>
          <a:xfrm>
            <a:off x="4718304" y="3118104"/>
            <a:ext cx="228600" cy="228600"/>
          </a:xfrm>
          <a:prstGeom prst="ellipse">
            <a:avLst/>
          </a:prstGeom>
          <a:solidFill>
            <a:srgbClr val="FDED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4718304" y="3118104"/>
            <a:ext cx="228600" cy="228600"/>
          </a:xfrm>
          <a:prstGeom prst="rect">
            <a:avLst/>
          </a:prstGeom>
          <a:noFill/>
        </p:spPr>
        <p:txBody>
          <a:bodyPr wrap="square" lIns="41148" tIns="22860" rIns="41148" bIns="22860" anchor="ctr">
            <a:spAutoFit/>
          </a:bodyPr>
          <a:lstStyle/>
          <a:p>
            <a:pPr algn="ctr"/>
            <a:r>
              <a:rPr sz="750" b="1" i="0">
                <a:solidFill>
                  <a:srgbClr val="DA6873"/>
                </a:solidFill>
                <a:latin typeface="Aptos"/>
              </a:rPr>
              <a:t>•</a:t>
            </a:r>
          </a:p>
        </p:txBody>
      </p:sp>
      <p:sp>
        <p:nvSpPr>
          <p:cNvPr id="48" name="TextBox 47"/>
          <p:cNvSpPr txBox="1"/>
          <p:nvPr/>
        </p:nvSpPr>
        <p:spPr>
          <a:xfrm>
            <a:off x="5102352" y="3090672"/>
            <a:ext cx="2487168" cy="310896"/>
          </a:xfrm>
          <a:prstGeom prst="rect">
            <a:avLst/>
          </a:prstGeom>
          <a:noFill/>
        </p:spPr>
        <p:txBody>
          <a:bodyPr wrap="square" lIns="41148" tIns="22860" rIns="41148" bIns="22860" anchor="t">
            <a:spAutoFit/>
          </a:bodyPr>
          <a:lstStyle/>
          <a:p>
            <a:pPr algn="l"/>
            <a:r>
              <a:rPr sz="1000" b="0" i="0">
                <a:solidFill>
                  <a:srgbClr val="273D4E"/>
                </a:solidFill>
                <a:latin typeface="Aptos"/>
              </a:rPr>
              <a:t>Initial version may not integrate with university systems</a:t>
            </a:r>
          </a:p>
        </p:txBody>
      </p:sp>
      <p:sp>
        <p:nvSpPr>
          <p:cNvPr id="49" name="Oval 48"/>
          <p:cNvSpPr/>
          <p:nvPr/>
        </p:nvSpPr>
        <p:spPr>
          <a:xfrm>
            <a:off x="4718304" y="3557016"/>
            <a:ext cx="228600" cy="228600"/>
          </a:xfrm>
          <a:prstGeom prst="ellipse">
            <a:avLst/>
          </a:prstGeom>
          <a:solidFill>
            <a:srgbClr val="FDED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4718304" y="3557016"/>
            <a:ext cx="228600" cy="228600"/>
          </a:xfrm>
          <a:prstGeom prst="rect">
            <a:avLst/>
          </a:prstGeom>
          <a:noFill/>
        </p:spPr>
        <p:txBody>
          <a:bodyPr wrap="square" lIns="41148" tIns="22860" rIns="41148" bIns="22860" anchor="ctr">
            <a:spAutoFit/>
          </a:bodyPr>
          <a:lstStyle/>
          <a:p>
            <a:pPr algn="ctr"/>
            <a:r>
              <a:rPr sz="750" b="1" i="0">
                <a:solidFill>
                  <a:srgbClr val="DA6873"/>
                </a:solidFill>
                <a:latin typeface="Aptos"/>
              </a:rPr>
              <a:t>•</a:t>
            </a:r>
          </a:p>
        </p:txBody>
      </p:sp>
      <p:sp>
        <p:nvSpPr>
          <p:cNvPr id="51" name="TextBox 50"/>
          <p:cNvSpPr txBox="1"/>
          <p:nvPr/>
        </p:nvSpPr>
        <p:spPr>
          <a:xfrm>
            <a:off x="5102352" y="3529584"/>
            <a:ext cx="2487168" cy="310896"/>
          </a:xfrm>
          <a:prstGeom prst="rect">
            <a:avLst/>
          </a:prstGeom>
          <a:noFill/>
        </p:spPr>
        <p:txBody>
          <a:bodyPr wrap="square" lIns="41148" tIns="22860" rIns="41148" bIns="22860" anchor="t">
            <a:spAutoFit/>
          </a:bodyPr>
          <a:lstStyle/>
          <a:p>
            <a:pPr algn="l"/>
            <a:r>
              <a:rPr sz="1000" b="0" i="0">
                <a:solidFill>
                  <a:srgbClr val="273D4E"/>
                </a:solidFill>
                <a:latin typeface="Aptos"/>
              </a:rPr>
              <a:t>Advanced scheduling requires more complex algorithms</a:t>
            </a:r>
          </a:p>
        </p:txBody>
      </p:sp>
      <p:sp>
        <p:nvSpPr>
          <p:cNvPr id="52" name="Rounded Rectangle 51"/>
          <p:cNvSpPr/>
          <p:nvPr/>
        </p:nvSpPr>
        <p:spPr>
          <a:xfrm>
            <a:off x="8275320" y="1389888"/>
            <a:ext cx="3584448" cy="4681728"/>
          </a:xfrm>
          <a:prstGeom prst="roundRect">
            <a:avLst>
              <a:gd name="adj" fmla="val 12000"/>
            </a:avLst>
          </a:prstGeom>
          <a:solidFill>
            <a:srgbClr val="FFFFFF"/>
          </a:solidFill>
          <a:ln>
            <a:solidFill>
              <a:srgbClr val="C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ounded Rectangle 52"/>
          <p:cNvSpPr/>
          <p:nvPr/>
        </p:nvSpPr>
        <p:spPr>
          <a:xfrm>
            <a:off x="8531352" y="1700784"/>
            <a:ext cx="3072384" cy="329184"/>
          </a:xfrm>
          <a:prstGeom prst="roundRect">
            <a:avLst>
              <a:gd name="adj" fmla="val 12000"/>
            </a:avLst>
          </a:prstGeom>
          <a:solidFill>
            <a:srgbClr val="EDECFC"/>
          </a:solidFill>
          <a:ln>
            <a:solidFill>
              <a:srgbClr val="EDEC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8549640" y="1719072"/>
            <a:ext cx="3035808" cy="274320"/>
          </a:xfrm>
          <a:prstGeom prst="rect">
            <a:avLst/>
          </a:prstGeom>
          <a:noFill/>
        </p:spPr>
        <p:txBody>
          <a:bodyPr wrap="square" lIns="41148" tIns="22860" rIns="41148" bIns="22860" anchor="ctr">
            <a:spAutoFit/>
          </a:bodyPr>
          <a:lstStyle/>
          <a:p>
            <a:pPr algn="ctr"/>
            <a:r>
              <a:rPr sz="880" b="1" i="0">
                <a:solidFill>
                  <a:srgbClr val="10395C"/>
                </a:solidFill>
                <a:latin typeface="Aptos"/>
              </a:rPr>
              <a:t>FUTURE SCOPE</a:t>
            </a:r>
          </a:p>
        </p:txBody>
      </p:sp>
      <p:sp>
        <p:nvSpPr>
          <p:cNvPr id="55" name="Oval 54"/>
          <p:cNvSpPr/>
          <p:nvPr/>
        </p:nvSpPr>
        <p:spPr>
          <a:xfrm>
            <a:off x="8604504" y="2240280"/>
            <a:ext cx="228600" cy="228600"/>
          </a:xfrm>
          <a:prstGeom prst="ellipse">
            <a:avLst/>
          </a:prstGeom>
          <a:solidFill>
            <a:srgbClr val="EDE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8604504" y="2240280"/>
            <a:ext cx="228600" cy="228600"/>
          </a:xfrm>
          <a:prstGeom prst="rect">
            <a:avLst/>
          </a:prstGeom>
          <a:noFill/>
        </p:spPr>
        <p:txBody>
          <a:bodyPr wrap="square" lIns="41148" tIns="22860" rIns="41148" bIns="22860" anchor="ctr">
            <a:spAutoFit/>
          </a:bodyPr>
          <a:lstStyle/>
          <a:p>
            <a:pPr algn="ctr"/>
            <a:r>
              <a:rPr sz="750" b="1" i="0">
                <a:solidFill>
                  <a:srgbClr val="2A79A3"/>
                </a:solidFill>
                <a:latin typeface="Aptos"/>
              </a:rPr>
              <a:t>✓</a:t>
            </a:r>
          </a:p>
        </p:txBody>
      </p:sp>
      <p:sp>
        <p:nvSpPr>
          <p:cNvPr id="57" name="TextBox 56"/>
          <p:cNvSpPr txBox="1"/>
          <p:nvPr/>
        </p:nvSpPr>
        <p:spPr>
          <a:xfrm>
            <a:off x="8988552" y="2212848"/>
            <a:ext cx="2487168" cy="310896"/>
          </a:xfrm>
          <a:prstGeom prst="rect">
            <a:avLst/>
          </a:prstGeom>
          <a:noFill/>
        </p:spPr>
        <p:txBody>
          <a:bodyPr wrap="square" lIns="41148" tIns="22860" rIns="41148" bIns="22860" anchor="t">
            <a:spAutoFit/>
          </a:bodyPr>
          <a:lstStyle/>
          <a:p>
            <a:pPr algn="l"/>
            <a:r>
              <a:rPr sz="1000" b="0" i="0">
                <a:solidFill>
                  <a:srgbClr val="273D4E"/>
                </a:solidFill>
                <a:latin typeface="Aptos"/>
              </a:rPr>
              <a:t>Smart timetable generation</a:t>
            </a:r>
          </a:p>
        </p:txBody>
      </p:sp>
      <p:sp>
        <p:nvSpPr>
          <p:cNvPr id="58" name="Oval 57"/>
          <p:cNvSpPr/>
          <p:nvPr/>
        </p:nvSpPr>
        <p:spPr>
          <a:xfrm>
            <a:off x="8604504" y="2679192"/>
            <a:ext cx="228600" cy="228600"/>
          </a:xfrm>
          <a:prstGeom prst="ellipse">
            <a:avLst/>
          </a:prstGeom>
          <a:solidFill>
            <a:srgbClr val="EDE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8604504" y="2679192"/>
            <a:ext cx="228600" cy="228600"/>
          </a:xfrm>
          <a:prstGeom prst="rect">
            <a:avLst/>
          </a:prstGeom>
          <a:noFill/>
        </p:spPr>
        <p:txBody>
          <a:bodyPr wrap="square" lIns="41148" tIns="22860" rIns="41148" bIns="22860" anchor="ctr">
            <a:spAutoFit/>
          </a:bodyPr>
          <a:lstStyle/>
          <a:p>
            <a:pPr algn="ctr"/>
            <a:r>
              <a:rPr sz="750" b="1" i="0">
                <a:solidFill>
                  <a:srgbClr val="2A79A3"/>
                </a:solidFill>
                <a:latin typeface="Aptos"/>
              </a:rPr>
              <a:t>✓</a:t>
            </a:r>
          </a:p>
        </p:txBody>
      </p:sp>
      <p:sp>
        <p:nvSpPr>
          <p:cNvPr id="60" name="TextBox 59"/>
          <p:cNvSpPr txBox="1"/>
          <p:nvPr/>
        </p:nvSpPr>
        <p:spPr>
          <a:xfrm>
            <a:off x="8988552" y="2651760"/>
            <a:ext cx="2487168" cy="310896"/>
          </a:xfrm>
          <a:prstGeom prst="rect">
            <a:avLst/>
          </a:prstGeom>
          <a:noFill/>
        </p:spPr>
        <p:txBody>
          <a:bodyPr wrap="square" lIns="41148" tIns="22860" rIns="41148" bIns="22860" anchor="t">
            <a:spAutoFit/>
          </a:bodyPr>
          <a:lstStyle/>
          <a:p>
            <a:pPr algn="l"/>
            <a:r>
              <a:rPr sz="1000" b="0" i="0">
                <a:solidFill>
                  <a:srgbClr val="273D4E"/>
                </a:solidFill>
                <a:latin typeface="Aptos"/>
              </a:rPr>
              <a:t>Waitlists</a:t>
            </a:r>
          </a:p>
        </p:txBody>
      </p:sp>
      <p:sp>
        <p:nvSpPr>
          <p:cNvPr id="61" name="Oval 60"/>
          <p:cNvSpPr/>
          <p:nvPr/>
        </p:nvSpPr>
        <p:spPr>
          <a:xfrm>
            <a:off x="8604504" y="3118104"/>
            <a:ext cx="228600" cy="228600"/>
          </a:xfrm>
          <a:prstGeom prst="ellipse">
            <a:avLst/>
          </a:prstGeom>
          <a:solidFill>
            <a:srgbClr val="EDE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8604504" y="3118104"/>
            <a:ext cx="228600" cy="228600"/>
          </a:xfrm>
          <a:prstGeom prst="rect">
            <a:avLst/>
          </a:prstGeom>
          <a:noFill/>
        </p:spPr>
        <p:txBody>
          <a:bodyPr wrap="square" lIns="41148" tIns="22860" rIns="41148" bIns="22860" anchor="ctr">
            <a:spAutoFit/>
          </a:bodyPr>
          <a:lstStyle/>
          <a:p>
            <a:pPr algn="ctr"/>
            <a:r>
              <a:rPr sz="750" b="1" i="0">
                <a:solidFill>
                  <a:srgbClr val="2A79A3"/>
                </a:solidFill>
                <a:latin typeface="Aptos"/>
              </a:rPr>
              <a:t>✓</a:t>
            </a:r>
          </a:p>
        </p:txBody>
      </p:sp>
      <p:sp>
        <p:nvSpPr>
          <p:cNvPr id="63" name="TextBox 62"/>
          <p:cNvSpPr txBox="1"/>
          <p:nvPr/>
        </p:nvSpPr>
        <p:spPr>
          <a:xfrm>
            <a:off x="8988552" y="3090672"/>
            <a:ext cx="2487168" cy="310896"/>
          </a:xfrm>
          <a:prstGeom prst="rect">
            <a:avLst/>
          </a:prstGeom>
          <a:noFill/>
        </p:spPr>
        <p:txBody>
          <a:bodyPr wrap="square" lIns="41148" tIns="22860" rIns="41148" bIns="22860" anchor="t">
            <a:spAutoFit/>
          </a:bodyPr>
          <a:lstStyle/>
          <a:p>
            <a:pPr algn="l"/>
            <a:r>
              <a:rPr sz="1000" b="0" i="0">
                <a:solidFill>
                  <a:srgbClr val="273D4E"/>
                </a:solidFill>
                <a:latin typeface="Aptos"/>
              </a:rPr>
              <a:t>Prerequisite checking</a:t>
            </a:r>
          </a:p>
        </p:txBody>
      </p:sp>
      <p:sp>
        <p:nvSpPr>
          <p:cNvPr id="64" name="Oval 63"/>
          <p:cNvSpPr/>
          <p:nvPr/>
        </p:nvSpPr>
        <p:spPr>
          <a:xfrm>
            <a:off x="8604504" y="3557016"/>
            <a:ext cx="228600" cy="228600"/>
          </a:xfrm>
          <a:prstGeom prst="ellipse">
            <a:avLst/>
          </a:prstGeom>
          <a:solidFill>
            <a:srgbClr val="EDE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8604504" y="3557016"/>
            <a:ext cx="228600" cy="228600"/>
          </a:xfrm>
          <a:prstGeom prst="rect">
            <a:avLst/>
          </a:prstGeom>
          <a:noFill/>
        </p:spPr>
        <p:txBody>
          <a:bodyPr wrap="square" lIns="41148" tIns="22860" rIns="41148" bIns="22860" anchor="ctr">
            <a:spAutoFit/>
          </a:bodyPr>
          <a:lstStyle/>
          <a:p>
            <a:pPr algn="ctr"/>
            <a:r>
              <a:rPr sz="750" b="1" i="0">
                <a:solidFill>
                  <a:srgbClr val="2A79A3"/>
                </a:solidFill>
                <a:latin typeface="Aptos"/>
              </a:rPr>
              <a:t>✓</a:t>
            </a:r>
          </a:p>
        </p:txBody>
      </p:sp>
      <p:sp>
        <p:nvSpPr>
          <p:cNvPr id="66" name="TextBox 65"/>
          <p:cNvSpPr txBox="1"/>
          <p:nvPr/>
        </p:nvSpPr>
        <p:spPr>
          <a:xfrm>
            <a:off x="8988552" y="3529584"/>
            <a:ext cx="2487168" cy="310896"/>
          </a:xfrm>
          <a:prstGeom prst="rect">
            <a:avLst/>
          </a:prstGeom>
          <a:noFill/>
        </p:spPr>
        <p:txBody>
          <a:bodyPr wrap="square" lIns="41148" tIns="22860" rIns="41148" bIns="22860" anchor="t">
            <a:spAutoFit/>
          </a:bodyPr>
          <a:lstStyle/>
          <a:p>
            <a:pPr algn="l"/>
            <a:r>
              <a:rPr sz="1000" b="0" i="0">
                <a:solidFill>
                  <a:srgbClr val="273D4E"/>
                </a:solidFill>
                <a:latin typeface="Aptos"/>
              </a:rPr>
              <a:t>Notifications</a:t>
            </a:r>
          </a:p>
        </p:txBody>
      </p:sp>
      <p:sp>
        <p:nvSpPr>
          <p:cNvPr id="67" name="Oval 66"/>
          <p:cNvSpPr/>
          <p:nvPr/>
        </p:nvSpPr>
        <p:spPr>
          <a:xfrm>
            <a:off x="8604504" y="3995928"/>
            <a:ext cx="228600" cy="228600"/>
          </a:xfrm>
          <a:prstGeom prst="ellipse">
            <a:avLst/>
          </a:prstGeom>
          <a:solidFill>
            <a:srgbClr val="EDE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8604504" y="3995928"/>
            <a:ext cx="228600" cy="228600"/>
          </a:xfrm>
          <a:prstGeom prst="rect">
            <a:avLst/>
          </a:prstGeom>
          <a:noFill/>
        </p:spPr>
        <p:txBody>
          <a:bodyPr wrap="square" lIns="41148" tIns="22860" rIns="41148" bIns="22860" anchor="ctr">
            <a:spAutoFit/>
          </a:bodyPr>
          <a:lstStyle/>
          <a:p>
            <a:pPr algn="ctr"/>
            <a:r>
              <a:rPr sz="750" b="1" i="0">
                <a:solidFill>
                  <a:srgbClr val="2A79A3"/>
                </a:solidFill>
                <a:latin typeface="Aptos"/>
              </a:rPr>
              <a:t>✓</a:t>
            </a:r>
          </a:p>
        </p:txBody>
      </p:sp>
      <p:sp>
        <p:nvSpPr>
          <p:cNvPr id="69" name="TextBox 68"/>
          <p:cNvSpPr txBox="1"/>
          <p:nvPr/>
        </p:nvSpPr>
        <p:spPr>
          <a:xfrm>
            <a:off x="8988552" y="3968496"/>
            <a:ext cx="2487168" cy="310896"/>
          </a:xfrm>
          <a:prstGeom prst="rect">
            <a:avLst/>
          </a:prstGeom>
          <a:noFill/>
        </p:spPr>
        <p:txBody>
          <a:bodyPr wrap="square" lIns="41148" tIns="22860" rIns="41148" bIns="22860" anchor="t">
            <a:spAutoFit/>
          </a:bodyPr>
          <a:lstStyle/>
          <a:p>
            <a:pPr algn="l"/>
            <a:r>
              <a:rPr sz="1000" b="0" i="0">
                <a:solidFill>
                  <a:srgbClr val="273D4E"/>
                </a:solidFill>
                <a:latin typeface="Aptos"/>
              </a:rPr>
              <a:t>Mobile app</a:t>
            </a:r>
          </a:p>
        </p:txBody>
      </p:sp>
      <p:sp>
        <p:nvSpPr>
          <p:cNvPr id="70" name="Oval 69"/>
          <p:cNvSpPr/>
          <p:nvPr/>
        </p:nvSpPr>
        <p:spPr>
          <a:xfrm>
            <a:off x="8604504" y="4434840"/>
            <a:ext cx="228600" cy="228600"/>
          </a:xfrm>
          <a:prstGeom prst="ellipse">
            <a:avLst/>
          </a:prstGeom>
          <a:solidFill>
            <a:srgbClr val="EDE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8604504" y="4434840"/>
            <a:ext cx="228600" cy="228600"/>
          </a:xfrm>
          <a:prstGeom prst="rect">
            <a:avLst/>
          </a:prstGeom>
          <a:noFill/>
        </p:spPr>
        <p:txBody>
          <a:bodyPr wrap="square" lIns="41148" tIns="22860" rIns="41148" bIns="22860" anchor="ctr">
            <a:spAutoFit/>
          </a:bodyPr>
          <a:lstStyle/>
          <a:p>
            <a:pPr algn="ctr"/>
            <a:r>
              <a:rPr sz="750" b="1" i="0">
                <a:solidFill>
                  <a:srgbClr val="2A79A3"/>
                </a:solidFill>
                <a:latin typeface="Aptos"/>
              </a:rPr>
              <a:t>✓</a:t>
            </a:r>
          </a:p>
        </p:txBody>
      </p:sp>
      <p:sp>
        <p:nvSpPr>
          <p:cNvPr id="72" name="TextBox 71"/>
          <p:cNvSpPr txBox="1"/>
          <p:nvPr/>
        </p:nvSpPr>
        <p:spPr>
          <a:xfrm>
            <a:off x="8988552" y="4407408"/>
            <a:ext cx="2487168" cy="310896"/>
          </a:xfrm>
          <a:prstGeom prst="rect">
            <a:avLst/>
          </a:prstGeom>
          <a:noFill/>
        </p:spPr>
        <p:txBody>
          <a:bodyPr wrap="square" lIns="41148" tIns="22860" rIns="41148" bIns="22860" anchor="t">
            <a:spAutoFit/>
          </a:bodyPr>
          <a:lstStyle/>
          <a:p>
            <a:pPr algn="l"/>
            <a:r>
              <a:rPr sz="1000" b="0" i="0">
                <a:solidFill>
                  <a:srgbClr val="273D4E"/>
                </a:solidFill>
                <a:latin typeface="Aptos"/>
              </a:rPr>
              <a:t>Calendar sync</a:t>
            </a:r>
          </a:p>
        </p:txBody>
      </p:sp>
      <p:sp>
        <p:nvSpPr>
          <p:cNvPr id="73" name="Oval 72"/>
          <p:cNvSpPr/>
          <p:nvPr/>
        </p:nvSpPr>
        <p:spPr>
          <a:xfrm>
            <a:off x="8604504" y="4873752"/>
            <a:ext cx="228600" cy="228600"/>
          </a:xfrm>
          <a:prstGeom prst="ellipse">
            <a:avLst/>
          </a:prstGeom>
          <a:solidFill>
            <a:srgbClr val="EDE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8604504" y="4873752"/>
            <a:ext cx="228600" cy="228600"/>
          </a:xfrm>
          <a:prstGeom prst="rect">
            <a:avLst/>
          </a:prstGeom>
          <a:noFill/>
        </p:spPr>
        <p:txBody>
          <a:bodyPr wrap="square" lIns="41148" tIns="22860" rIns="41148" bIns="22860" anchor="ctr">
            <a:spAutoFit/>
          </a:bodyPr>
          <a:lstStyle/>
          <a:p>
            <a:pPr algn="ctr"/>
            <a:r>
              <a:rPr sz="750" b="1" i="0">
                <a:solidFill>
                  <a:srgbClr val="2A79A3"/>
                </a:solidFill>
                <a:latin typeface="Aptos"/>
              </a:rPr>
              <a:t>✓</a:t>
            </a:r>
          </a:p>
        </p:txBody>
      </p:sp>
      <p:sp>
        <p:nvSpPr>
          <p:cNvPr id="75" name="TextBox 74"/>
          <p:cNvSpPr txBox="1"/>
          <p:nvPr/>
        </p:nvSpPr>
        <p:spPr>
          <a:xfrm>
            <a:off x="8988552" y="4846320"/>
            <a:ext cx="2487168" cy="310896"/>
          </a:xfrm>
          <a:prstGeom prst="rect">
            <a:avLst/>
          </a:prstGeom>
          <a:noFill/>
        </p:spPr>
        <p:txBody>
          <a:bodyPr wrap="square" lIns="41148" tIns="22860" rIns="41148" bIns="22860" anchor="t">
            <a:spAutoFit/>
          </a:bodyPr>
          <a:lstStyle/>
          <a:p>
            <a:pPr algn="l"/>
            <a:r>
              <a:rPr sz="1000" b="0" i="0">
                <a:solidFill>
                  <a:srgbClr val="273D4E"/>
                </a:solidFill>
                <a:latin typeface="Aptos"/>
              </a:rPr>
              <a:t>AI-assisted recommendations</a:t>
            </a:r>
          </a:p>
        </p:txBody>
      </p:sp>
      <p:sp>
        <p:nvSpPr>
          <p:cNvPr id="76" name="Oval 75"/>
          <p:cNvSpPr/>
          <p:nvPr/>
        </p:nvSpPr>
        <p:spPr>
          <a:xfrm>
            <a:off x="8604504" y="5312664"/>
            <a:ext cx="228600" cy="228600"/>
          </a:xfrm>
          <a:prstGeom prst="ellipse">
            <a:avLst/>
          </a:prstGeom>
          <a:solidFill>
            <a:srgbClr val="EDE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8604504" y="5312664"/>
            <a:ext cx="228600" cy="228600"/>
          </a:xfrm>
          <a:prstGeom prst="rect">
            <a:avLst/>
          </a:prstGeom>
          <a:noFill/>
        </p:spPr>
        <p:txBody>
          <a:bodyPr wrap="square" lIns="41148" tIns="22860" rIns="41148" bIns="22860" anchor="ctr">
            <a:spAutoFit/>
          </a:bodyPr>
          <a:lstStyle/>
          <a:p>
            <a:pPr algn="ctr"/>
            <a:r>
              <a:rPr sz="750" b="1" i="0">
                <a:solidFill>
                  <a:srgbClr val="2A79A3"/>
                </a:solidFill>
                <a:latin typeface="Aptos"/>
              </a:rPr>
              <a:t>✓</a:t>
            </a:r>
          </a:p>
        </p:txBody>
      </p:sp>
      <p:sp>
        <p:nvSpPr>
          <p:cNvPr id="78" name="TextBox 77"/>
          <p:cNvSpPr txBox="1"/>
          <p:nvPr/>
        </p:nvSpPr>
        <p:spPr>
          <a:xfrm>
            <a:off x="8988552" y="5285231"/>
            <a:ext cx="2487168" cy="310896"/>
          </a:xfrm>
          <a:prstGeom prst="rect">
            <a:avLst/>
          </a:prstGeom>
          <a:noFill/>
        </p:spPr>
        <p:txBody>
          <a:bodyPr wrap="square" lIns="41148" tIns="22860" rIns="41148" bIns="22860" anchor="t">
            <a:spAutoFit/>
          </a:bodyPr>
          <a:lstStyle/>
          <a:p>
            <a:pPr algn="l"/>
            <a:r>
              <a:rPr sz="1000" b="0" i="0">
                <a:solidFill>
                  <a:srgbClr val="273D4E"/>
                </a:solidFill>
                <a:latin typeface="Aptos"/>
              </a:rPr>
              <a:t>University-system integration</a:t>
            </a:r>
          </a:p>
        </p:txBody>
      </p:sp>
      <p:sp>
        <p:nvSpPr>
          <p:cNvPr id="79" name="Rounded Rectangle 78"/>
          <p:cNvSpPr/>
          <p:nvPr/>
        </p:nvSpPr>
        <p:spPr>
          <a:xfrm>
            <a:off x="2880360" y="6181344"/>
            <a:ext cx="6400800" cy="329184"/>
          </a:xfrm>
          <a:prstGeom prst="roundRect">
            <a:avLst>
              <a:gd name="adj" fmla="val 12000"/>
            </a:avLst>
          </a:prstGeom>
          <a:solidFill>
            <a:srgbClr val="D7F0F8"/>
          </a:solidFill>
          <a:ln>
            <a:solidFill>
              <a:srgbClr val="D7F0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TextBox 79"/>
          <p:cNvSpPr txBox="1"/>
          <p:nvPr/>
        </p:nvSpPr>
        <p:spPr>
          <a:xfrm>
            <a:off x="2898648" y="6199631"/>
            <a:ext cx="6364224" cy="274320"/>
          </a:xfrm>
          <a:prstGeom prst="rect">
            <a:avLst/>
          </a:prstGeom>
          <a:noFill/>
        </p:spPr>
        <p:txBody>
          <a:bodyPr wrap="square" lIns="41148" tIns="22860" rIns="41148" bIns="22860" anchor="ctr">
            <a:spAutoFit/>
          </a:bodyPr>
          <a:lstStyle/>
          <a:p>
            <a:pPr algn="ctr"/>
            <a:r>
              <a:rPr sz="869" b="1" i="0">
                <a:solidFill>
                  <a:srgbClr val="10395C"/>
                </a:solidFill>
                <a:latin typeface="Aptos"/>
              </a:rPr>
              <a:t>MVP → SMARTER ACADEMIC SCHEDULING PLATFORM</a:t>
            </a:r>
          </a:p>
        </p:txBody>
      </p:sp>
      <p:sp>
        <p:nvSpPr>
          <p:cNvPr id="81" name="TextBox 80"/>
          <p:cNvSpPr txBox="1"/>
          <p:nvPr/>
        </p:nvSpPr>
        <p:spPr>
          <a:xfrm>
            <a:off x="530352" y="6547104"/>
            <a:ext cx="4572000" cy="146304"/>
          </a:xfrm>
          <a:prstGeom prst="rect">
            <a:avLst/>
          </a:prstGeom>
          <a:noFill/>
        </p:spPr>
        <p:txBody>
          <a:bodyPr wrap="square" lIns="41148" tIns="22860" rIns="41148" bIns="22860" anchor="t">
            <a:spAutoFit/>
          </a:bodyPr>
          <a:lstStyle/>
          <a:p>
            <a:pPr algn="l"/>
            <a:r>
              <a:rPr sz="720" b="1" i="0">
                <a:solidFill>
                  <a:srgbClr val="5D7684"/>
                </a:solidFill>
                <a:latin typeface="Aptos"/>
              </a:rPr>
              <a:t>COURSE REGISTRATION &amp; TIMETABLE BUILDER</a:t>
            </a:r>
          </a:p>
        </p:txBody>
      </p:sp>
      <p:sp>
        <p:nvSpPr>
          <p:cNvPr id="82" name="TextBox 81"/>
          <p:cNvSpPr txBox="1"/>
          <p:nvPr/>
        </p:nvSpPr>
        <p:spPr>
          <a:xfrm>
            <a:off x="11201400" y="6510528"/>
            <a:ext cx="384048" cy="182880"/>
          </a:xfrm>
          <a:prstGeom prst="rect">
            <a:avLst/>
          </a:prstGeom>
          <a:noFill/>
        </p:spPr>
        <p:txBody>
          <a:bodyPr wrap="square" lIns="41148" tIns="22860" rIns="41148" bIns="22860" anchor="t">
            <a:spAutoFit/>
          </a:bodyPr>
          <a:lstStyle/>
          <a:p>
            <a:pPr algn="r"/>
            <a:r>
              <a:rPr sz="750" b="1" i="0">
                <a:solidFill>
                  <a:srgbClr val="5D7684"/>
                </a:solidFill>
                <a:latin typeface="Aptos"/>
              </a:rPr>
              <a:t>19</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E1F8F1"/>
        </a:solidFill>
        <a:effectLst/>
      </p:bgPr>
    </p:bg>
    <p:spTree>
      <p:nvGrpSpPr>
        <p:cNvPr id="1" name=""/>
        <p:cNvGrpSpPr/>
        <p:nvPr/>
      </p:nvGrpSpPr>
      <p:grpSpPr>
        <a:xfrm>
          <a:off x="0" y="0"/>
          <a:ext cx="0" cy="0"/>
          <a:chOff x="0" y="0"/>
          <a:chExt cx="0" cy="0"/>
        </a:xfrm>
      </p:grpSpPr>
      <p:sp>
        <p:nvSpPr>
          <p:cNvPr id="2" name="Oval 1"/>
          <p:cNvSpPr/>
          <p:nvPr/>
        </p:nvSpPr>
        <p:spPr>
          <a:xfrm>
            <a:off x="10652760" y="-411480"/>
            <a:ext cx="1920240" cy="1920240"/>
          </a:xfrm>
          <a:prstGeom prst="ellipse">
            <a:avLst/>
          </a:prstGeom>
          <a:solidFill>
            <a:srgbClr val="D7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9875520" y="5623560"/>
            <a:ext cx="2011680" cy="2011680"/>
          </a:xfrm>
          <a:prstGeom prst="ellipse">
            <a:avLst/>
          </a:prstGeom>
          <a:solidFill>
            <a:srgbClr val="E1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411480" y="5715000"/>
            <a:ext cx="1554480" cy="1554480"/>
          </a:xfrm>
          <a:prstGeom prst="ellipse">
            <a:avLst/>
          </a:prstGeom>
          <a:solidFill>
            <a:srgbClr val="EDE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rot="20100000">
            <a:off x="45720" y="91440"/>
            <a:ext cx="228600" cy="96012"/>
          </a:xfrm>
          <a:prstGeom prst="ellipse">
            <a:avLst/>
          </a:prstGeom>
          <a:solidFill>
            <a:srgbClr val="5BB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rot="1500000">
            <a:off x="246888" y="256032"/>
            <a:ext cx="256032" cy="107533"/>
          </a:xfrm>
          <a:prstGeom prst="ellipse">
            <a:avLst/>
          </a:prstGeom>
          <a:solidFill>
            <a:srgbClr val="2A79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rot="19500000">
            <a:off x="-100584" y="411479"/>
            <a:ext cx="219456" cy="92171"/>
          </a:xfrm>
          <a:prstGeom prst="ellipse">
            <a:avLst/>
          </a:prstGeom>
          <a:solidFill>
            <a:srgbClr val="5BB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rot="1500000">
            <a:off x="155448" y="566928"/>
            <a:ext cx="201168" cy="84490"/>
          </a:xfrm>
          <a:prstGeom prst="ellipse">
            <a:avLst/>
          </a:prstGeom>
          <a:solidFill>
            <a:srgbClr val="2A79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rot="19500000">
            <a:off x="-210312" y="685800"/>
            <a:ext cx="201168" cy="84490"/>
          </a:xfrm>
          <a:prstGeom prst="ellipse">
            <a:avLst/>
          </a:prstGeom>
          <a:solidFill>
            <a:srgbClr val="5BB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0" name="Connector 9"/>
          <p:cNvCxnSpPr/>
          <p:nvPr/>
        </p:nvCxnSpPr>
        <p:spPr>
          <a:xfrm flipH="1">
            <a:off x="64008" y="109728"/>
            <a:ext cx="73152" cy="758952"/>
          </a:xfrm>
          <a:prstGeom prst="line">
            <a:avLst/>
          </a:prstGeom>
          <a:ln w="13970">
            <a:solidFill>
              <a:srgbClr val="2A79A3"/>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rot="20100000">
            <a:off x="11292840" y="91440"/>
            <a:ext cx="228600" cy="96012"/>
          </a:xfrm>
          <a:prstGeom prst="ellipse">
            <a:avLst/>
          </a:prstGeom>
          <a:solidFill>
            <a:srgbClr val="5BB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rot="1500000">
            <a:off x="11494008" y="256032"/>
            <a:ext cx="256032" cy="107533"/>
          </a:xfrm>
          <a:prstGeom prst="ellipse">
            <a:avLst/>
          </a:prstGeom>
          <a:solidFill>
            <a:srgbClr val="2A79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rot="19500000">
            <a:off x="11146536" y="411479"/>
            <a:ext cx="219456" cy="92171"/>
          </a:xfrm>
          <a:prstGeom prst="ellipse">
            <a:avLst/>
          </a:prstGeom>
          <a:solidFill>
            <a:srgbClr val="5BB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rot="1500000">
            <a:off x="11402567" y="566928"/>
            <a:ext cx="201168" cy="84490"/>
          </a:xfrm>
          <a:prstGeom prst="ellipse">
            <a:avLst/>
          </a:prstGeom>
          <a:solidFill>
            <a:srgbClr val="2A79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rot="19500000">
            <a:off x="11036808" y="685800"/>
            <a:ext cx="201168" cy="84490"/>
          </a:xfrm>
          <a:prstGeom prst="ellipse">
            <a:avLst/>
          </a:prstGeom>
          <a:solidFill>
            <a:srgbClr val="5BB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6" name="Connector 15"/>
          <p:cNvCxnSpPr/>
          <p:nvPr/>
        </p:nvCxnSpPr>
        <p:spPr>
          <a:xfrm flipH="1">
            <a:off x="11311128" y="109728"/>
            <a:ext cx="73152" cy="758952"/>
          </a:xfrm>
          <a:prstGeom prst="line">
            <a:avLst/>
          </a:prstGeom>
          <a:ln w="13970">
            <a:solidFill>
              <a:srgbClr val="2A79A3"/>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31520" y="640080"/>
            <a:ext cx="10716768" cy="5623560"/>
          </a:xfrm>
          <a:prstGeom prst="roundRect">
            <a:avLst>
              <a:gd name="adj" fmla="val 12000"/>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4892040" y="1051560"/>
            <a:ext cx="2395728" cy="329184"/>
          </a:xfrm>
          <a:prstGeom prst="roundRect">
            <a:avLst>
              <a:gd name="adj" fmla="val 12000"/>
            </a:avLst>
          </a:prstGeom>
          <a:solidFill>
            <a:srgbClr val="D7F0F8"/>
          </a:solidFill>
          <a:ln>
            <a:solidFill>
              <a:srgbClr val="D7F0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910327" y="1069848"/>
            <a:ext cx="2359152" cy="274320"/>
          </a:xfrm>
          <a:prstGeom prst="rect">
            <a:avLst/>
          </a:prstGeom>
          <a:noFill/>
        </p:spPr>
        <p:txBody>
          <a:bodyPr wrap="square" lIns="41148" tIns="22860" rIns="41148" bIns="22860" anchor="ctr">
            <a:spAutoFit/>
          </a:bodyPr>
          <a:lstStyle/>
          <a:p>
            <a:pPr algn="ctr"/>
            <a:r>
              <a:rPr sz="900" b="1" i="0">
                <a:solidFill>
                  <a:srgbClr val="10395C"/>
                </a:solidFill>
                <a:latin typeface="Aptos"/>
              </a:rPr>
              <a:t>CONCLUSION</a:t>
            </a:r>
          </a:p>
        </p:txBody>
      </p:sp>
      <p:sp>
        <p:nvSpPr>
          <p:cNvPr id="20" name="TextBox 19"/>
          <p:cNvSpPr txBox="1"/>
          <p:nvPr/>
        </p:nvSpPr>
        <p:spPr>
          <a:xfrm>
            <a:off x="1143000" y="1792224"/>
            <a:ext cx="9921240" cy="566928"/>
          </a:xfrm>
          <a:prstGeom prst="rect">
            <a:avLst/>
          </a:prstGeom>
          <a:noFill/>
        </p:spPr>
        <p:txBody>
          <a:bodyPr wrap="square" lIns="41148" tIns="22860" rIns="41148" bIns="22860" anchor="t">
            <a:spAutoFit/>
          </a:bodyPr>
          <a:lstStyle/>
          <a:p>
            <a:pPr algn="ctr"/>
            <a:r>
              <a:rPr sz="2500" b="1" i="0">
                <a:solidFill>
                  <a:srgbClr val="10395C"/>
                </a:solidFill>
                <a:latin typeface="Aptos"/>
              </a:rPr>
              <a:t>A smarter way to plan the academic journey</a:t>
            </a:r>
          </a:p>
        </p:txBody>
      </p:sp>
      <p:sp>
        <p:nvSpPr>
          <p:cNvPr id="21" name="TextBox 20"/>
          <p:cNvSpPr txBox="1"/>
          <p:nvPr/>
        </p:nvSpPr>
        <p:spPr>
          <a:xfrm>
            <a:off x="1828800" y="2651760"/>
            <a:ext cx="8549640" cy="530352"/>
          </a:xfrm>
          <a:prstGeom prst="rect">
            <a:avLst/>
          </a:prstGeom>
          <a:noFill/>
        </p:spPr>
        <p:txBody>
          <a:bodyPr wrap="square" lIns="41148" tIns="22860" rIns="41148" bIns="22860" anchor="t">
            <a:spAutoFit/>
          </a:bodyPr>
          <a:lstStyle/>
          <a:p>
            <a:pPr algn="ctr"/>
            <a:r>
              <a:rPr sz="1400" b="0" i="0">
                <a:solidFill>
                  <a:srgbClr val="273D4E"/>
                </a:solidFill>
                <a:latin typeface="Aptos"/>
              </a:rPr>
              <a:t>The Course Registration &amp; Timetable Builder combines course discovery, validation, timetable planning and registration in one connected platform.</a:t>
            </a:r>
          </a:p>
        </p:txBody>
      </p:sp>
      <p:sp>
        <p:nvSpPr>
          <p:cNvPr id="22" name="TextBox 21"/>
          <p:cNvSpPr txBox="1"/>
          <p:nvPr/>
        </p:nvSpPr>
        <p:spPr>
          <a:xfrm>
            <a:off x="1783080" y="3383280"/>
            <a:ext cx="8641080" cy="713232"/>
          </a:xfrm>
          <a:prstGeom prst="rect">
            <a:avLst/>
          </a:prstGeom>
          <a:noFill/>
        </p:spPr>
        <p:txBody>
          <a:bodyPr wrap="square" lIns="41148" tIns="22860" rIns="41148" bIns="22860" anchor="t">
            <a:spAutoFit/>
          </a:bodyPr>
          <a:lstStyle/>
          <a:p>
            <a:pPr algn="ctr"/>
            <a:r>
              <a:rPr sz="1250" b="0" i="0">
                <a:solidFill>
                  <a:srgbClr val="5D7684"/>
                </a:solidFill>
                <a:latin typeface="Aptos"/>
              </a:rPr>
              <a:t>It helps students save time, avoid timetable conflicts and understand their academic plan, while giving faculty and administrators a clearer way to manage academic information.</a:t>
            </a:r>
          </a:p>
        </p:txBody>
      </p:sp>
      <p:sp>
        <p:nvSpPr>
          <p:cNvPr id="23" name="Rounded Rectangle 22"/>
          <p:cNvSpPr/>
          <p:nvPr/>
        </p:nvSpPr>
        <p:spPr>
          <a:xfrm>
            <a:off x="2121408" y="4572000"/>
            <a:ext cx="1572768" cy="329184"/>
          </a:xfrm>
          <a:prstGeom prst="roundRect">
            <a:avLst>
              <a:gd name="adj" fmla="val 12000"/>
            </a:avLst>
          </a:prstGeom>
          <a:solidFill>
            <a:srgbClr val="D7F0F8"/>
          </a:solidFill>
          <a:ln>
            <a:solidFill>
              <a:srgbClr val="D7F0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139696" y="4590288"/>
            <a:ext cx="1536192" cy="274320"/>
          </a:xfrm>
          <a:prstGeom prst="rect">
            <a:avLst/>
          </a:prstGeom>
          <a:noFill/>
        </p:spPr>
        <p:txBody>
          <a:bodyPr wrap="square" lIns="41148" tIns="22860" rIns="41148" bIns="22860" anchor="ctr">
            <a:spAutoFit/>
          </a:bodyPr>
          <a:lstStyle/>
          <a:p>
            <a:pPr algn="ctr"/>
            <a:r>
              <a:rPr sz="880" b="1" i="0">
                <a:solidFill>
                  <a:srgbClr val="10395C"/>
                </a:solidFill>
                <a:latin typeface="Aptos"/>
              </a:rPr>
              <a:t>SELECT</a:t>
            </a:r>
          </a:p>
        </p:txBody>
      </p:sp>
      <p:cxnSp>
        <p:nvCxnSpPr>
          <p:cNvPr id="25" name="Connector 24"/>
          <p:cNvCxnSpPr/>
          <p:nvPr/>
        </p:nvCxnSpPr>
        <p:spPr>
          <a:xfrm>
            <a:off x="3712463" y="4736592"/>
            <a:ext cx="310897" cy="0"/>
          </a:xfrm>
          <a:prstGeom prst="line">
            <a:avLst/>
          </a:prstGeom>
          <a:ln w="21590">
            <a:solidFill>
              <a:srgbClr val="5BBFCC"/>
            </a:solidFill>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4114800" y="4572000"/>
            <a:ext cx="1572768" cy="329184"/>
          </a:xfrm>
          <a:prstGeom prst="roundRect">
            <a:avLst>
              <a:gd name="adj" fmla="val 12000"/>
            </a:avLst>
          </a:prstGeom>
          <a:solidFill>
            <a:srgbClr val="E1F8F1"/>
          </a:solidFill>
          <a:ln>
            <a:solidFill>
              <a:srgbClr val="E1F8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133087" y="4590288"/>
            <a:ext cx="1536192" cy="274320"/>
          </a:xfrm>
          <a:prstGeom prst="rect">
            <a:avLst/>
          </a:prstGeom>
          <a:noFill/>
        </p:spPr>
        <p:txBody>
          <a:bodyPr wrap="square" lIns="41148" tIns="22860" rIns="41148" bIns="22860" anchor="ctr">
            <a:spAutoFit/>
          </a:bodyPr>
          <a:lstStyle/>
          <a:p>
            <a:pPr algn="ctr"/>
            <a:r>
              <a:rPr sz="880" b="1" i="0">
                <a:solidFill>
                  <a:srgbClr val="10395C"/>
                </a:solidFill>
                <a:latin typeface="Aptos"/>
              </a:rPr>
              <a:t>VALIDATE</a:t>
            </a:r>
          </a:p>
        </p:txBody>
      </p:sp>
      <p:cxnSp>
        <p:nvCxnSpPr>
          <p:cNvPr id="28" name="Connector 27"/>
          <p:cNvCxnSpPr/>
          <p:nvPr/>
        </p:nvCxnSpPr>
        <p:spPr>
          <a:xfrm>
            <a:off x="5705856" y="4736592"/>
            <a:ext cx="310896" cy="0"/>
          </a:xfrm>
          <a:prstGeom prst="line">
            <a:avLst/>
          </a:prstGeom>
          <a:ln w="21590">
            <a:solidFill>
              <a:srgbClr val="5BBFCC"/>
            </a:solidFill>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6108192" y="4572000"/>
            <a:ext cx="1572768" cy="329184"/>
          </a:xfrm>
          <a:prstGeom prst="roundRect">
            <a:avLst>
              <a:gd name="adj" fmla="val 12000"/>
            </a:avLst>
          </a:prstGeom>
          <a:solidFill>
            <a:srgbClr val="EDECFC"/>
          </a:solidFill>
          <a:ln>
            <a:solidFill>
              <a:srgbClr val="EDEC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126479" y="4590288"/>
            <a:ext cx="1536192" cy="274320"/>
          </a:xfrm>
          <a:prstGeom prst="rect">
            <a:avLst/>
          </a:prstGeom>
          <a:noFill/>
        </p:spPr>
        <p:txBody>
          <a:bodyPr wrap="square" lIns="41148" tIns="22860" rIns="41148" bIns="22860" anchor="ctr">
            <a:spAutoFit/>
          </a:bodyPr>
          <a:lstStyle/>
          <a:p>
            <a:pPr algn="ctr"/>
            <a:r>
              <a:rPr sz="880" b="1" i="0">
                <a:solidFill>
                  <a:srgbClr val="10395C"/>
                </a:solidFill>
                <a:latin typeface="Aptos"/>
              </a:rPr>
              <a:t>VISUALIZE</a:t>
            </a:r>
          </a:p>
        </p:txBody>
      </p:sp>
      <p:cxnSp>
        <p:nvCxnSpPr>
          <p:cNvPr id="31" name="Connector 30"/>
          <p:cNvCxnSpPr/>
          <p:nvPr/>
        </p:nvCxnSpPr>
        <p:spPr>
          <a:xfrm>
            <a:off x="7699248" y="4736592"/>
            <a:ext cx="310896" cy="0"/>
          </a:xfrm>
          <a:prstGeom prst="line">
            <a:avLst/>
          </a:prstGeom>
          <a:ln w="21590">
            <a:solidFill>
              <a:srgbClr val="5BBFCC"/>
            </a:solidFill>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8101584" y="4572000"/>
            <a:ext cx="1572768" cy="329184"/>
          </a:xfrm>
          <a:prstGeom prst="roundRect">
            <a:avLst>
              <a:gd name="adj" fmla="val 12000"/>
            </a:avLst>
          </a:prstGeom>
          <a:solidFill>
            <a:srgbClr val="FDEDE5"/>
          </a:solidFill>
          <a:ln>
            <a:solidFill>
              <a:srgbClr val="FDED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119872" y="4590288"/>
            <a:ext cx="1536192" cy="274320"/>
          </a:xfrm>
          <a:prstGeom prst="rect">
            <a:avLst/>
          </a:prstGeom>
          <a:noFill/>
        </p:spPr>
        <p:txBody>
          <a:bodyPr wrap="square" lIns="41148" tIns="22860" rIns="41148" bIns="22860" anchor="ctr">
            <a:spAutoFit/>
          </a:bodyPr>
          <a:lstStyle/>
          <a:p>
            <a:pPr algn="ctr"/>
            <a:r>
              <a:rPr sz="880" b="1" i="0">
                <a:solidFill>
                  <a:srgbClr val="10395C"/>
                </a:solidFill>
                <a:latin typeface="Aptos"/>
              </a:rPr>
              <a:t>REGISTER</a:t>
            </a:r>
          </a:p>
        </p:txBody>
      </p:sp>
      <p:sp>
        <p:nvSpPr>
          <p:cNvPr id="34" name="TextBox 33"/>
          <p:cNvSpPr txBox="1"/>
          <p:nvPr/>
        </p:nvSpPr>
        <p:spPr>
          <a:xfrm>
            <a:off x="1828800" y="5358384"/>
            <a:ext cx="8549640" cy="384048"/>
          </a:xfrm>
          <a:prstGeom prst="rect">
            <a:avLst/>
          </a:prstGeom>
          <a:noFill/>
        </p:spPr>
        <p:txBody>
          <a:bodyPr wrap="square" lIns="41148" tIns="22860" rIns="41148" bIns="22860" anchor="t">
            <a:spAutoFit/>
          </a:bodyPr>
          <a:lstStyle/>
          <a:p>
            <a:pPr algn="ctr"/>
            <a:r>
              <a:rPr sz="1120" b="1" i="0">
                <a:solidFill>
                  <a:srgbClr val="10395C"/>
                </a:solidFill>
                <a:latin typeface="Aptos"/>
              </a:rPr>
              <a:t>The project can start as a manageable MVP and grow into a complete academic scheduling platform.</a:t>
            </a:r>
          </a:p>
        </p:txBody>
      </p:sp>
      <p:sp>
        <p:nvSpPr>
          <p:cNvPr id="35" name="TextBox 34"/>
          <p:cNvSpPr txBox="1"/>
          <p:nvPr/>
        </p:nvSpPr>
        <p:spPr>
          <a:xfrm>
            <a:off x="4754880" y="5897880"/>
            <a:ext cx="2697480" cy="329184"/>
          </a:xfrm>
          <a:prstGeom prst="rect">
            <a:avLst/>
          </a:prstGeom>
          <a:noFill/>
        </p:spPr>
        <p:txBody>
          <a:bodyPr wrap="square" lIns="41148" tIns="22860" rIns="41148" bIns="22860" anchor="t">
            <a:spAutoFit/>
          </a:bodyPr>
          <a:lstStyle/>
          <a:p>
            <a:pPr algn="ctr"/>
            <a:r>
              <a:rPr sz="1700" b="1" i="0">
                <a:solidFill>
                  <a:srgbClr val="2A79A3"/>
                </a:solidFill>
                <a:latin typeface="Aptos"/>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5</TotalTime>
  <Words>1804</Words>
  <Application>Microsoft Office PowerPoint</Application>
  <PresentationFormat>Widescreen</PresentationFormat>
  <Paragraphs>556</Paragraphs>
  <Slides>20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Aptos</vt: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Nitya Sri</dc:creator>
  <cp:keywords/>
  <dc:description>generated using python-pptx</dc:description>
  <cp:lastModifiedBy>Mihika Kaki</cp:lastModifiedBy>
  <cp:revision>3</cp:revision>
  <dcterms:created xsi:type="dcterms:W3CDTF">2013-01-27T09:14:16Z</dcterms:created>
  <dcterms:modified xsi:type="dcterms:W3CDTF">2026-09-19T10:03:35Z</dcterms:modified>
  <cp:category/>
</cp:coreProperties>
</file>